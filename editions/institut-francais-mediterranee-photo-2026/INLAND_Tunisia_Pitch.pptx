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pic>
        <p:nvPicPr>
          <p:cNvPr id="2" name="Picture 1" descr="inland-logo-black.png"/>
          <p:cNvPicPr>
            <a:picLocks noChangeAspect="1"/>
          </p:cNvPicPr>
          <p:nvPr/>
        </p:nvPicPr>
        <p:blipFill>
          <a:blip r:embed="rId2"/>
          <a:stretch>
            <a:fillRect/>
          </a:stretch>
        </p:blipFill>
        <p:spPr>
          <a:xfrm>
            <a:off x="4495647" y="1645920"/>
            <a:ext cx="3200400" cy="672084"/>
          </a:xfrm>
          <a:prstGeom prst="rect">
            <a:avLst/>
          </a:prstGeom>
          <a:effectLst/>
        </p:spPr>
      </p:pic>
      <p:sp>
        <p:nvSpPr>
          <p:cNvPr id="3" name="TextBox 2"/>
          <p:cNvSpPr txBox="1"/>
          <p:nvPr/>
        </p:nvSpPr>
        <p:spPr>
          <a:xfrm>
            <a:off x="914400" y="2651760"/>
            <a:ext cx="10332720" cy="1280160"/>
          </a:xfrm>
          <a:prstGeom prst="rect">
            <a:avLst/>
          </a:prstGeom>
          <a:noFill/>
          <a:effectLst/>
        </p:spPr>
        <p:txBody>
          <a:bodyPr wrap="square">
            <a:spAutoFit/>
          </a:bodyPr>
          <a:lstStyle/>
          <a:p>
            <a:pPr algn="ctr">
              <a:lnSpc>
                <a:spcPts val="11500"/>
              </a:lnSpc>
              <a:defRPr sz="7200" b="0" i="0">
                <a:solidFill>
                  <a:srgbClr val="000000"/>
                </a:solidFill>
                <a:latin typeface="Baskerville"/>
              </a:defRPr>
            </a:pPr>
            <a:r>
              <a:t>Tunisia</a:t>
            </a:r>
          </a:p>
        </p:txBody>
      </p:sp>
      <p:cxnSp>
        <p:nvCxnSpPr>
          <p:cNvPr id="4" name="Connector 3"/>
          <p:cNvCxnSpPr/>
          <p:nvPr/>
        </p:nvCxnSpPr>
        <p:spPr>
          <a:xfrm>
            <a:off x="5029200" y="4206240"/>
            <a:ext cx="210312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914400" y="4572000"/>
            <a:ext cx="10332720" cy="548640"/>
          </a:xfrm>
          <a:prstGeom prst="rect">
            <a:avLst/>
          </a:prstGeom>
          <a:noFill/>
          <a:effectLst/>
        </p:spPr>
        <p:txBody>
          <a:bodyPr wrap="square">
            <a:spAutoFit/>
          </a:bodyPr>
          <a:lstStyle/>
          <a:p>
            <a:pPr algn="ctr">
              <a:lnSpc>
                <a:spcPts val="3200"/>
              </a:lnSpc>
              <a:defRPr sz="2000" b="0" i="0">
                <a:solidFill>
                  <a:srgbClr val="5C5C5C"/>
                </a:solidFill>
                <a:latin typeface="Baskerville"/>
              </a:defRPr>
            </a:pPr>
            <a:r>
              <a:t>A Mediterranean Edition</a:t>
            </a:r>
          </a:p>
        </p:txBody>
      </p:sp>
      <p:sp>
        <p:nvSpPr>
          <p:cNvPr id="6" name="TextBox 5"/>
          <p:cNvSpPr txBox="1"/>
          <p:nvPr/>
        </p:nvSpPr>
        <p:spPr>
          <a:xfrm>
            <a:off x="914400" y="5669280"/>
            <a:ext cx="10332720" cy="365760"/>
          </a:xfrm>
          <a:prstGeom prst="rect">
            <a:avLst/>
          </a:prstGeom>
          <a:noFill/>
          <a:effectLst/>
        </p:spPr>
        <p:txBody>
          <a:bodyPr wrap="square">
            <a:spAutoFit/>
          </a:bodyPr>
          <a:lstStyle/>
          <a:p>
            <a:pPr algn="ctr">
              <a:lnSpc>
                <a:spcPts val="1700"/>
              </a:lnSpc>
              <a:defRPr sz="1100" b="0" i="0">
                <a:solidFill>
                  <a:srgbClr val="5C5C5C"/>
                </a:solidFill>
                <a:latin typeface="Fraunces"/>
              </a:defRPr>
            </a:pPr>
            <a:r>
              <a:t>12 Selected Stories  ·  For the Institut français Mediterranean Photography Support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731520" y="457200"/>
            <a:ext cx="36576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CONTENTS</a:t>
            </a:r>
          </a:p>
        </p:txBody>
      </p:sp>
      <p:sp>
        <p:nvSpPr>
          <p:cNvPr id="3" name="TextBox 2"/>
          <p:cNvSpPr txBox="1"/>
          <p:nvPr/>
        </p:nvSpPr>
        <p:spPr>
          <a:xfrm>
            <a:off x="731520" y="1188720"/>
            <a:ext cx="7315200" cy="914400"/>
          </a:xfrm>
          <a:prstGeom prst="rect">
            <a:avLst/>
          </a:prstGeom>
          <a:noFill/>
          <a:effectLst/>
        </p:spPr>
        <p:txBody>
          <a:bodyPr wrap="square">
            <a:spAutoFit/>
          </a:bodyPr>
          <a:lstStyle/>
          <a:p>
            <a:pPr algn="l">
              <a:lnSpc>
                <a:spcPts val="6400"/>
              </a:lnSpc>
              <a:defRPr sz="4000" b="0" i="0">
                <a:solidFill>
                  <a:srgbClr val="000000"/>
                </a:solidFill>
                <a:latin typeface="Baskerville"/>
              </a:defRPr>
            </a:pPr>
            <a:r>
              <a:t>Overview</a:t>
            </a:r>
          </a:p>
        </p:txBody>
      </p:sp>
      <p:cxnSp>
        <p:nvCxnSpPr>
          <p:cNvPr id="4" name="Connector 3"/>
          <p:cNvCxnSpPr/>
          <p:nvPr/>
        </p:nvCxnSpPr>
        <p:spPr>
          <a:xfrm>
            <a:off x="731520" y="228600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2606040"/>
            <a:ext cx="914400" cy="457200"/>
          </a:xfrm>
          <a:prstGeom prst="rect">
            <a:avLst/>
          </a:prstGeom>
          <a:noFill/>
          <a:effectLst/>
        </p:spPr>
        <p:txBody>
          <a:bodyPr wrap="square">
            <a:spAutoFit/>
          </a:bodyPr>
          <a:lstStyle/>
          <a:p>
            <a:pPr algn="l">
              <a:lnSpc>
                <a:spcPts val="3800"/>
              </a:lnSpc>
              <a:defRPr sz="2400" b="0" i="0">
                <a:solidFill>
                  <a:srgbClr val="400505"/>
                </a:solidFill>
                <a:latin typeface="Baskerville"/>
              </a:defRPr>
            </a:pPr>
            <a:r>
              <a:t>01</a:t>
            </a:r>
          </a:p>
        </p:txBody>
      </p:sp>
      <p:sp>
        <p:nvSpPr>
          <p:cNvPr id="6" name="TextBox 5"/>
          <p:cNvSpPr txBox="1"/>
          <p:nvPr/>
        </p:nvSpPr>
        <p:spPr>
          <a:xfrm>
            <a:off x="1828800" y="2633472"/>
            <a:ext cx="7315200" cy="457200"/>
          </a:xfrm>
          <a:prstGeom prst="rect">
            <a:avLst/>
          </a:prstGeom>
          <a:noFill/>
          <a:effectLst/>
        </p:spPr>
        <p:txBody>
          <a:bodyPr wrap="square">
            <a:spAutoFit/>
          </a:bodyPr>
          <a:lstStyle/>
          <a:p>
            <a:pPr algn="l">
              <a:lnSpc>
                <a:spcPts val="3200"/>
              </a:lnSpc>
              <a:defRPr sz="2000" b="0" i="0">
                <a:solidFill>
                  <a:srgbClr val="000000"/>
                </a:solidFill>
                <a:latin typeface="Baskerville"/>
              </a:defRPr>
            </a:pPr>
            <a:r>
              <a:t>About INLAND</a:t>
            </a:r>
          </a:p>
        </p:txBody>
      </p:sp>
      <p:cxnSp>
        <p:nvCxnSpPr>
          <p:cNvPr id="7" name="Connector 6"/>
          <p:cNvCxnSpPr/>
          <p:nvPr/>
        </p:nvCxnSpPr>
        <p:spPr>
          <a:xfrm>
            <a:off x="731520" y="3081528"/>
            <a:ext cx="10515600" cy="0"/>
          </a:xfrm>
          <a:prstGeom prst="line">
            <a:avLst/>
          </a:prstGeom>
          <a:ln w="9525">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3172968"/>
            <a:ext cx="914400" cy="457200"/>
          </a:xfrm>
          <a:prstGeom prst="rect">
            <a:avLst/>
          </a:prstGeom>
          <a:noFill/>
          <a:effectLst/>
        </p:spPr>
        <p:txBody>
          <a:bodyPr wrap="square">
            <a:spAutoFit/>
          </a:bodyPr>
          <a:lstStyle/>
          <a:p>
            <a:pPr algn="l">
              <a:lnSpc>
                <a:spcPts val="3800"/>
              </a:lnSpc>
              <a:defRPr sz="2400" b="0" i="0">
                <a:solidFill>
                  <a:srgbClr val="400505"/>
                </a:solidFill>
                <a:latin typeface="Baskerville"/>
              </a:defRPr>
            </a:pPr>
            <a:r>
              <a:t>02</a:t>
            </a:r>
          </a:p>
        </p:txBody>
      </p:sp>
      <p:sp>
        <p:nvSpPr>
          <p:cNvPr id="9" name="TextBox 8"/>
          <p:cNvSpPr txBox="1"/>
          <p:nvPr/>
        </p:nvSpPr>
        <p:spPr>
          <a:xfrm>
            <a:off x="1828800" y="3200400"/>
            <a:ext cx="7315200" cy="457200"/>
          </a:xfrm>
          <a:prstGeom prst="rect">
            <a:avLst/>
          </a:prstGeom>
          <a:noFill/>
          <a:effectLst/>
        </p:spPr>
        <p:txBody>
          <a:bodyPr wrap="square">
            <a:spAutoFit/>
          </a:bodyPr>
          <a:lstStyle/>
          <a:p>
            <a:pPr algn="l">
              <a:lnSpc>
                <a:spcPts val="3200"/>
              </a:lnSpc>
              <a:defRPr sz="2000" b="0" i="0">
                <a:solidFill>
                  <a:srgbClr val="000000"/>
                </a:solidFill>
                <a:latin typeface="Baskerville"/>
              </a:defRPr>
            </a:pPr>
            <a:r>
              <a:t>Tunisia — What Survived</a:t>
            </a:r>
          </a:p>
        </p:txBody>
      </p:sp>
      <p:cxnSp>
        <p:nvCxnSpPr>
          <p:cNvPr id="10" name="Connector 9"/>
          <p:cNvCxnSpPr/>
          <p:nvPr/>
        </p:nvCxnSpPr>
        <p:spPr>
          <a:xfrm>
            <a:off x="731520" y="3648456"/>
            <a:ext cx="10515600" cy="0"/>
          </a:xfrm>
          <a:prstGeom prst="line">
            <a:avLst/>
          </a:prstGeom>
          <a:ln w="9525">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3739896"/>
            <a:ext cx="914400" cy="457200"/>
          </a:xfrm>
          <a:prstGeom prst="rect">
            <a:avLst/>
          </a:prstGeom>
          <a:noFill/>
          <a:effectLst/>
        </p:spPr>
        <p:txBody>
          <a:bodyPr wrap="square">
            <a:spAutoFit/>
          </a:bodyPr>
          <a:lstStyle/>
          <a:p>
            <a:pPr algn="l">
              <a:lnSpc>
                <a:spcPts val="3800"/>
              </a:lnSpc>
              <a:defRPr sz="2400" b="0" i="0">
                <a:solidFill>
                  <a:srgbClr val="400505"/>
                </a:solidFill>
                <a:latin typeface="Baskerville"/>
              </a:defRPr>
            </a:pPr>
            <a:r>
              <a:t>03</a:t>
            </a:r>
          </a:p>
        </p:txBody>
      </p:sp>
      <p:sp>
        <p:nvSpPr>
          <p:cNvPr id="12" name="TextBox 11"/>
          <p:cNvSpPr txBox="1"/>
          <p:nvPr/>
        </p:nvSpPr>
        <p:spPr>
          <a:xfrm>
            <a:off x="1828800" y="3767328"/>
            <a:ext cx="7315200" cy="457200"/>
          </a:xfrm>
          <a:prstGeom prst="rect">
            <a:avLst/>
          </a:prstGeom>
          <a:noFill/>
          <a:effectLst/>
        </p:spPr>
        <p:txBody>
          <a:bodyPr wrap="square">
            <a:spAutoFit/>
          </a:bodyPr>
          <a:lstStyle/>
          <a:p>
            <a:pPr algn="l">
              <a:lnSpc>
                <a:spcPts val="3200"/>
              </a:lnSpc>
              <a:defRPr sz="2000" b="0" i="0">
                <a:solidFill>
                  <a:srgbClr val="000000"/>
                </a:solidFill>
                <a:latin typeface="Baskerville"/>
              </a:defRPr>
            </a:pPr>
            <a:r>
              <a:t>Our Angle &amp; Categories</a:t>
            </a:r>
          </a:p>
        </p:txBody>
      </p:sp>
      <p:cxnSp>
        <p:nvCxnSpPr>
          <p:cNvPr id="13" name="Connector 12"/>
          <p:cNvCxnSpPr/>
          <p:nvPr/>
        </p:nvCxnSpPr>
        <p:spPr>
          <a:xfrm>
            <a:off x="731520" y="4215383"/>
            <a:ext cx="10515600" cy="0"/>
          </a:xfrm>
          <a:prstGeom prst="line">
            <a:avLst/>
          </a:prstGeom>
          <a:ln w="9525">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1520" y="4306824"/>
            <a:ext cx="914400" cy="457200"/>
          </a:xfrm>
          <a:prstGeom prst="rect">
            <a:avLst/>
          </a:prstGeom>
          <a:noFill/>
          <a:effectLst/>
        </p:spPr>
        <p:txBody>
          <a:bodyPr wrap="square">
            <a:spAutoFit/>
          </a:bodyPr>
          <a:lstStyle/>
          <a:p>
            <a:pPr algn="l">
              <a:lnSpc>
                <a:spcPts val="3800"/>
              </a:lnSpc>
              <a:defRPr sz="2400" b="0" i="0">
                <a:solidFill>
                  <a:srgbClr val="400505"/>
                </a:solidFill>
                <a:latin typeface="Baskerville"/>
              </a:defRPr>
            </a:pPr>
            <a:r>
              <a:t>04</a:t>
            </a:r>
          </a:p>
        </p:txBody>
      </p:sp>
      <p:sp>
        <p:nvSpPr>
          <p:cNvPr id="15" name="TextBox 14"/>
          <p:cNvSpPr txBox="1"/>
          <p:nvPr/>
        </p:nvSpPr>
        <p:spPr>
          <a:xfrm>
            <a:off x="1828800" y="4334256"/>
            <a:ext cx="7315200" cy="457200"/>
          </a:xfrm>
          <a:prstGeom prst="rect">
            <a:avLst/>
          </a:prstGeom>
          <a:noFill/>
          <a:effectLst/>
        </p:spPr>
        <p:txBody>
          <a:bodyPr wrap="square">
            <a:spAutoFit/>
          </a:bodyPr>
          <a:lstStyle/>
          <a:p>
            <a:pPr algn="l">
              <a:lnSpc>
                <a:spcPts val="3200"/>
              </a:lnSpc>
              <a:defRPr sz="2000" b="0" i="0">
                <a:solidFill>
                  <a:srgbClr val="000000"/>
                </a:solidFill>
                <a:latin typeface="Baskerville"/>
              </a:defRPr>
            </a:pPr>
            <a:r>
              <a:t>The 12 Storylines</a:t>
            </a:r>
          </a:p>
        </p:txBody>
      </p:sp>
      <p:cxnSp>
        <p:nvCxnSpPr>
          <p:cNvPr id="16" name="Connector 15"/>
          <p:cNvCxnSpPr/>
          <p:nvPr/>
        </p:nvCxnSpPr>
        <p:spPr>
          <a:xfrm>
            <a:off x="731520" y="4782312"/>
            <a:ext cx="10515600" cy="0"/>
          </a:xfrm>
          <a:prstGeom prst="line">
            <a:avLst/>
          </a:prstGeom>
          <a:ln w="9525">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31520" y="4873752"/>
            <a:ext cx="914400" cy="457200"/>
          </a:xfrm>
          <a:prstGeom prst="rect">
            <a:avLst/>
          </a:prstGeom>
          <a:noFill/>
          <a:effectLst/>
        </p:spPr>
        <p:txBody>
          <a:bodyPr wrap="square">
            <a:spAutoFit/>
          </a:bodyPr>
          <a:lstStyle/>
          <a:p>
            <a:pPr algn="l">
              <a:lnSpc>
                <a:spcPts val="3800"/>
              </a:lnSpc>
              <a:defRPr sz="2400" b="0" i="0">
                <a:solidFill>
                  <a:srgbClr val="400505"/>
                </a:solidFill>
                <a:latin typeface="Baskerville"/>
              </a:defRPr>
            </a:pPr>
            <a:r>
              <a:t>05</a:t>
            </a:r>
          </a:p>
        </p:txBody>
      </p:sp>
      <p:sp>
        <p:nvSpPr>
          <p:cNvPr id="18" name="TextBox 17"/>
          <p:cNvSpPr txBox="1"/>
          <p:nvPr/>
        </p:nvSpPr>
        <p:spPr>
          <a:xfrm>
            <a:off x="1828800" y="4901184"/>
            <a:ext cx="7315200" cy="457200"/>
          </a:xfrm>
          <a:prstGeom prst="rect">
            <a:avLst/>
          </a:prstGeom>
          <a:noFill/>
          <a:effectLst/>
        </p:spPr>
        <p:txBody>
          <a:bodyPr wrap="square">
            <a:spAutoFit/>
          </a:bodyPr>
          <a:lstStyle/>
          <a:p>
            <a:pPr algn="l">
              <a:lnSpc>
                <a:spcPts val="3200"/>
              </a:lnSpc>
              <a:defRPr sz="2000" b="0" i="0">
                <a:solidFill>
                  <a:srgbClr val="000000"/>
                </a:solidFill>
                <a:latin typeface="Baskerville"/>
              </a:defRPr>
            </a:pPr>
            <a:r>
              <a:t>Production Clusters</a:t>
            </a:r>
          </a:p>
        </p:txBody>
      </p:sp>
      <p:cxnSp>
        <p:nvCxnSpPr>
          <p:cNvPr id="19" name="Connector 18"/>
          <p:cNvCxnSpPr/>
          <p:nvPr/>
        </p:nvCxnSpPr>
        <p:spPr>
          <a:xfrm>
            <a:off x="731520" y="5349240"/>
            <a:ext cx="10515600" cy="0"/>
          </a:xfrm>
          <a:prstGeom prst="line">
            <a:avLst/>
          </a:prstGeom>
          <a:ln w="9525">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31520" y="5440680"/>
            <a:ext cx="914400" cy="457200"/>
          </a:xfrm>
          <a:prstGeom prst="rect">
            <a:avLst/>
          </a:prstGeom>
          <a:noFill/>
          <a:effectLst/>
        </p:spPr>
        <p:txBody>
          <a:bodyPr wrap="square">
            <a:spAutoFit/>
          </a:bodyPr>
          <a:lstStyle/>
          <a:p>
            <a:pPr algn="l">
              <a:lnSpc>
                <a:spcPts val="3800"/>
              </a:lnSpc>
              <a:defRPr sz="2400" b="0" i="0">
                <a:solidFill>
                  <a:srgbClr val="400505"/>
                </a:solidFill>
                <a:latin typeface="Baskerville"/>
              </a:defRPr>
            </a:pPr>
            <a:r>
              <a:t>06</a:t>
            </a:r>
          </a:p>
        </p:txBody>
      </p:sp>
      <p:sp>
        <p:nvSpPr>
          <p:cNvPr id="21" name="TextBox 20"/>
          <p:cNvSpPr txBox="1"/>
          <p:nvPr/>
        </p:nvSpPr>
        <p:spPr>
          <a:xfrm>
            <a:off x="1828800" y="5468112"/>
            <a:ext cx="7315200" cy="457200"/>
          </a:xfrm>
          <a:prstGeom prst="rect">
            <a:avLst/>
          </a:prstGeom>
          <a:noFill/>
          <a:effectLst/>
        </p:spPr>
        <p:txBody>
          <a:bodyPr wrap="square">
            <a:spAutoFit/>
          </a:bodyPr>
          <a:lstStyle/>
          <a:p>
            <a:pPr algn="l">
              <a:lnSpc>
                <a:spcPts val="3200"/>
              </a:lnSpc>
              <a:defRPr sz="2000" b="0" i="0">
                <a:solidFill>
                  <a:srgbClr val="000000"/>
                </a:solidFill>
                <a:latin typeface="Baskerville"/>
              </a:defRPr>
            </a:pPr>
            <a:r>
              <a:t>The Edition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731520" y="457200"/>
            <a:ext cx="36576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ABOUT</a:t>
            </a:r>
          </a:p>
        </p:txBody>
      </p:sp>
      <p:sp>
        <p:nvSpPr>
          <p:cNvPr id="3" name="TextBox 2"/>
          <p:cNvSpPr txBox="1"/>
          <p:nvPr/>
        </p:nvSpPr>
        <p:spPr>
          <a:xfrm>
            <a:off x="731520" y="1188720"/>
            <a:ext cx="7315200" cy="914400"/>
          </a:xfrm>
          <a:prstGeom prst="rect">
            <a:avLst/>
          </a:prstGeom>
          <a:noFill/>
          <a:effectLst/>
        </p:spPr>
        <p:txBody>
          <a:bodyPr wrap="square">
            <a:spAutoFit/>
          </a:bodyPr>
          <a:lstStyle/>
          <a:p>
            <a:pPr algn="l">
              <a:lnSpc>
                <a:spcPts val="6400"/>
              </a:lnSpc>
              <a:defRPr sz="4000" b="0" i="0">
                <a:solidFill>
                  <a:srgbClr val="000000"/>
                </a:solidFill>
                <a:latin typeface="Baskerville"/>
              </a:defRPr>
            </a:pPr>
            <a:r>
              <a:t>About INLAND</a:t>
            </a:r>
          </a:p>
        </p:txBody>
      </p:sp>
      <p:cxnSp>
        <p:nvCxnSpPr>
          <p:cNvPr id="4" name="Connector 3"/>
          <p:cNvCxnSpPr/>
          <p:nvPr/>
        </p:nvCxnSpPr>
        <p:spPr>
          <a:xfrm>
            <a:off x="731520" y="228600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2651760"/>
            <a:ext cx="6858000" cy="1828800"/>
          </a:xfrm>
          <a:prstGeom prst="rect">
            <a:avLst/>
          </a:prstGeom>
          <a:noFill/>
          <a:effectLst/>
        </p:spPr>
        <p:txBody>
          <a:bodyPr wrap="square">
            <a:spAutoFit/>
          </a:bodyPr>
          <a:lstStyle/>
          <a:p>
            <a:pPr algn="l">
              <a:lnSpc>
                <a:spcPts val="2700"/>
              </a:lnSpc>
              <a:defRPr sz="1700" b="0" i="0">
                <a:solidFill>
                  <a:srgbClr val="000000"/>
                </a:solidFill>
                <a:latin typeface="Baskerville"/>
              </a:defRPr>
            </a:pPr>
            <a:r>
              <a:t>INLAND is a yearly publication documenting the soul of countries before they change. Each issue embeds with named, locatable custodians of living traditions — artisans, pastoralists, cooks, singers, border families — whose stories have not yet been narrated internationally. Previous issues have covered the Faroe Islands, Georgia and Italy’s minor islands.</a:t>
            </a:r>
          </a:p>
        </p:txBody>
      </p:sp>
      <p:sp>
        <p:nvSpPr>
          <p:cNvPr id="6" name="TextBox 5"/>
          <p:cNvSpPr txBox="1"/>
          <p:nvPr/>
        </p:nvSpPr>
        <p:spPr>
          <a:xfrm>
            <a:off x="731520" y="4846320"/>
            <a:ext cx="6858000" cy="1371600"/>
          </a:xfrm>
          <a:prstGeom prst="rect">
            <a:avLst/>
          </a:prstGeom>
          <a:noFill/>
          <a:effectLst/>
        </p:spPr>
        <p:txBody>
          <a:bodyPr wrap="square">
            <a:spAutoFit/>
          </a:bodyPr>
          <a:lstStyle/>
          <a:p>
            <a:pPr algn="l">
              <a:lnSpc>
                <a:spcPts val="2200"/>
              </a:lnSpc>
              <a:defRPr sz="1400" b="0" i="0">
                <a:solidFill>
                  <a:srgbClr val="5C5C5C"/>
                </a:solidFill>
                <a:latin typeface="Baskerville"/>
              </a:defRPr>
            </a:pPr>
            <a:r>
              <a:t>The editorial method is slow, place-based and built on trust. We spend months in pre-production research, identify specific custodians and communities, then commission photographers, writers and filmmakers to embed with them over extended field periods. The result is long-form visual storytelling grounded in named people and real places.</a:t>
            </a:r>
          </a:p>
        </p:txBody>
      </p:sp>
      <p:sp>
        <p:nvSpPr>
          <p:cNvPr id="7" name="TextBox 6"/>
          <p:cNvSpPr txBox="1"/>
          <p:nvPr/>
        </p:nvSpPr>
        <p:spPr>
          <a:xfrm>
            <a:off x="8686800" y="2651760"/>
            <a:ext cx="2926080" cy="1371600"/>
          </a:xfrm>
          <a:prstGeom prst="rect">
            <a:avLst/>
          </a:prstGeom>
          <a:noFill/>
          <a:effectLst/>
        </p:spPr>
        <p:txBody>
          <a:bodyPr wrap="square">
            <a:spAutoFit/>
          </a:bodyPr>
          <a:lstStyle/>
          <a:p>
            <a:pPr algn="l">
              <a:lnSpc>
                <a:spcPts val="3800"/>
              </a:lnSpc>
              <a:defRPr sz="2400" b="0" i="1">
                <a:solidFill>
                  <a:srgbClr val="400505"/>
                </a:solidFill>
                <a:latin typeface="Baskerville"/>
              </a:defRPr>
            </a:pPr>
            <a:r>
              <a:t>Intimacy with</a:t>
            </a:r>
            <a:br/>
            <a:r>
              <a:t>custodians, not</a:t>
            </a:r>
            <a:br/>
            <a:r>
              <a:t>thematic surveys.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731520" y="457200"/>
            <a:ext cx="36576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THE RESEARCH</a:t>
            </a:r>
          </a:p>
        </p:txBody>
      </p:sp>
      <p:sp>
        <p:nvSpPr>
          <p:cNvPr id="3" name="TextBox 2"/>
          <p:cNvSpPr txBox="1"/>
          <p:nvPr/>
        </p:nvSpPr>
        <p:spPr>
          <a:xfrm>
            <a:off x="731520" y="1188720"/>
            <a:ext cx="7315200" cy="914400"/>
          </a:xfrm>
          <a:prstGeom prst="rect">
            <a:avLst/>
          </a:prstGeom>
          <a:noFill/>
          <a:effectLst/>
        </p:spPr>
        <p:txBody>
          <a:bodyPr wrap="square">
            <a:spAutoFit/>
          </a:bodyPr>
          <a:lstStyle/>
          <a:p>
            <a:pPr algn="l">
              <a:lnSpc>
                <a:spcPts val="6400"/>
              </a:lnSpc>
              <a:defRPr sz="4000" b="0" i="0">
                <a:solidFill>
                  <a:srgbClr val="000000"/>
                </a:solidFill>
                <a:latin typeface="Baskerville"/>
              </a:defRPr>
            </a:pPr>
            <a:r>
              <a:t>Tunisia — What Survived</a:t>
            </a:r>
          </a:p>
        </p:txBody>
      </p:sp>
      <p:cxnSp>
        <p:nvCxnSpPr>
          <p:cNvPr id="4" name="Connector 3"/>
          <p:cNvCxnSpPr/>
          <p:nvPr/>
        </p:nvCxnSpPr>
        <p:spPr>
          <a:xfrm>
            <a:off x="731520" y="228600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2651760"/>
            <a:ext cx="6858000" cy="2194560"/>
          </a:xfrm>
          <a:prstGeom prst="rect">
            <a:avLst/>
          </a:prstGeom>
          <a:noFill/>
          <a:effectLst/>
        </p:spPr>
        <p:txBody>
          <a:bodyPr wrap="square">
            <a:spAutoFit/>
          </a:bodyPr>
          <a:lstStyle/>
          <a:p>
            <a:pPr algn="l">
              <a:lnSpc>
                <a:spcPts val="2500"/>
              </a:lnSpc>
              <a:defRPr sz="1600" b="0" i="0">
                <a:solidFill>
                  <a:srgbClr val="000000"/>
                </a:solidFill>
                <a:latin typeface="Baskerville"/>
              </a:defRPr>
            </a:pPr>
            <a:r>
              <a:t>Tunisia is internationally legible through three loud stories — the 2011 revolution that began the Arab Spring, the Mediterranean migration crossings that leave from Sfax and Zarzis, and the beach-resort coast. All three are loud; all three crowd out the quieter country. INLAND asks one question across every lead: what survived? What persists on the shore and the islands that has been absorbed by neither the Phoenician–Roman antiquity the tour buses visit, the French protectorate, the resort economy, nor the post-revolution turbulence — and can still be witnessed and photographed today.</a:t>
            </a:r>
          </a:p>
        </p:txBody>
      </p:sp>
      <p:sp>
        <p:nvSpPr>
          <p:cNvPr id="6" name="TextBox 5"/>
          <p:cNvSpPr txBox="1"/>
          <p:nvPr/>
        </p:nvSpPr>
        <p:spPr>
          <a:xfrm>
            <a:off x="731520" y="5394960"/>
            <a:ext cx="6858000" cy="1280160"/>
          </a:xfrm>
          <a:prstGeom prst="rect">
            <a:avLst/>
          </a:prstGeom>
          <a:noFill/>
          <a:effectLst/>
        </p:spPr>
        <p:txBody>
          <a:bodyPr wrap="square">
            <a:spAutoFit/>
          </a:bodyPr>
          <a:lstStyle/>
          <a:p>
            <a:pPr algn="l">
              <a:lnSpc>
                <a:spcPts val="2000"/>
              </a:lnSpc>
              <a:defRPr sz="1300" b="0" i="0">
                <a:solidFill>
                  <a:srgbClr val="5C5C5C"/>
                </a:solidFill>
                <a:latin typeface="Baskerville"/>
              </a:defRPr>
            </a:pPr>
            <a:r>
              <a:t>Our desk research identified 17 story leads across craft, ritual, fishing, food, language and landscape. From these, twelve storylines have been selected for editorial development — each centred on a practice that can still be witnessed, a specific place, and a named custodian or custodian community on Tunisia’s Mediterranean shores.</a:t>
            </a:r>
          </a:p>
        </p:txBody>
      </p:sp>
      <p:sp>
        <p:nvSpPr>
          <p:cNvPr id="7" name="TextBox 6"/>
          <p:cNvSpPr txBox="1"/>
          <p:nvPr/>
        </p:nvSpPr>
        <p:spPr>
          <a:xfrm>
            <a:off x="8869680" y="2468880"/>
            <a:ext cx="2743200" cy="1097280"/>
          </a:xfrm>
          <a:prstGeom prst="rect">
            <a:avLst/>
          </a:prstGeom>
          <a:noFill/>
          <a:effectLst/>
        </p:spPr>
        <p:txBody>
          <a:bodyPr wrap="square">
            <a:spAutoFit/>
          </a:bodyPr>
          <a:lstStyle/>
          <a:p>
            <a:pPr algn="l">
              <a:lnSpc>
                <a:spcPts val="12800"/>
              </a:lnSpc>
              <a:defRPr sz="8000" b="0" i="0">
                <a:solidFill>
                  <a:srgbClr val="400505"/>
                </a:solidFill>
                <a:latin typeface="Baskerville"/>
              </a:defRPr>
            </a:pPr>
            <a:r>
              <a:t>17</a:t>
            </a:r>
          </a:p>
        </p:txBody>
      </p:sp>
      <p:sp>
        <p:nvSpPr>
          <p:cNvPr id="8" name="TextBox 7"/>
          <p:cNvSpPr txBox="1"/>
          <p:nvPr/>
        </p:nvSpPr>
        <p:spPr>
          <a:xfrm>
            <a:off x="8869680" y="3474720"/>
            <a:ext cx="27432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story leads researched</a:t>
            </a:r>
          </a:p>
        </p:txBody>
      </p:sp>
      <p:sp>
        <p:nvSpPr>
          <p:cNvPr id="9" name="TextBox 8"/>
          <p:cNvSpPr txBox="1"/>
          <p:nvPr/>
        </p:nvSpPr>
        <p:spPr>
          <a:xfrm>
            <a:off x="8869680" y="4114800"/>
            <a:ext cx="2743200" cy="1097280"/>
          </a:xfrm>
          <a:prstGeom prst="rect">
            <a:avLst/>
          </a:prstGeom>
          <a:noFill/>
          <a:effectLst/>
        </p:spPr>
        <p:txBody>
          <a:bodyPr wrap="square">
            <a:spAutoFit/>
          </a:bodyPr>
          <a:lstStyle/>
          <a:p>
            <a:pPr algn="l">
              <a:lnSpc>
                <a:spcPts val="12800"/>
              </a:lnSpc>
              <a:defRPr sz="8000" b="0" i="0">
                <a:solidFill>
                  <a:srgbClr val="400505"/>
                </a:solidFill>
                <a:latin typeface="Baskerville"/>
              </a:defRPr>
            </a:pPr>
            <a:r>
              <a:t>12</a:t>
            </a:r>
          </a:p>
        </p:txBody>
      </p:sp>
      <p:sp>
        <p:nvSpPr>
          <p:cNvPr id="10" name="TextBox 9"/>
          <p:cNvSpPr txBox="1"/>
          <p:nvPr/>
        </p:nvSpPr>
        <p:spPr>
          <a:xfrm>
            <a:off x="8869680" y="5120640"/>
            <a:ext cx="27432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selected for this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731520" y="457200"/>
            <a:ext cx="36576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EDITORIAL ANGLE</a:t>
            </a:r>
          </a:p>
        </p:txBody>
      </p:sp>
      <p:sp>
        <p:nvSpPr>
          <p:cNvPr id="3" name="TextBox 2"/>
          <p:cNvSpPr txBox="1"/>
          <p:nvPr/>
        </p:nvSpPr>
        <p:spPr>
          <a:xfrm>
            <a:off x="731520" y="1188720"/>
            <a:ext cx="7315200" cy="914400"/>
          </a:xfrm>
          <a:prstGeom prst="rect">
            <a:avLst/>
          </a:prstGeom>
          <a:noFill/>
          <a:effectLst/>
        </p:spPr>
        <p:txBody>
          <a:bodyPr wrap="square">
            <a:spAutoFit/>
          </a:bodyPr>
          <a:lstStyle/>
          <a:p>
            <a:pPr algn="l">
              <a:lnSpc>
                <a:spcPts val="6400"/>
              </a:lnSpc>
              <a:defRPr sz="4000" b="0" i="0">
                <a:solidFill>
                  <a:srgbClr val="000000"/>
                </a:solidFill>
                <a:latin typeface="Baskerville"/>
              </a:defRPr>
            </a:pPr>
            <a:r>
              <a:t>Our Angle</a:t>
            </a:r>
          </a:p>
        </p:txBody>
      </p:sp>
      <p:cxnSp>
        <p:nvCxnSpPr>
          <p:cNvPr id="4" name="Connector 3"/>
          <p:cNvCxnSpPr/>
          <p:nvPr/>
        </p:nvCxnSpPr>
        <p:spPr>
          <a:xfrm>
            <a:off x="731520" y="228600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2651760"/>
            <a:ext cx="6858000" cy="2194560"/>
          </a:xfrm>
          <a:prstGeom prst="rect">
            <a:avLst/>
          </a:prstGeom>
          <a:noFill/>
          <a:effectLst/>
        </p:spPr>
        <p:txBody>
          <a:bodyPr wrap="square">
            <a:spAutoFit/>
          </a:bodyPr>
          <a:lstStyle/>
          <a:p>
            <a:pPr algn="l">
              <a:lnSpc>
                <a:spcPts val="2500"/>
              </a:lnSpc>
              <a:defRPr sz="1600" b="0" i="0">
                <a:solidFill>
                  <a:srgbClr val="000000"/>
                </a:solidFill>
                <a:latin typeface="Baskerville"/>
              </a:defRPr>
            </a:pPr>
            <a:r>
              <a:t>We read Tunisia as a Mediterranean palimpsest — Phoenician, Roman, Amazigh, Andalusian, Jewish, Ibadi, sub-Saharan and Ottoman — through the people who keep its endangered knowledge: the palm-frond charfia fences of Kerkennah, the hand-built pottery of the women of Sejnane, the Stambeli trance liturgy of Black Tunisia. The sea is crossing, frontier, larder and memory. The revolution and the migration crisis are context, never the lens; the state is never cast as villain.</a:t>
            </a:r>
          </a:p>
        </p:txBody>
      </p:sp>
      <p:sp>
        <p:nvSpPr>
          <p:cNvPr id="6" name="TextBox 5"/>
          <p:cNvSpPr txBox="1"/>
          <p:nvPr/>
        </p:nvSpPr>
        <p:spPr>
          <a:xfrm>
            <a:off x="731520" y="5303520"/>
            <a:ext cx="6858000" cy="1280160"/>
          </a:xfrm>
          <a:prstGeom prst="rect">
            <a:avLst/>
          </a:prstGeom>
          <a:noFill/>
          <a:effectLst/>
        </p:spPr>
        <p:txBody>
          <a:bodyPr wrap="square">
            <a:spAutoFit/>
          </a:bodyPr>
          <a:lstStyle/>
          <a:p>
            <a:pPr algn="l">
              <a:lnSpc>
                <a:spcPts val="2000"/>
              </a:lnSpc>
              <a:defRPr sz="1300" b="0" i="0">
                <a:solidFill>
                  <a:srgbClr val="5C5C5C"/>
                </a:solidFill>
                <a:latin typeface="Baskerville"/>
              </a:defRPr>
            </a:pPr>
            <a:r>
              <a:t>This is the Mediterranean photographic work the Institut français support exists to fund: a finished INLAND edition on the monde méditerranéen, in the register of Issue 03 (Isole Minori). The publication strand covers the edition’s editing and printing; the production strand funds the field shoot across three coastal and island clusters — made with the custodians, not about them.</a:t>
            </a:r>
          </a:p>
        </p:txBody>
      </p:sp>
      <p:sp>
        <p:nvSpPr>
          <p:cNvPr id="7" name="TextBox 6"/>
          <p:cNvSpPr txBox="1"/>
          <p:nvPr/>
        </p:nvSpPr>
        <p:spPr>
          <a:xfrm>
            <a:off x="8869680" y="2468880"/>
            <a:ext cx="32004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CATEGORIES</a:t>
            </a:r>
          </a:p>
        </p:txBody>
      </p:sp>
      <p:cxnSp>
        <p:nvCxnSpPr>
          <p:cNvPr id="8" name="Connector 7"/>
          <p:cNvCxnSpPr/>
          <p:nvPr/>
        </p:nvCxnSpPr>
        <p:spPr>
          <a:xfrm>
            <a:off x="8869680" y="2880360"/>
            <a:ext cx="265176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869680" y="3035808"/>
            <a:ext cx="2286000" cy="365760"/>
          </a:xfrm>
          <a:prstGeom prst="rect">
            <a:avLst/>
          </a:prstGeom>
          <a:noFill/>
          <a:effectLst/>
        </p:spPr>
        <p:txBody>
          <a:bodyPr wrap="square">
            <a:spAutoFit/>
          </a:bodyPr>
          <a:lstStyle/>
          <a:p>
            <a:pPr algn="l">
              <a:lnSpc>
                <a:spcPts val="2200"/>
              </a:lnSpc>
              <a:defRPr sz="1400" b="0" i="0">
                <a:solidFill>
                  <a:srgbClr val="000000"/>
                </a:solidFill>
                <a:latin typeface="Baskerville"/>
              </a:defRPr>
            </a:pPr>
            <a:r>
              <a:t>Arts &amp; Culture</a:t>
            </a:r>
          </a:p>
        </p:txBody>
      </p:sp>
      <p:sp>
        <p:nvSpPr>
          <p:cNvPr id="10" name="TextBox 9"/>
          <p:cNvSpPr txBox="1"/>
          <p:nvPr/>
        </p:nvSpPr>
        <p:spPr>
          <a:xfrm>
            <a:off x="11064240" y="3035808"/>
            <a:ext cx="914400" cy="365760"/>
          </a:xfrm>
          <a:prstGeom prst="rect">
            <a:avLst/>
          </a:prstGeom>
          <a:noFill/>
          <a:effectLst/>
        </p:spPr>
        <p:txBody>
          <a:bodyPr wrap="square">
            <a:spAutoFit/>
          </a:bodyPr>
          <a:lstStyle/>
          <a:p>
            <a:pPr algn="r">
              <a:lnSpc>
                <a:spcPts val="2200"/>
              </a:lnSpc>
              <a:defRPr sz="1400" b="1" i="0">
                <a:solidFill>
                  <a:srgbClr val="400505"/>
                </a:solidFill>
                <a:latin typeface="Baskerville"/>
              </a:defRPr>
            </a:pPr>
            <a:r>
              <a:t>3</a:t>
            </a:r>
          </a:p>
        </p:txBody>
      </p:sp>
      <p:cxnSp>
        <p:nvCxnSpPr>
          <p:cNvPr id="11" name="Connector 10"/>
          <p:cNvCxnSpPr/>
          <p:nvPr/>
        </p:nvCxnSpPr>
        <p:spPr>
          <a:xfrm>
            <a:off x="8869680" y="3392424"/>
            <a:ext cx="2651760" cy="0"/>
          </a:xfrm>
          <a:prstGeom prst="line">
            <a:avLst/>
          </a:prstGeom>
          <a:ln w="9525">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869680" y="3456432"/>
            <a:ext cx="2286000" cy="365760"/>
          </a:xfrm>
          <a:prstGeom prst="rect">
            <a:avLst/>
          </a:prstGeom>
          <a:noFill/>
          <a:effectLst/>
        </p:spPr>
        <p:txBody>
          <a:bodyPr wrap="square">
            <a:spAutoFit/>
          </a:bodyPr>
          <a:lstStyle/>
          <a:p>
            <a:pPr algn="l">
              <a:lnSpc>
                <a:spcPts val="2200"/>
              </a:lnSpc>
              <a:defRPr sz="1400" b="0" i="0">
                <a:solidFill>
                  <a:srgbClr val="000000"/>
                </a:solidFill>
                <a:latin typeface="Baskerville"/>
              </a:defRPr>
            </a:pPr>
            <a:r>
              <a:t>Food</a:t>
            </a:r>
          </a:p>
        </p:txBody>
      </p:sp>
      <p:sp>
        <p:nvSpPr>
          <p:cNvPr id="13" name="TextBox 12"/>
          <p:cNvSpPr txBox="1"/>
          <p:nvPr/>
        </p:nvSpPr>
        <p:spPr>
          <a:xfrm>
            <a:off x="11064240" y="3456432"/>
            <a:ext cx="914400" cy="365760"/>
          </a:xfrm>
          <a:prstGeom prst="rect">
            <a:avLst/>
          </a:prstGeom>
          <a:noFill/>
          <a:effectLst/>
        </p:spPr>
        <p:txBody>
          <a:bodyPr wrap="square">
            <a:spAutoFit/>
          </a:bodyPr>
          <a:lstStyle/>
          <a:p>
            <a:pPr algn="r">
              <a:lnSpc>
                <a:spcPts val="2200"/>
              </a:lnSpc>
              <a:defRPr sz="1400" b="1" i="0">
                <a:solidFill>
                  <a:srgbClr val="400505"/>
                </a:solidFill>
                <a:latin typeface="Baskerville"/>
              </a:defRPr>
            </a:pPr>
            <a:r>
              <a:t>2</a:t>
            </a:r>
          </a:p>
        </p:txBody>
      </p:sp>
      <p:cxnSp>
        <p:nvCxnSpPr>
          <p:cNvPr id="14" name="Connector 13"/>
          <p:cNvCxnSpPr/>
          <p:nvPr/>
        </p:nvCxnSpPr>
        <p:spPr>
          <a:xfrm>
            <a:off x="8869680" y="3813048"/>
            <a:ext cx="2651760" cy="0"/>
          </a:xfrm>
          <a:prstGeom prst="line">
            <a:avLst/>
          </a:prstGeom>
          <a:ln w="9525">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869680" y="3877056"/>
            <a:ext cx="2286000" cy="365760"/>
          </a:xfrm>
          <a:prstGeom prst="rect">
            <a:avLst/>
          </a:prstGeom>
          <a:noFill/>
          <a:effectLst/>
        </p:spPr>
        <p:txBody>
          <a:bodyPr wrap="square">
            <a:spAutoFit/>
          </a:bodyPr>
          <a:lstStyle/>
          <a:p>
            <a:pPr algn="l">
              <a:lnSpc>
                <a:spcPts val="2200"/>
              </a:lnSpc>
              <a:defRPr sz="1400" b="0" i="0">
                <a:solidFill>
                  <a:srgbClr val="000000"/>
                </a:solidFill>
                <a:latin typeface="Baskerville"/>
              </a:defRPr>
            </a:pPr>
            <a:r>
              <a:t>Local communities</a:t>
            </a:r>
          </a:p>
        </p:txBody>
      </p:sp>
      <p:sp>
        <p:nvSpPr>
          <p:cNvPr id="16" name="TextBox 15"/>
          <p:cNvSpPr txBox="1"/>
          <p:nvPr/>
        </p:nvSpPr>
        <p:spPr>
          <a:xfrm>
            <a:off x="11064240" y="3877056"/>
            <a:ext cx="914400" cy="365760"/>
          </a:xfrm>
          <a:prstGeom prst="rect">
            <a:avLst/>
          </a:prstGeom>
          <a:noFill/>
          <a:effectLst/>
        </p:spPr>
        <p:txBody>
          <a:bodyPr wrap="square">
            <a:spAutoFit/>
          </a:bodyPr>
          <a:lstStyle/>
          <a:p>
            <a:pPr algn="r">
              <a:lnSpc>
                <a:spcPts val="2200"/>
              </a:lnSpc>
              <a:defRPr sz="1400" b="1" i="0">
                <a:solidFill>
                  <a:srgbClr val="400505"/>
                </a:solidFill>
                <a:latin typeface="Baskerville"/>
              </a:defRPr>
            </a:pPr>
            <a:r>
              <a:t>2</a:t>
            </a:r>
          </a:p>
        </p:txBody>
      </p:sp>
      <p:cxnSp>
        <p:nvCxnSpPr>
          <p:cNvPr id="17" name="Connector 16"/>
          <p:cNvCxnSpPr/>
          <p:nvPr/>
        </p:nvCxnSpPr>
        <p:spPr>
          <a:xfrm>
            <a:off x="8869680" y="4233672"/>
            <a:ext cx="2651760" cy="0"/>
          </a:xfrm>
          <a:prstGeom prst="line">
            <a:avLst/>
          </a:prstGeom>
          <a:ln w="9525">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869680" y="4297680"/>
            <a:ext cx="2286000" cy="365760"/>
          </a:xfrm>
          <a:prstGeom prst="rect">
            <a:avLst/>
          </a:prstGeom>
          <a:noFill/>
          <a:effectLst/>
        </p:spPr>
        <p:txBody>
          <a:bodyPr wrap="square">
            <a:spAutoFit/>
          </a:bodyPr>
          <a:lstStyle/>
          <a:p>
            <a:pPr algn="l">
              <a:lnSpc>
                <a:spcPts val="2200"/>
              </a:lnSpc>
              <a:defRPr sz="1400" b="0" i="0">
                <a:solidFill>
                  <a:srgbClr val="000000"/>
                </a:solidFill>
                <a:latin typeface="Baskerville"/>
              </a:defRPr>
            </a:pPr>
            <a:r>
              <a:t>Myth &amp; Religion</a:t>
            </a:r>
          </a:p>
        </p:txBody>
      </p:sp>
      <p:sp>
        <p:nvSpPr>
          <p:cNvPr id="19" name="TextBox 18"/>
          <p:cNvSpPr txBox="1"/>
          <p:nvPr/>
        </p:nvSpPr>
        <p:spPr>
          <a:xfrm>
            <a:off x="11064240" y="4297680"/>
            <a:ext cx="914400" cy="365760"/>
          </a:xfrm>
          <a:prstGeom prst="rect">
            <a:avLst/>
          </a:prstGeom>
          <a:noFill/>
          <a:effectLst/>
        </p:spPr>
        <p:txBody>
          <a:bodyPr wrap="square">
            <a:spAutoFit/>
          </a:bodyPr>
          <a:lstStyle/>
          <a:p>
            <a:pPr algn="r">
              <a:lnSpc>
                <a:spcPts val="2200"/>
              </a:lnSpc>
              <a:defRPr sz="1400" b="1" i="0">
                <a:solidFill>
                  <a:srgbClr val="400505"/>
                </a:solidFill>
                <a:latin typeface="Baskerville"/>
              </a:defRPr>
            </a:pPr>
            <a:r>
              <a:t>2</a:t>
            </a:r>
          </a:p>
        </p:txBody>
      </p:sp>
      <p:cxnSp>
        <p:nvCxnSpPr>
          <p:cNvPr id="20" name="Connector 19"/>
          <p:cNvCxnSpPr/>
          <p:nvPr/>
        </p:nvCxnSpPr>
        <p:spPr>
          <a:xfrm>
            <a:off x="8869680" y="4654296"/>
            <a:ext cx="2651760" cy="0"/>
          </a:xfrm>
          <a:prstGeom prst="line">
            <a:avLst/>
          </a:prstGeom>
          <a:ln w="9525">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869680" y="4718304"/>
            <a:ext cx="2286000" cy="365760"/>
          </a:xfrm>
          <a:prstGeom prst="rect">
            <a:avLst/>
          </a:prstGeom>
          <a:noFill/>
          <a:effectLst/>
        </p:spPr>
        <p:txBody>
          <a:bodyPr wrap="square">
            <a:spAutoFit/>
          </a:bodyPr>
          <a:lstStyle/>
          <a:p>
            <a:pPr algn="l">
              <a:lnSpc>
                <a:spcPts val="2200"/>
              </a:lnSpc>
              <a:defRPr sz="1400" b="0" i="0">
                <a:solidFill>
                  <a:srgbClr val="000000"/>
                </a:solidFill>
                <a:latin typeface="Baskerville"/>
              </a:defRPr>
            </a:pPr>
            <a:r>
              <a:t>Geopolitics</a:t>
            </a:r>
          </a:p>
        </p:txBody>
      </p:sp>
      <p:sp>
        <p:nvSpPr>
          <p:cNvPr id="22" name="TextBox 21"/>
          <p:cNvSpPr txBox="1"/>
          <p:nvPr/>
        </p:nvSpPr>
        <p:spPr>
          <a:xfrm>
            <a:off x="11064240" y="4718304"/>
            <a:ext cx="914400" cy="365760"/>
          </a:xfrm>
          <a:prstGeom prst="rect">
            <a:avLst/>
          </a:prstGeom>
          <a:noFill/>
          <a:effectLst/>
        </p:spPr>
        <p:txBody>
          <a:bodyPr wrap="square">
            <a:spAutoFit/>
          </a:bodyPr>
          <a:lstStyle/>
          <a:p>
            <a:pPr algn="r">
              <a:lnSpc>
                <a:spcPts val="2200"/>
              </a:lnSpc>
              <a:defRPr sz="1400" b="1" i="0">
                <a:solidFill>
                  <a:srgbClr val="400505"/>
                </a:solidFill>
                <a:latin typeface="Baskerville"/>
              </a:defRPr>
            </a:pPr>
            <a:r>
              <a:t>1</a:t>
            </a:r>
          </a:p>
        </p:txBody>
      </p:sp>
      <p:cxnSp>
        <p:nvCxnSpPr>
          <p:cNvPr id="23" name="Connector 22"/>
          <p:cNvCxnSpPr/>
          <p:nvPr/>
        </p:nvCxnSpPr>
        <p:spPr>
          <a:xfrm>
            <a:off x="8869680" y="5074920"/>
            <a:ext cx="2651760" cy="0"/>
          </a:xfrm>
          <a:prstGeom prst="line">
            <a:avLst/>
          </a:prstGeom>
          <a:ln w="9525">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869680" y="5138928"/>
            <a:ext cx="2286000" cy="365760"/>
          </a:xfrm>
          <a:prstGeom prst="rect">
            <a:avLst/>
          </a:prstGeom>
          <a:noFill/>
          <a:effectLst/>
        </p:spPr>
        <p:txBody>
          <a:bodyPr wrap="square">
            <a:spAutoFit/>
          </a:bodyPr>
          <a:lstStyle/>
          <a:p>
            <a:pPr algn="l">
              <a:lnSpc>
                <a:spcPts val="2200"/>
              </a:lnSpc>
              <a:defRPr sz="1400" b="0" i="0">
                <a:solidFill>
                  <a:srgbClr val="000000"/>
                </a:solidFill>
                <a:latin typeface="Baskerville"/>
              </a:defRPr>
            </a:pPr>
            <a:r>
              <a:t>History</a:t>
            </a:r>
          </a:p>
        </p:txBody>
      </p:sp>
      <p:sp>
        <p:nvSpPr>
          <p:cNvPr id="25" name="TextBox 24"/>
          <p:cNvSpPr txBox="1"/>
          <p:nvPr/>
        </p:nvSpPr>
        <p:spPr>
          <a:xfrm>
            <a:off x="11064240" y="5138928"/>
            <a:ext cx="914400" cy="365760"/>
          </a:xfrm>
          <a:prstGeom prst="rect">
            <a:avLst/>
          </a:prstGeom>
          <a:noFill/>
          <a:effectLst/>
        </p:spPr>
        <p:txBody>
          <a:bodyPr wrap="square">
            <a:spAutoFit/>
          </a:bodyPr>
          <a:lstStyle/>
          <a:p>
            <a:pPr algn="r">
              <a:lnSpc>
                <a:spcPts val="2200"/>
              </a:lnSpc>
              <a:defRPr sz="1400" b="1" i="0">
                <a:solidFill>
                  <a:srgbClr val="400505"/>
                </a:solidFill>
                <a:latin typeface="Baskerville"/>
              </a:defRPr>
            </a:pPr>
            <a:r>
              <a:t>1</a:t>
            </a:r>
          </a:p>
        </p:txBody>
      </p:sp>
      <p:cxnSp>
        <p:nvCxnSpPr>
          <p:cNvPr id="26" name="Connector 25"/>
          <p:cNvCxnSpPr/>
          <p:nvPr/>
        </p:nvCxnSpPr>
        <p:spPr>
          <a:xfrm>
            <a:off x="8869680" y="5495544"/>
            <a:ext cx="2651760" cy="0"/>
          </a:xfrm>
          <a:prstGeom prst="line">
            <a:avLst/>
          </a:prstGeom>
          <a:ln w="9525">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869680" y="5559552"/>
            <a:ext cx="2286000" cy="365760"/>
          </a:xfrm>
          <a:prstGeom prst="rect">
            <a:avLst/>
          </a:prstGeom>
          <a:noFill/>
          <a:effectLst/>
        </p:spPr>
        <p:txBody>
          <a:bodyPr wrap="square">
            <a:spAutoFit/>
          </a:bodyPr>
          <a:lstStyle/>
          <a:p>
            <a:pPr algn="l">
              <a:lnSpc>
                <a:spcPts val="2200"/>
              </a:lnSpc>
              <a:defRPr sz="1400" b="0" i="0">
                <a:solidFill>
                  <a:srgbClr val="000000"/>
                </a:solidFill>
                <a:latin typeface="Baskerville"/>
              </a:defRPr>
            </a:pPr>
            <a:r>
              <a:t>Nature</a:t>
            </a:r>
          </a:p>
        </p:txBody>
      </p:sp>
      <p:sp>
        <p:nvSpPr>
          <p:cNvPr id="28" name="TextBox 27"/>
          <p:cNvSpPr txBox="1"/>
          <p:nvPr/>
        </p:nvSpPr>
        <p:spPr>
          <a:xfrm>
            <a:off x="11064240" y="5559552"/>
            <a:ext cx="914400" cy="365760"/>
          </a:xfrm>
          <a:prstGeom prst="rect">
            <a:avLst/>
          </a:prstGeom>
          <a:noFill/>
          <a:effectLst/>
        </p:spPr>
        <p:txBody>
          <a:bodyPr wrap="square">
            <a:spAutoFit/>
          </a:bodyPr>
          <a:lstStyle/>
          <a:p>
            <a:pPr algn="r">
              <a:lnSpc>
                <a:spcPts val="2200"/>
              </a:lnSpc>
              <a:defRPr sz="1400" b="1" i="0">
                <a:solidFill>
                  <a:srgbClr val="400505"/>
                </a:solidFill>
                <a:latin typeface="Baskerville"/>
              </a:defRPr>
            </a:pPr>
            <a:r>
              <a:t>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0E0E"/>
        </a:solidFill>
        <a:effectLst/>
      </p:bgPr>
    </p:bg>
    <p:spTree>
      <p:nvGrpSpPr>
        <p:cNvPr id="1" name=""/>
        <p:cNvGrpSpPr/>
        <p:nvPr/>
      </p:nvGrpSpPr>
      <p:grpSpPr/>
      <p:sp>
        <p:nvSpPr>
          <p:cNvPr id="2" name="TextBox 1"/>
          <p:cNvSpPr txBox="1"/>
          <p:nvPr/>
        </p:nvSpPr>
        <p:spPr>
          <a:xfrm>
            <a:off x="914400" y="1828800"/>
            <a:ext cx="10332720" cy="365760"/>
          </a:xfrm>
          <a:prstGeom prst="rect">
            <a:avLst/>
          </a:prstGeom>
          <a:noFill/>
          <a:effectLst/>
        </p:spPr>
        <p:txBody>
          <a:bodyPr wrap="square">
            <a:spAutoFit/>
          </a:bodyPr>
          <a:lstStyle/>
          <a:p>
            <a:pPr algn="ctr">
              <a:lnSpc>
                <a:spcPts val="1700"/>
              </a:lnSpc>
              <a:defRPr sz="1100" b="0" i="0">
                <a:solidFill>
                  <a:srgbClr val="999999"/>
                </a:solidFill>
                <a:latin typeface="Fraunces"/>
              </a:defRPr>
            </a:pPr>
            <a:r>
              <a:t>PART TWO</a:t>
            </a:r>
          </a:p>
        </p:txBody>
      </p:sp>
      <p:sp>
        <p:nvSpPr>
          <p:cNvPr id="3" name="TextBox 2"/>
          <p:cNvSpPr txBox="1"/>
          <p:nvPr/>
        </p:nvSpPr>
        <p:spPr>
          <a:xfrm>
            <a:off x="914400" y="2560320"/>
            <a:ext cx="10332720" cy="1097280"/>
          </a:xfrm>
          <a:prstGeom prst="rect">
            <a:avLst/>
          </a:prstGeom>
          <a:noFill/>
          <a:effectLst/>
        </p:spPr>
        <p:txBody>
          <a:bodyPr wrap="square">
            <a:spAutoFit/>
          </a:bodyPr>
          <a:lstStyle/>
          <a:p>
            <a:pPr algn="ctr">
              <a:lnSpc>
                <a:spcPts val="8300"/>
              </a:lnSpc>
              <a:defRPr sz="5200" b="0" i="0">
                <a:solidFill>
                  <a:srgbClr val="FFFFFF"/>
                </a:solidFill>
                <a:latin typeface="Baskerville"/>
              </a:defRPr>
            </a:pPr>
            <a:r>
              <a:t>The Storylines</a:t>
            </a:r>
          </a:p>
        </p:txBody>
      </p:sp>
      <p:cxnSp>
        <p:nvCxnSpPr>
          <p:cNvPr id="4" name="Connector 3"/>
          <p:cNvCxnSpPr/>
          <p:nvPr/>
        </p:nvCxnSpPr>
        <p:spPr>
          <a:xfrm>
            <a:off x="5303520" y="3840480"/>
            <a:ext cx="1554480" cy="0"/>
          </a:xfrm>
          <a:prstGeom prst="line">
            <a:avLst/>
          </a:prstGeom>
          <a:ln w="9525">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2286000" y="4206240"/>
            <a:ext cx="7589520" cy="1097280"/>
          </a:xfrm>
          <a:prstGeom prst="rect">
            <a:avLst/>
          </a:prstGeom>
          <a:noFill/>
          <a:effectLst/>
        </p:spPr>
        <p:txBody>
          <a:bodyPr wrap="square">
            <a:spAutoFit/>
          </a:bodyPr>
          <a:lstStyle/>
          <a:p>
            <a:pPr algn="ctr">
              <a:lnSpc>
                <a:spcPts val="2800"/>
              </a:lnSpc>
              <a:defRPr sz="1800" b="0" i="0">
                <a:solidFill>
                  <a:srgbClr val="999999"/>
                </a:solidFill>
                <a:latin typeface="Baskerville"/>
              </a:defRPr>
            </a:pPr>
            <a:r>
              <a:t>Twelve selected stories across the shore and the islands — craft, ritual, fishing, food, language and landscape. Each centres a custodian, a specific place, and a practice that can still be witnessed.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10058400" y="365760"/>
            <a:ext cx="1828800" cy="914400"/>
          </a:xfrm>
          <a:prstGeom prst="rect">
            <a:avLst/>
          </a:prstGeom>
          <a:noFill/>
          <a:effectLst/>
        </p:spPr>
        <p:txBody>
          <a:bodyPr wrap="square">
            <a:spAutoFit/>
          </a:bodyPr>
          <a:lstStyle/>
          <a:p>
            <a:pPr algn="r">
              <a:lnSpc>
                <a:spcPts val="10200"/>
              </a:lnSpc>
              <a:defRPr sz="6400" b="0" i="0">
                <a:solidFill>
                  <a:srgbClr val="400505"/>
                </a:solidFill>
                <a:latin typeface="Baskerville"/>
              </a:defRPr>
            </a:pPr>
            <a:r>
              <a:t>01</a:t>
            </a:r>
          </a:p>
        </p:txBody>
      </p:sp>
      <p:sp>
        <p:nvSpPr>
          <p:cNvPr id="3" name="TextBox 2"/>
          <p:cNvSpPr txBox="1"/>
          <p:nvPr/>
        </p:nvSpPr>
        <p:spPr>
          <a:xfrm>
            <a:off x="731520" y="548640"/>
            <a:ext cx="45720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NATURE</a:t>
            </a:r>
          </a:p>
        </p:txBody>
      </p:sp>
      <p:sp>
        <p:nvSpPr>
          <p:cNvPr id="4" name="TextBox 3"/>
          <p:cNvSpPr txBox="1"/>
          <p:nvPr/>
        </p:nvSpPr>
        <p:spPr>
          <a:xfrm>
            <a:off x="731520" y="1463040"/>
            <a:ext cx="9144000" cy="1097280"/>
          </a:xfrm>
          <a:prstGeom prst="rect">
            <a:avLst/>
          </a:prstGeom>
          <a:noFill/>
          <a:effectLst/>
        </p:spPr>
        <p:txBody>
          <a:bodyPr wrap="square">
            <a:spAutoFit/>
          </a:bodyPr>
          <a:lstStyle/>
          <a:p>
            <a:pPr algn="l">
              <a:lnSpc>
                <a:spcPts val="6000"/>
              </a:lnSpc>
              <a:defRPr sz="3800" b="0" i="0">
                <a:solidFill>
                  <a:srgbClr val="000000"/>
                </a:solidFill>
                <a:latin typeface="Baskerville"/>
              </a:defRPr>
            </a:pPr>
            <a:r>
              <a:t>The Palm in the Sea</a:t>
            </a:r>
          </a:p>
        </p:txBody>
      </p:sp>
      <p:sp>
        <p:nvSpPr>
          <p:cNvPr id="5" name="TextBox 4"/>
          <p:cNvSpPr txBox="1"/>
          <p:nvPr/>
        </p:nvSpPr>
        <p:spPr>
          <a:xfrm>
            <a:off x="731520" y="2560320"/>
            <a:ext cx="9144000" cy="731520"/>
          </a:xfrm>
          <a:prstGeom prst="rect">
            <a:avLst/>
          </a:prstGeom>
          <a:noFill/>
          <a:effectLst/>
        </p:spPr>
        <p:txBody>
          <a:bodyPr wrap="square">
            <a:spAutoFit/>
          </a:bodyPr>
          <a:lstStyle/>
          <a:p>
            <a:pPr algn="l">
              <a:lnSpc>
                <a:spcPts val="3800"/>
              </a:lnSpc>
              <a:defRPr sz="2400" b="0" i="1">
                <a:solidFill>
                  <a:srgbClr val="5C5C5C"/>
                </a:solidFill>
                <a:latin typeface="Baskerville"/>
              </a:defRPr>
            </a:pPr>
            <a:r>
              <a:t>The Charfia of the Kerkennah Islands</a:t>
            </a:r>
          </a:p>
        </p:txBody>
      </p:sp>
      <p:cxnSp>
        <p:nvCxnSpPr>
          <p:cNvPr id="6" name="Connector 5"/>
          <p:cNvCxnSpPr/>
          <p:nvPr/>
        </p:nvCxnSpPr>
        <p:spPr>
          <a:xfrm>
            <a:off x="731520" y="338328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THE STORY</a:t>
            </a:r>
          </a:p>
        </p:txBody>
      </p:sp>
      <p:sp>
        <p:nvSpPr>
          <p:cNvPr id="8" name="TextBox 7"/>
          <p:cNvSpPr txBox="1"/>
          <p:nvPr/>
        </p:nvSpPr>
        <p:spPr>
          <a:xfrm>
            <a:off x="731520" y="3794760"/>
            <a:ext cx="530352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On the low, palm-fringed Kerkennah Islands off Sfax, fishermen still plant date-palm fronds in rows across the shallows to build the charfia — a great V of woven palm that channels fish on the ebb tide into capture chambers, the grounds shared by a draw of lots and worked to a maritime calendar. UNESCO inscribed it in 2020.</a:t>
            </a:r>
          </a:p>
        </p:txBody>
      </p:sp>
      <p:cxnSp>
        <p:nvCxnSpPr>
          <p:cNvPr id="9" name="Connector 8"/>
          <p:cNvCxnSpPr/>
          <p:nvPr/>
        </p:nvCxnSpPr>
        <p:spPr>
          <a:xfrm>
            <a:off x="6400800" y="3566160"/>
            <a:ext cx="0" cy="2194560"/>
          </a:xfrm>
          <a:prstGeom prst="line">
            <a:avLst/>
          </a:prstGeom>
          <a:ln w="254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OUR PROPOSAL</a:t>
            </a:r>
          </a:p>
        </p:txBody>
      </p:sp>
      <p:sp>
        <p:nvSpPr>
          <p:cNvPr id="11" name="TextBox 10"/>
          <p:cNvSpPr txBox="1"/>
          <p:nvPr/>
        </p:nvSpPr>
        <p:spPr>
          <a:xfrm>
            <a:off x="6766560" y="3794760"/>
            <a:ext cx="475488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INLAND follows one charfia family through the autumn setting of the fronds and a dawn lift of the traps — a fishing architecture built entirely from the palm, standing in the Mediterranean. The edition’s signature recurring image.</a:t>
            </a:r>
          </a:p>
        </p:txBody>
      </p:sp>
      <p:sp>
        <p:nvSpPr>
          <p:cNvPr id="12" name="TextBox 11"/>
          <p:cNvSpPr txBox="1"/>
          <p:nvPr/>
        </p:nvSpPr>
        <p:spPr>
          <a:xfrm>
            <a:off x="731520" y="5989320"/>
            <a:ext cx="6583680" cy="320040"/>
          </a:xfrm>
          <a:prstGeom prst="rect">
            <a:avLst/>
          </a:prstGeom>
          <a:noFill/>
          <a:effectLst/>
        </p:spPr>
        <p:txBody>
          <a:bodyPr wrap="square">
            <a:spAutoFit/>
          </a:bodyPr>
          <a:lstStyle/>
          <a:p>
            <a:pPr algn="l">
              <a:lnSpc>
                <a:spcPts val="1600"/>
              </a:lnSpc>
              <a:defRPr sz="1000" b="0" i="0">
                <a:solidFill>
                  <a:srgbClr val="5C5C5C"/>
                </a:solidFill>
                <a:latin typeface="Fraunces"/>
              </a:defRPr>
            </a:pPr>
            <a:r>
              <a:t>Places: Kerkennah Islands · Sfax</a:t>
            </a:r>
          </a:p>
        </p:txBody>
      </p:sp>
      <p:sp>
        <p:nvSpPr>
          <p:cNvPr id="13" name="TextBox 12"/>
          <p:cNvSpPr txBox="1"/>
          <p:nvPr/>
        </p:nvSpPr>
        <p:spPr>
          <a:xfrm>
            <a:off x="731520" y="6327648"/>
            <a:ext cx="6583680" cy="274320"/>
          </a:xfrm>
          <a:prstGeom prst="rect">
            <a:avLst/>
          </a:prstGeom>
          <a:noFill/>
          <a:effectLst/>
        </p:spPr>
        <p:txBody>
          <a:bodyPr wrap="square">
            <a:spAutoFit/>
          </a:bodyPr>
          <a:lstStyle/>
          <a:p>
            <a:pPr algn="l">
              <a:lnSpc>
                <a:spcPts val="1400"/>
              </a:lnSpc>
              <a:defRPr sz="900" b="0" i="0">
                <a:solidFill>
                  <a:srgbClr val="857F76"/>
                </a:solidFill>
                <a:latin typeface="Fraunces"/>
              </a:defRPr>
            </a:pPr>
            <a:r>
              <a:t>Sources: UNESCO ICH 2020 (Charfia fishing); Earth Journalism Network; New Arab</a:t>
            </a:r>
          </a:p>
        </p:txBody>
      </p:sp>
      <p:sp>
        <p:nvSpPr>
          <p:cNvPr id="14" name="TextBox 13"/>
          <p:cNvSpPr txBox="1"/>
          <p:nvPr/>
        </p:nvSpPr>
        <p:spPr>
          <a:xfrm>
            <a:off x="10488168" y="6263640"/>
            <a:ext cx="941832" cy="274320"/>
          </a:xfrm>
          <a:prstGeom prst="rect">
            <a:avLst/>
          </a:prstGeom>
          <a:noFill/>
          <a:effectLst/>
        </p:spPr>
        <p:txBody>
          <a:bodyPr wrap="none">
            <a:spAutoFit/>
          </a:bodyPr>
          <a:lstStyle/>
          <a:p>
            <a:pPr algn="ctr">
              <a:defRPr sz="900">
                <a:solidFill>
                  <a:srgbClr val="5C5C5C"/>
                </a:solidFill>
                <a:latin typeface="Fraunces"/>
              </a:defRPr>
            </a:pPr>
            <a:r>
              <a:t>ENDANGERED</a:t>
            </a:r>
          </a:p>
        </p:txBody>
        <a:spPr>
          <a:prstGeom prst="roundRect">
            <a:avLst/>
          </a:prstGeom>
          <a:ln w="6350">
            <a:solidFill>
              <a:srgbClr val="B0A89E"/>
            </a:solidFill>
            <a:prstDash val="solid"/>
          </a:ln>
        </a:spPr>
      </p:sp>
      <p:sp>
        <p:nvSpPr>
          <p:cNvPr id="15" name="TextBox 14"/>
          <p:cNvSpPr txBox="1"/>
          <p:nvPr/>
        </p:nvSpPr>
        <p:spPr>
          <a:xfrm>
            <a:off x="9683496" y="6263640"/>
            <a:ext cx="667512" cy="274320"/>
          </a:xfrm>
          <a:prstGeom prst="rect">
            <a:avLst/>
          </a:prstGeom>
          <a:noFill/>
          <a:effectLst/>
        </p:spPr>
        <p:txBody>
          <a:bodyPr wrap="none">
            <a:spAutoFit/>
          </a:bodyPr>
          <a:lstStyle/>
          <a:p>
            <a:pPr algn="ctr">
              <a:defRPr sz="900">
                <a:solidFill>
                  <a:srgbClr val="5C5C5C"/>
                </a:solidFill>
                <a:latin typeface="Fraunces"/>
              </a:defRPr>
            </a:pPr>
            <a:r>
              <a:t>UNESCO</a:t>
            </a:r>
          </a:p>
        </p:txBody>
        <a:spPr>
          <a:prstGeom prst="roundRect">
            <a:avLst/>
          </a:prstGeom>
          <a:ln w="6350">
            <a:solidFill>
              <a:srgbClr val="B0A89E"/>
            </a:solidFill>
            <a:prstDash val="solid"/>
          </a:ln>
        </a:spPr>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10058400" y="365760"/>
            <a:ext cx="1828800" cy="914400"/>
          </a:xfrm>
          <a:prstGeom prst="rect">
            <a:avLst/>
          </a:prstGeom>
          <a:noFill/>
          <a:effectLst/>
        </p:spPr>
        <p:txBody>
          <a:bodyPr wrap="square">
            <a:spAutoFit/>
          </a:bodyPr>
          <a:lstStyle/>
          <a:p>
            <a:pPr algn="r">
              <a:lnSpc>
                <a:spcPts val="10200"/>
              </a:lnSpc>
              <a:defRPr sz="6400" b="0" i="0">
                <a:solidFill>
                  <a:srgbClr val="400505"/>
                </a:solidFill>
                <a:latin typeface="Baskerville"/>
              </a:defRPr>
            </a:pPr>
            <a:r>
              <a:t>02</a:t>
            </a:r>
          </a:p>
        </p:txBody>
      </p:sp>
      <p:sp>
        <p:nvSpPr>
          <p:cNvPr id="3" name="TextBox 2"/>
          <p:cNvSpPr txBox="1"/>
          <p:nvPr/>
        </p:nvSpPr>
        <p:spPr>
          <a:xfrm>
            <a:off x="731520" y="548640"/>
            <a:ext cx="45720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ARTS &amp; CULTURE</a:t>
            </a:r>
          </a:p>
        </p:txBody>
      </p:sp>
      <p:sp>
        <p:nvSpPr>
          <p:cNvPr id="4" name="TextBox 3"/>
          <p:cNvSpPr txBox="1"/>
          <p:nvPr/>
        </p:nvSpPr>
        <p:spPr>
          <a:xfrm>
            <a:off x="731520" y="1463040"/>
            <a:ext cx="9144000" cy="1097280"/>
          </a:xfrm>
          <a:prstGeom prst="rect">
            <a:avLst/>
          </a:prstGeom>
          <a:noFill/>
          <a:effectLst/>
        </p:spPr>
        <p:txBody>
          <a:bodyPr wrap="square">
            <a:spAutoFit/>
          </a:bodyPr>
          <a:lstStyle/>
          <a:p>
            <a:pPr algn="l">
              <a:lnSpc>
                <a:spcPts val="6000"/>
              </a:lnSpc>
              <a:defRPr sz="3800" b="0" i="0">
                <a:solidFill>
                  <a:srgbClr val="000000"/>
                </a:solidFill>
                <a:latin typeface="Baskerville"/>
              </a:defRPr>
            </a:pPr>
            <a:r>
              <a:t>The Women Who Build with Earth</a:t>
            </a:r>
          </a:p>
        </p:txBody>
      </p:sp>
      <p:sp>
        <p:nvSpPr>
          <p:cNvPr id="5" name="TextBox 4"/>
          <p:cNvSpPr txBox="1"/>
          <p:nvPr/>
        </p:nvSpPr>
        <p:spPr>
          <a:xfrm>
            <a:off x="731520" y="2560320"/>
            <a:ext cx="9144000" cy="731520"/>
          </a:xfrm>
          <a:prstGeom prst="rect">
            <a:avLst/>
          </a:prstGeom>
          <a:noFill/>
          <a:effectLst/>
        </p:spPr>
        <p:txBody>
          <a:bodyPr wrap="square">
            <a:spAutoFit/>
          </a:bodyPr>
          <a:lstStyle/>
          <a:p>
            <a:pPr algn="l">
              <a:lnSpc>
                <a:spcPts val="3800"/>
              </a:lnSpc>
              <a:defRPr sz="2400" b="0" i="1">
                <a:solidFill>
                  <a:srgbClr val="5C5C5C"/>
                </a:solidFill>
                <a:latin typeface="Baskerville"/>
              </a:defRPr>
            </a:pPr>
            <a:r>
              <a:t>Sejnane’s Amazigh Potters</a:t>
            </a:r>
          </a:p>
        </p:txBody>
      </p:sp>
      <p:cxnSp>
        <p:nvCxnSpPr>
          <p:cNvPr id="6" name="Connector 5"/>
          <p:cNvCxnSpPr/>
          <p:nvPr/>
        </p:nvCxnSpPr>
        <p:spPr>
          <a:xfrm>
            <a:off x="731520" y="338328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THE STORY</a:t>
            </a:r>
          </a:p>
        </p:txBody>
      </p:sp>
      <p:sp>
        <p:nvSpPr>
          <p:cNvPr id="8" name="TextBox 7"/>
          <p:cNvSpPr txBox="1"/>
          <p:nvPr/>
        </p:nvSpPr>
        <p:spPr>
          <a:xfrm>
            <a:off x="731520" y="3794760"/>
            <a:ext cx="530352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 the Mogods hills behind Bizerte, the women of Sejnane hand-build pots, animals and the famous Sejnane dolls from wadi clay with no wheel and no kiln, firing them in open ground and painting them with two-tone geometric signs from tattoo and Berber weaving — a craft passed mother to daughter for some three thousand years.</a:t>
            </a:r>
          </a:p>
        </p:txBody>
      </p:sp>
      <p:cxnSp>
        <p:nvCxnSpPr>
          <p:cNvPr id="9" name="Connector 8"/>
          <p:cNvCxnSpPr/>
          <p:nvPr/>
        </p:nvCxnSpPr>
        <p:spPr>
          <a:xfrm>
            <a:off x="6400800" y="3566160"/>
            <a:ext cx="0" cy="2194560"/>
          </a:xfrm>
          <a:prstGeom prst="line">
            <a:avLst/>
          </a:prstGeom>
          <a:ln w="254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OUR PROPOSAL</a:t>
            </a:r>
          </a:p>
        </p:txBody>
      </p:sp>
      <p:sp>
        <p:nvSpPr>
          <p:cNvPr id="11" name="TextBox 10"/>
          <p:cNvSpPr txBox="1"/>
          <p:nvPr/>
        </p:nvSpPr>
        <p:spPr>
          <a:xfrm>
            <a:off x="6766560" y="3794760"/>
            <a:ext cx="475488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INLAND portraits one named potter through a full cycle — digging and kneading the clay, shaping by hand, the open firing, the painting — a Mediterranean ceramics tradition that predates the wheel and belongs entirely to women. UNESCO-inscribed 2018.</a:t>
            </a:r>
          </a:p>
        </p:txBody>
      </p:sp>
      <p:sp>
        <p:nvSpPr>
          <p:cNvPr id="12" name="TextBox 11"/>
          <p:cNvSpPr txBox="1"/>
          <p:nvPr/>
        </p:nvSpPr>
        <p:spPr>
          <a:xfrm>
            <a:off x="731520" y="5989320"/>
            <a:ext cx="6583680" cy="320040"/>
          </a:xfrm>
          <a:prstGeom prst="rect">
            <a:avLst/>
          </a:prstGeom>
          <a:noFill/>
          <a:effectLst/>
        </p:spPr>
        <p:txBody>
          <a:bodyPr wrap="square">
            <a:spAutoFit/>
          </a:bodyPr>
          <a:lstStyle/>
          <a:p>
            <a:pPr algn="l">
              <a:lnSpc>
                <a:spcPts val="1600"/>
              </a:lnSpc>
              <a:defRPr sz="1000" b="0" i="0">
                <a:solidFill>
                  <a:srgbClr val="5C5C5C"/>
                </a:solidFill>
                <a:latin typeface="Fraunces"/>
              </a:defRPr>
            </a:pPr>
            <a:r>
              <a:t>Places: Sejnane · Mogods · Bizerte</a:t>
            </a:r>
          </a:p>
        </p:txBody>
      </p:sp>
      <p:sp>
        <p:nvSpPr>
          <p:cNvPr id="13" name="TextBox 12"/>
          <p:cNvSpPr txBox="1"/>
          <p:nvPr/>
        </p:nvSpPr>
        <p:spPr>
          <a:xfrm>
            <a:off x="731520" y="6327648"/>
            <a:ext cx="6583680" cy="274320"/>
          </a:xfrm>
          <a:prstGeom prst="rect">
            <a:avLst/>
          </a:prstGeom>
          <a:noFill/>
          <a:effectLst/>
        </p:spPr>
        <p:txBody>
          <a:bodyPr wrap="square">
            <a:spAutoFit/>
          </a:bodyPr>
          <a:lstStyle/>
          <a:p>
            <a:pPr algn="l">
              <a:lnSpc>
                <a:spcPts val="1400"/>
              </a:lnSpc>
              <a:defRPr sz="900" b="0" i="0">
                <a:solidFill>
                  <a:srgbClr val="857F76"/>
                </a:solidFill>
                <a:latin typeface="Fraunces"/>
              </a:defRPr>
            </a:pPr>
            <a:r>
              <a:t>Sources: UNESCO ICH 2018 (Pottery of the women of Sejnane); The Arab Weekly; phys.org</a:t>
            </a:r>
          </a:p>
        </p:txBody>
      </p:sp>
      <p:sp>
        <p:nvSpPr>
          <p:cNvPr id="14" name="TextBox 13"/>
          <p:cNvSpPr txBox="1"/>
          <p:nvPr/>
        </p:nvSpPr>
        <p:spPr>
          <a:xfrm>
            <a:off x="10831068" y="6263640"/>
            <a:ext cx="598932" cy="274320"/>
          </a:xfrm>
          <a:prstGeom prst="rect">
            <a:avLst/>
          </a:prstGeom>
          <a:noFill/>
          <a:effectLst/>
        </p:spPr>
        <p:txBody>
          <a:bodyPr wrap="none">
            <a:spAutoFit/>
          </a:bodyPr>
          <a:lstStyle/>
          <a:p>
            <a:pPr algn="ctr">
              <a:defRPr sz="900">
                <a:solidFill>
                  <a:srgbClr val="5C5C5C"/>
                </a:solidFill>
                <a:latin typeface="Fraunces"/>
              </a:defRPr>
            </a:pPr>
            <a:r>
              <a:t>WOMEN</a:t>
            </a:r>
          </a:p>
        </p:txBody>
        <a:spPr>
          <a:prstGeom prst="roundRect">
            <a:avLst/>
          </a:prstGeom>
          <a:ln w="6350">
            <a:solidFill>
              <a:srgbClr val="B0A89E"/>
            </a:solidFill>
            <a:prstDash val="solid"/>
          </a:ln>
        </a:spPr>
      </p:sp>
      <p:sp>
        <p:nvSpPr>
          <p:cNvPr id="15" name="TextBox 14"/>
          <p:cNvSpPr txBox="1"/>
          <p:nvPr/>
        </p:nvSpPr>
        <p:spPr>
          <a:xfrm>
            <a:off x="10026396" y="6263640"/>
            <a:ext cx="667512" cy="274320"/>
          </a:xfrm>
          <a:prstGeom prst="rect">
            <a:avLst/>
          </a:prstGeom>
          <a:noFill/>
          <a:effectLst/>
        </p:spPr>
        <p:txBody>
          <a:bodyPr wrap="none">
            <a:spAutoFit/>
          </a:bodyPr>
          <a:lstStyle/>
          <a:p>
            <a:pPr algn="ctr">
              <a:defRPr sz="900">
                <a:solidFill>
                  <a:srgbClr val="5C5C5C"/>
                </a:solidFill>
                <a:latin typeface="Fraunces"/>
              </a:defRPr>
            </a:pPr>
            <a:r>
              <a:t>UNESCO</a:t>
            </a:r>
          </a:p>
        </p:txBody>
        <a:spPr>
          <a:prstGeom prst="roundRect">
            <a:avLst/>
          </a:prstGeom>
          <a:ln w="6350">
            <a:solidFill>
              <a:srgbClr val="B0A89E"/>
            </a:solidFill>
            <a:prstDash val="solid"/>
          </a:ln>
        </a:spPr>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10058400" y="365760"/>
            <a:ext cx="1828800" cy="914400"/>
          </a:xfrm>
          <a:prstGeom prst="rect">
            <a:avLst/>
          </a:prstGeom>
          <a:noFill/>
          <a:effectLst/>
        </p:spPr>
        <p:txBody>
          <a:bodyPr wrap="square">
            <a:spAutoFit/>
          </a:bodyPr>
          <a:lstStyle/>
          <a:p>
            <a:pPr algn="r">
              <a:lnSpc>
                <a:spcPts val="10200"/>
              </a:lnSpc>
              <a:defRPr sz="6400" b="0" i="0">
                <a:solidFill>
                  <a:srgbClr val="400505"/>
                </a:solidFill>
                <a:latin typeface="Baskerville"/>
              </a:defRPr>
            </a:pPr>
            <a:r>
              <a:t>03</a:t>
            </a:r>
          </a:p>
        </p:txBody>
      </p:sp>
      <p:sp>
        <p:nvSpPr>
          <p:cNvPr id="3" name="TextBox 2"/>
          <p:cNvSpPr txBox="1"/>
          <p:nvPr/>
        </p:nvSpPr>
        <p:spPr>
          <a:xfrm>
            <a:off x="731520" y="548640"/>
            <a:ext cx="45720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MYTH &amp; RELIGION</a:t>
            </a:r>
          </a:p>
        </p:txBody>
      </p:sp>
      <p:sp>
        <p:nvSpPr>
          <p:cNvPr id="4" name="TextBox 3"/>
          <p:cNvSpPr txBox="1"/>
          <p:nvPr/>
        </p:nvSpPr>
        <p:spPr>
          <a:xfrm>
            <a:off x="731520" y="1463040"/>
            <a:ext cx="9144000" cy="1097280"/>
          </a:xfrm>
          <a:prstGeom prst="rect">
            <a:avLst/>
          </a:prstGeom>
          <a:noFill/>
          <a:effectLst/>
        </p:spPr>
        <p:txBody>
          <a:bodyPr wrap="square">
            <a:spAutoFit/>
          </a:bodyPr>
          <a:lstStyle/>
          <a:p>
            <a:pPr algn="l">
              <a:lnSpc>
                <a:spcPts val="6000"/>
              </a:lnSpc>
              <a:defRPr sz="3800" b="0" i="0">
                <a:solidFill>
                  <a:srgbClr val="000000"/>
                </a:solidFill>
                <a:latin typeface="Baskerville"/>
              </a:defRPr>
            </a:pPr>
            <a:r>
              <a:t>The Island of Three Prayers</a:t>
            </a:r>
          </a:p>
        </p:txBody>
      </p:sp>
      <p:sp>
        <p:nvSpPr>
          <p:cNvPr id="5" name="TextBox 4"/>
          <p:cNvSpPr txBox="1"/>
          <p:nvPr/>
        </p:nvSpPr>
        <p:spPr>
          <a:xfrm>
            <a:off x="731520" y="2560320"/>
            <a:ext cx="9144000" cy="731520"/>
          </a:xfrm>
          <a:prstGeom prst="rect">
            <a:avLst/>
          </a:prstGeom>
          <a:noFill/>
          <a:effectLst/>
        </p:spPr>
        <p:txBody>
          <a:bodyPr wrap="square">
            <a:spAutoFit/>
          </a:bodyPr>
          <a:lstStyle/>
          <a:p>
            <a:pPr algn="l">
              <a:lnSpc>
                <a:spcPts val="3800"/>
              </a:lnSpc>
              <a:defRPr sz="2400" b="0" i="1">
                <a:solidFill>
                  <a:srgbClr val="5C5C5C"/>
                </a:solidFill>
                <a:latin typeface="Baskerville"/>
              </a:defRPr>
            </a:pPr>
            <a:r>
              <a:t>Djerba’s Ibadis &amp; El Ghriba</a:t>
            </a:r>
          </a:p>
        </p:txBody>
      </p:sp>
      <p:cxnSp>
        <p:nvCxnSpPr>
          <p:cNvPr id="6" name="Connector 5"/>
          <p:cNvCxnSpPr/>
          <p:nvPr/>
        </p:nvCxnSpPr>
        <p:spPr>
          <a:xfrm>
            <a:off x="731520" y="338328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THE STORY</a:t>
            </a:r>
          </a:p>
        </p:txBody>
      </p:sp>
      <p:sp>
        <p:nvSpPr>
          <p:cNvPr id="8" name="TextBox 7"/>
          <p:cNvSpPr txBox="1"/>
          <p:nvPr/>
        </p:nvSpPr>
        <p:spPr>
          <a:xfrm>
            <a:off x="731520" y="3794760"/>
            <a:ext cx="530352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On Djerba, Ibadi Muslims built low, fortified, sometimes half-underground mosques across an island of menzel farmsteads and rain-cisterns, while at El Ghriba — held to be Africa’s oldest synagogue — Jewish pilgrims still gather each spring for the Lag BaOmer procession. UNESCO listed the whole island in 2023.</a:t>
            </a:r>
          </a:p>
        </p:txBody>
      </p:sp>
      <p:cxnSp>
        <p:nvCxnSpPr>
          <p:cNvPr id="9" name="Connector 8"/>
          <p:cNvCxnSpPr/>
          <p:nvPr/>
        </p:nvCxnSpPr>
        <p:spPr>
          <a:xfrm>
            <a:off x="6400800" y="3566160"/>
            <a:ext cx="0" cy="2194560"/>
          </a:xfrm>
          <a:prstGeom prst="line">
            <a:avLst/>
          </a:prstGeom>
          <a:ln w="254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OUR PROPOSAL</a:t>
            </a:r>
          </a:p>
        </p:txBody>
      </p:sp>
      <p:sp>
        <p:nvSpPr>
          <p:cNvPr id="11" name="TextBox 10"/>
          <p:cNvSpPr txBox="1"/>
          <p:nvPr/>
        </p:nvSpPr>
        <p:spPr>
          <a:xfrm>
            <a:off x="6766560" y="3794760"/>
            <a:ext cx="475488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INLAND works the island as one fabric — a fortified Ibadi mosque at prayer, a menzel courtyard, the El Ghriba pilgrimage — documenting the only place in the Arab world where Ibadi, Maliki, Hanafi, Christian and Jewish communities have shared a small island for centuries.</a:t>
            </a:r>
          </a:p>
        </p:txBody>
      </p:sp>
      <p:sp>
        <p:nvSpPr>
          <p:cNvPr id="12" name="TextBox 11"/>
          <p:cNvSpPr txBox="1"/>
          <p:nvPr/>
        </p:nvSpPr>
        <p:spPr>
          <a:xfrm>
            <a:off x="731520" y="5989320"/>
            <a:ext cx="6583680" cy="320040"/>
          </a:xfrm>
          <a:prstGeom prst="rect">
            <a:avLst/>
          </a:prstGeom>
          <a:noFill/>
          <a:effectLst/>
        </p:spPr>
        <p:txBody>
          <a:bodyPr wrap="square">
            <a:spAutoFit/>
          </a:bodyPr>
          <a:lstStyle/>
          <a:p>
            <a:pPr algn="l">
              <a:lnSpc>
                <a:spcPts val="1600"/>
              </a:lnSpc>
              <a:defRPr sz="1000" b="0" i="0">
                <a:solidFill>
                  <a:srgbClr val="5C5C5C"/>
                </a:solidFill>
                <a:latin typeface="Fraunces"/>
              </a:defRPr>
            </a:pPr>
            <a:r>
              <a:t>Places: Djerba · Hara Kebira · Erriadh</a:t>
            </a:r>
          </a:p>
        </p:txBody>
      </p:sp>
      <p:sp>
        <p:nvSpPr>
          <p:cNvPr id="13" name="TextBox 12"/>
          <p:cNvSpPr txBox="1"/>
          <p:nvPr/>
        </p:nvSpPr>
        <p:spPr>
          <a:xfrm>
            <a:off x="731520" y="6327648"/>
            <a:ext cx="6583680" cy="274320"/>
          </a:xfrm>
          <a:prstGeom prst="rect">
            <a:avLst/>
          </a:prstGeom>
          <a:noFill/>
          <a:effectLst/>
        </p:spPr>
        <p:txBody>
          <a:bodyPr wrap="square">
            <a:spAutoFit/>
          </a:bodyPr>
          <a:lstStyle/>
          <a:p>
            <a:pPr algn="l">
              <a:lnSpc>
                <a:spcPts val="1400"/>
              </a:lnSpc>
              <a:defRPr sz="900" b="0" i="0">
                <a:solidFill>
                  <a:srgbClr val="857F76"/>
                </a:solidFill>
                <a:latin typeface="Fraunces"/>
              </a:defRPr>
            </a:pPr>
            <a:r>
              <a:t>Sources: UNESCO WHC 2023 (Djerba); El Ghriba (Wikipedia); The Arab Weekly</a:t>
            </a:r>
          </a:p>
        </p:txBody>
      </p:sp>
      <p:sp>
        <p:nvSpPr>
          <p:cNvPr id="14" name="TextBox 13"/>
          <p:cNvSpPr txBox="1"/>
          <p:nvPr/>
        </p:nvSpPr>
        <p:spPr>
          <a:xfrm>
            <a:off x="10419588" y="6263640"/>
            <a:ext cx="1010412" cy="274320"/>
          </a:xfrm>
          <a:prstGeom prst="rect">
            <a:avLst/>
          </a:prstGeom>
          <a:noFill/>
          <a:effectLst/>
        </p:spPr>
        <p:txBody>
          <a:bodyPr wrap="none">
            <a:spAutoFit/>
          </a:bodyPr>
          <a:lstStyle/>
          <a:p>
            <a:pPr algn="ctr">
              <a:defRPr sz="900">
                <a:solidFill>
                  <a:srgbClr val="5C5C5C"/>
                </a:solidFill>
                <a:latin typeface="Fraunces"/>
              </a:defRPr>
            </a:pPr>
            <a:r>
              <a:t>COEXISTENCE</a:t>
            </a:r>
          </a:p>
        </p:txBody>
        <a:spPr>
          <a:prstGeom prst="roundRect">
            <a:avLst/>
          </a:prstGeom>
          <a:ln w="6350">
            <a:solidFill>
              <a:srgbClr val="B0A89E"/>
            </a:solidFill>
            <a:prstDash val="solid"/>
          </a:ln>
        </a:spPr>
      </p:sp>
      <p:sp>
        <p:nvSpPr>
          <p:cNvPr id="15" name="TextBox 14"/>
          <p:cNvSpPr txBox="1"/>
          <p:nvPr/>
        </p:nvSpPr>
        <p:spPr>
          <a:xfrm>
            <a:off x="9614916" y="6263640"/>
            <a:ext cx="667512" cy="274320"/>
          </a:xfrm>
          <a:prstGeom prst="rect">
            <a:avLst/>
          </a:prstGeom>
          <a:noFill/>
          <a:effectLst/>
        </p:spPr>
        <p:txBody>
          <a:bodyPr wrap="none">
            <a:spAutoFit/>
          </a:bodyPr>
          <a:lstStyle/>
          <a:p>
            <a:pPr algn="ctr">
              <a:defRPr sz="900">
                <a:solidFill>
                  <a:srgbClr val="5C5C5C"/>
                </a:solidFill>
                <a:latin typeface="Fraunces"/>
              </a:defRPr>
            </a:pPr>
            <a:r>
              <a:t>UNESCO</a:t>
            </a:r>
          </a:p>
        </p:txBody>
        <a:spPr>
          <a:prstGeom prst="roundRect">
            <a:avLst/>
          </a:prstGeom>
          <a:ln w="6350">
            <a:solidFill>
              <a:srgbClr val="B0A89E"/>
            </a:solidFill>
            <a:prstDash val="solid"/>
          </a:ln>
        </a:spPr>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10058400" y="365760"/>
            <a:ext cx="1828800" cy="914400"/>
          </a:xfrm>
          <a:prstGeom prst="rect">
            <a:avLst/>
          </a:prstGeom>
          <a:noFill/>
          <a:effectLst/>
        </p:spPr>
        <p:txBody>
          <a:bodyPr wrap="square">
            <a:spAutoFit/>
          </a:bodyPr>
          <a:lstStyle/>
          <a:p>
            <a:pPr algn="r">
              <a:lnSpc>
                <a:spcPts val="10200"/>
              </a:lnSpc>
              <a:defRPr sz="6400" b="0" i="0">
                <a:solidFill>
                  <a:srgbClr val="400505"/>
                </a:solidFill>
                <a:latin typeface="Baskerville"/>
              </a:defRPr>
            </a:pPr>
            <a:r>
              <a:t>04</a:t>
            </a:r>
          </a:p>
        </p:txBody>
      </p:sp>
      <p:sp>
        <p:nvSpPr>
          <p:cNvPr id="3" name="TextBox 2"/>
          <p:cNvSpPr txBox="1"/>
          <p:nvPr/>
        </p:nvSpPr>
        <p:spPr>
          <a:xfrm>
            <a:off x="731520" y="548640"/>
            <a:ext cx="45720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LOCAL COMMUNITIES</a:t>
            </a:r>
          </a:p>
        </p:txBody>
      </p:sp>
      <p:sp>
        <p:nvSpPr>
          <p:cNvPr id="4" name="TextBox 3"/>
          <p:cNvSpPr txBox="1"/>
          <p:nvPr/>
        </p:nvSpPr>
        <p:spPr>
          <a:xfrm>
            <a:off x="731520" y="1463040"/>
            <a:ext cx="9144000" cy="1097280"/>
          </a:xfrm>
          <a:prstGeom prst="rect">
            <a:avLst/>
          </a:prstGeom>
          <a:noFill/>
          <a:effectLst/>
        </p:spPr>
        <p:txBody>
          <a:bodyPr wrap="square">
            <a:spAutoFit/>
          </a:bodyPr>
          <a:lstStyle/>
          <a:p>
            <a:pPr algn="l">
              <a:lnSpc>
                <a:spcPts val="6000"/>
              </a:lnSpc>
              <a:defRPr sz="3800" b="0" i="0">
                <a:solidFill>
                  <a:srgbClr val="000000"/>
                </a:solidFill>
                <a:latin typeface="Baskerville"/>
              </a:defRPr>
            </a:pPr>
            <a:r>
              <a:t>The Villages That Speak the Old Tongue</a:t>
            </a:r>
          </a:p>
        </p:txBody>
      </p:sp>
      <p:sp>
        <p:nvSpPr>
          <p:cNvPr id="5" name="TextBox 4"/>
          <p:cNvSpPr txBox="1"/>
          <p:nvPr/>
        </p:nvSpPr>
        <p:spPr>
          <a:xfrm>
            <a:off x="731520" y="2560320"/>
            <a:ext cx="9144000" cy="731520"/>
          </a:xfrm>
          <a:prstGeom prst="rect">
            <a:avLst/>
          </a:prstGeom>
          <a:noFill/>
          <a:effectLst/>
        </p:spPr>
        <p:txBody>
          <a:bodyPr wrap="square">
            <a:spAutoFit/>
          </a:bodyPr>
          <a:lstStyle/>
          <a:p>
            <a:pPr algn="l">
              <a:lnSpc>
                <a:spcPts val="3800"/>
              </a:lnSpc>
              <a:defRPr sz="2400" b="0" i="1">
                <a:solidFill>
                  <a:srgbClr val="5C5C5C"/>
                </a:solidFill>
                <a:latin typeface="Baskerville"/>
              </a:defRPr>
            </a:pPr>
            <a:r>
              <a:t>The Amazigh Ksour of the Dahar</a:t>
            </a:r>
          </a:p>
        </p:txBody>
      </p:sp>
      <p:cxnSp>
        <p:nvCxnSpPr>
          <p:cNvPr id="6" name="Connector 5"/>
          <p:cNvCxnSpPr/>
          <p:nvPr/>
        </p:nvCxnSpPr>
        <p:spPr>
          <a:xfrm>
            <a:off x="731520" y="338328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THE STORY</a:t>
            </a:r>
          </a:p>
        </p:txBody>
      </p:sp>
      <p:sp>
        <p:nvSpPr>
          <p:cNvPr id="8" name="TextBox 7"/>
          <p:cNvSpPr txBox="1"/>
          <p:nvPr/>
        </p:nvSpPr>
        <p:spPr>
          <a:xfrm>
            <a:off x="731520" y="3794760"/>
            <a:ext cx="530352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On the ridges of the Dahar above Tataouine, the Amazigh villages of Chenini and Douiret cling to the rock around honeycombed ghorfa granaries and a white mosque, and a dwindling number of elders still speak Tamazight where a generation ago far more did. Below, families have moved to ‘new’ villages with roads and water.</a:t>
            </a:r>
          </a:p>
        </p:txBody>
      </p:sp>
      <p:cxnSp>
        <p:nvCxnSpPr>
          <p:cNvPr id="9" name="Connector 8"/>
          <p:cNvCxnSpPr/>
          <p:nvPr/>
        </p:nvCxnSpPr>
        <p:spPr>
          <a:xfrm>
            <a:off x="6400800" y="3566160"/>
            <a:ext cx="0" cy="2194560"/>
          </a:xfrm>
          <a:prstGeom prst="line">
            <a:avLst/>
          </a:prstGeom>
          <a:ln w="254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OUR PROPOSAL</a:t>
            </a:r>
          </a:p>
        </p:txBody>
      </p:sp>
      <p:sp>
        <p:nvSpPr>
          <p:cNvPr id="11" name="TextBox 10"/>
          <p:cNvSpPr txBox="1"/>
          <p:nvPr/>
        </p:nvSpPr>
        <p:spPr>
          <a:xfrm>
            <a:off x="6766560" y="3794760"/>
            <a:ext cx="475488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INLAND follows a family that still keeps a hill house and a ghorfa — the olive-and-barley year, the granary, the Tamazight spoken at home — documenting one of the last living Berber-speaking pockets of a country that mostly forgot it was Amazigh.</a:t>
            </a:r>
          </a:p>
        </p:txBody>
      </p:sp>
      <p:sp>
        <p:nvSpPr>
          <p:cNvPr id="12" name="TextBox 11"/>
          <p:cNvSpPr txBox="1"/>
          <p:nvPr/>
        </p:nvSpPr>
        <p:spPr>
          <a:xfrm>
            <a:off x="731520" y="5989320"/>
            <a:ext cx="6583680" cy="320040"/>
          </a:xfrm>
          <a:prstGeom prst="rect">
            <a:avLst/>
          </a:prstGeom>
          <a:noFill/>
          <a:effectLst/>
        </p:spPr>
        <p:txBody>
          <a:bodyPr wrap="square">
            <a:spAutoFit/>
          </a:bodyPr>
          <a:lstStyle/>
          <a:p>
            <a:pPr algn="l">
              <a:lnSpc>
                <a:spcPts val="1600"/>
              </a:lnSpc>
              <a:defRPr sz="1000" b="0" i="0">
                <a:solidFill>
                  <a:srgbClr val="5C5C5C"/>
                </a:solidFill>
                <a:latin typeface="Fraunces"/>
              </a:defRPr>
            </a:pPr>
            <a:r>
              <a:t>Places: Chenini · Douiret · Tataouine</a:t>
            </a:r>
          </a:p>
        </p:txBody>
      </p:sp>
      <p:sp>
        <p:nvSpPr>
          <p:cNvPr id="13" name="TextBox 12"/>
          <p:cNvSpPr txBox="1"/>
          <p:nvPr/>
        </p:nvSpPr>
        <p:spPr>
          <a:xfrm>
            <a:off x="731520" y="6327648"/>
            <a:ext cx="6583680" cy="274320"/>
          </a:xfrm>
          <a:prstGeom prst="rect">
            <a:avLst/>
          </a:prstGeom>
          <a:noFill/>
          <a:effectLst/>
        </p:spPr>
        <p:txBody>
          <a:bodyPr wrap="square">
            <a:spAutoFit/>
          </a:bodyPr>
          <a:lstStyle/>
          <a:p>
            <a:pPr algn="l">
              <a:lnSpc>
                <a:spcPts val="1400"/>
              </a:lnSpc>
              <a:defRPr sz="900" b="0" i="0">
                <a:solidFill>
                  <a:srgbClr val="857F76"/>
                </a:solidFill>
                <a:latin typeface="Fraunces"/>
              </a:defRPr>
            </a:pPr>
            <a:r>
              <a:t>Sources: Carthage Magazine (Amazigh heritage); WildyNess; Discover Tunisia</a:t>
            </a:r>
          </a:p>
        </p:txBody>
      </p:sp>
      <p:sp>
        <p:nvSpPr>
          <p:cNvPr id="14" name="TextBox 13"/>
          <p:cNvSpPr txBox="1"/>
          <p:nvPr/>
        </p:nvSpPr>
        <p:spPr>
          <a:xfrm>
            <a:off x="10625328" y="6263640"/>
            <a:ext cx="804672" cy="274320"/>
          </a:xfrm>
          <a:prstGeom prst="rect">
            <a:avLst/>
          </a:prstGeom>
          <a:noFill/>
          <a:effectLst/>
        </p:spPr>
        <p:txBody>
          <a:bodyPr wrap="none">
            <a:spAutoFit/>
          </a:bodyPr>
          <a:lstStyle/>
          <a:p>
            <a:pPr algn="ctr">
              <a:defRPr sz="900">
                <a:solidFill>
                  <a:srgbClr val="5C5C5C"/>
                </a:solidFill>
                <a:latin typeface="Fraunces"/>
              </a:defRPr>
            </a:pPr>
            <a:r>
              <a:t>LANGUAGE</a:t>
            </a:r>
          </a:p>
        </p:txBody>
        <a:spPr>
          <a:prstGeom prst="roundRect">
            <a:avLst/>
          </a:prstGeom>
          <a:ln w="6350">
            <a:solidFill>
              <a:srgbClr val="B0A89E"/>
            </a:solidFill>
            <a:prstDash val="solid"/>
          </a:ln>
        </a:spPr>
      </p:sp>
      <p:sp>
        <p:nvSpPr>
          <p:cNvPr id="15" name="TextBox 14"/>
          <p:cNvSpPr txBox="1"/>
          <p:nvPr/>
        </p:nvSpPr>
        <p:spPr>
          <a:xfrm>
            <a:off x="9752076" y="6263640"/>
            <a:ext cx="736092" cy="274320"/>
          </a:xfrm>
          <a:prstGeom prst="rect">
            <a:avLst/>
          </a:prstGeom>
          <a:noFill/>
          <a:effectLst/>
        </p:spPr>
        <p:txBody>
          <a:bodyPr wrap="none">
            <a:spAutoFit/>
          </a:bodyPr>
          <a:lstStyle/>
          <a:p>
            <a:pPr algn="ctr">
              <a:defRPr sz="900">
                <a:solidFill>
                  <a:srgbClr val="5C5C5C"/>
                </a:solidFill>
                <a:latin typeface="Fraunces"/>
              </a:defRPr>
            </a:pPr>
            <a:r>
              <a:t>AMAZIGH</a:t>
            </a:r>
          </a:p>
        </p:txBody>
        <a:spPr>
          <a:prstGeom prst="roundRect">
            <a:avLst/>
          </a:prstGeom>
          <a:ln w="6350">
            <a:solidFill>
              <a:srgbClr val="B0A89E"/>
            </a:solidFill>
            <a:prstDash val="solid"/>
          </a:ln>
        </a:spPr>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10058400" y="365760"/>
            <a:ext cx="1828800" cy="914400"/>
          </a:xfrm>
          <a:prstGeom prst="rect">
            <a:avLst/>
          </a:prstGeom>
          <a:noFill/>
          <a:effectLst/>
        </p:spPr>
        <p:txBody>
          <a:bodyPr wrap="square">
            <a:spAutoFit/>
          </a:bodyPr>
          <a:lstStyle/>
          <a:p>
            <a:pPr algn="r">
              <a:lnSpc>
                <a:spcPts val="10200"/>
              </a:lnSpc>
              <a:defRPr sz="6400" b="0" i="0">
                <a:solidFill>
                  <a:srgbClr val="400505"/>
                </a:solidFill>
                <a:latin typeface="Baskerville"/>
              </a:defRPr>
            </a:pPr>
            <a:r>
              <a:t>05</a:t>
            </a:r>
          </a:p>
        </p:txBody>
      </p:sp>
      <p:sp>
        <p:nvSpPr>
          <p:cNvPr id="3" name="TextBox 2"/>
          <p:cNvSpPr txBox="1"/>
          <p:nvPr/>
        </p:nvSpPr>
        <p:spPr>
          <a:xfrm>
            <a:off x="731520" y="548640"/>
            <a:ext cx="45720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ARTS &amp; CULTURE</a:t>
            </a:r>
          </a:p>
        </p:txBody>
      </p:sp>
      <p:sp>
        <p:nvSpPr>
          <p:cNvPr id="4" name="TextBox 3"/>
          <p:cNvSpPr txBox="1"/>
          <p:nvPr/>
        </p:nvSpPr>
        <p:spPr>
          <a:xfrm>
            <a:off x="731520" y="1463040"/>
            <a:ext cx="9144000" cy="1097280"/>
          </a:xfrm>
          <a:prstGeom prst="rect">
            <a:avLst/>
          </a:prstGeom>
          <a:noFill/>
          <a:effectLst/>
        </p:spPr>
        <p:txBody>
          <a:bodyPr wrap="square">
            <a:spAutoFit/>
          </a:bodyPr>
          <a:lstStyle/>
          <a:p>
            <a:pPr algn="l">
              <a:lnSpc>
                <a:spcPts val="6000"/>
              </a:lnSpc>
              <a:defRPr sz="3800" b="0" i="0">
                <a:solidFill>
                  <a:srgbClr val="000000"/>
                </a:solidFill>
                <a:latin typeface="Baskerville"/>
              </a:defRPr>
            </a:pPr>
            <a:r>
              <a:t>The Clock That Runs Backward</a:t>
            </a:r>
          </a:p>
        </p:txBody>
      </p:sp>
      <p:sp>
        <p:nvSpPr>
          <p:cNvPr id="5" name="TextBox 4"/>
          <p:cNvSpPr txBox="1"/>
          <p:nvPr/>
        </p:nvSpPr>
        <p:spPr>
          <a:xfrm>
            <a:off x="731520" y="2560320"/>
            <a:ext cx="9144000" cy="731520"/>
          </a:xfrm>
          <a:prstGeom prst="rect">
            <a:avLst/>
          </a:prstGeom>
          <a:noFill/>
          <a:effectLst/>
        </p:spPr>
        <p:txBody>
          <a:bodyPr wrap="square">
            <a:spAutoFit/>
          </a:bodyPr>
          <a:lstStyle/>
          <a:p>
            <a:pPr algn="l">
              <a:lnSpc>
                <a:spcPts val="3800"/>
              </a:lnSpc>
              <a:defRPr sz="2400" b="0" i="1">
                <a:solidFill>
                  <a:srgbClr val="5C5C5C"/>
                </a:solidFill>
                <a:latin typeface="Baskerville"/>
              </a:defRPr>
            </a:pPr>
            <a:r>
              <a:t>Testour’s Andalusians &amp; the Malouf</a:t>
            </a:r>
          </a:p>
        </p:txBody>
      </p:sp>
      <p:cxnSp>
        <p:nvCxnSpPr>
          <p:cNvPr id="6" name="Connector 5"/>
          <p:cNvCxnSpPr/>
          <p:nvPr/>
        </p:nvCxnSpPr>
        <p:spPr>
          <a:xfrm>
            <a:off x="731520" y="338328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THE STORY</a:t>
            </a:r>
          </a:p>
        </p:txBody>
      </p:sp>
      <p:sp>
        <p:nvSpPr>
          <p:cNvPr id="8" name="TextBox 7"/>
          <p:cNvSpPr txBox="1"/>
          <p:nvPr/>
        </p:nvSpPr>
        <p:spPr>
          <a:xfrm>
            <a:off x="731520" y="3794760"/>
            <a:ext cx="530352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Testour, in the Medjerda valley, was rebuilt in the 17th century by Moriscos expelled from Spain; its Great Mosque carries a clock whose hands turn counter-clockwise — read locally as the exiles’ longing to wind time back toward Andalusia — and the town keeps the malouf, the Arab-Andalusian music carried across the sea.</a:t>
            </a:r>
          </a:p>
        </p:txBody>
      </p:sp>
      <p:cxnSp>
        <p:nvCxnSpPr>
          <p:cNvPr id="9" name="Connector 8"/>
          <p:cNvCxnSpPr/>
          <p:nvPr/>
        </p:nvCxnSpPr>
        <p:spPr>
          <a:xfrm>
            <a:off x="6400800" y="3566160"/>
            <a:ext cx="0" cy="2194560"/>
          </a:xfrm>
          <a:prstGeom prst="line">
            <a:avLst/>
          </a:prstGeom>
          <a:ln w="254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OUR PROPOSAL</a:t>
            </a:r>
          </a:p>
        </p:txBody>
      </p:sp>
      <p:sp>
        <p:nvSpPr>
          <p:cNvPr id="11" name="TextBox 10"/>
          <p:cNvSpPr txBox="1"/>
          <p:nvPr/>
        </p:nvSpPr>
        <p:spPr>
          <a:xfrm>
            <a:off x="6766560" y="3794760"/>
            <a:ext cx="475488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INLAND spends the malouf festival with a family of Testour musicians and follows the Andalusian thread through the town — the backward clock, the brick mosque, the pomegranate orchards — a four-century-old Mediterranean exile still audible.</a:t>
            </a:r>
          </a:p>
        </p:txBody>
      </p:sp>
      <p:sp>
        <p:nvSpPr>
          <p:cNvPr id="12" name="TextBox 11"/>
          <p:cNvSpPr txBox="1"/>
          <p:nvPr/>
        </p:nvSpPr>
        <p:spPr>
          <a:xfrm>
            <a:off x="731520" y="5989320"/>
            <a:ext cx="6583680" cy="320040"/>
          </a:xfrm>
          <a:prstGeom prst="rect">
            <a:avLst/>
          </a:prstGeom>
          <a:noFill/>
          <a:effectLst/>
        </p:spPr>
        <p:txBody>
          <a:bodyPr wrap="square">
            <a:spAutoFit/>
          </a:bodyPr>
          <a:lstStyle/>
          <a:p>
            <a:pPr algn="l">
              <a:lnSpc>
                <a:spcPts val="1600"/>
              </a:lnSpc>
              <a:defRPr sz="1000" b="0" i="0">
                <a:solidFill>
                  <a:srgbClr val="5C5C5C"/>
                </a:solidFill>
                <a:latin typeface="Fraunces"/>
              </a:defRPr>
            </a:pPr>
            <a:r>
              <a:t>Places: Testour · Medjerda · Béja</a:t>
            </a:r>
          </a:p>
        </p:txBody>
      </p:sp>
      <p:sp>
        <p:nvSpPr>
          <p:cNvPr id="13" name="TextBox 12"/>
          <p:cNvSpPr txBox="1"/>
          <p:nvPr/>
        </p:nvSpPr>
        <p:spPr>
          <a:xfrm>
            <a:off x="731520" y="6327648"/>
            <a:ext cx="6583680" cy="274320"/>
          </a:xfrm>
          <a:prstGeom prst="rect">
            <a:avLst/>
          </a:prstGeom>
          <a:noFill/>
          <a:effectLst/>
        </p:spPr>
        <p:txBody>
          <a:bodyPr wrap="square">
            <a:spAutoFit/>
          </a:bodyPr>
          <a:lstStyle/>
          <a:p>
            <a:pPr algn="l">
              <a:lnSpc>
                <a:spcPts val="1400"/>
              </a:lnSpc>
              <a:defRPr sz="900" b="0" i="0">
                <a:solidFill>
                  <a:srgbClr val="857F76"/>
                </a:solidFill>
                <a:latin typeface="Fraunces"/>
              </a:defRPr>
            </a:pPr>
            <a:r>
              <a:t>Sources: The Arab Weekly; The National; Tunisian malouf (Wikipedia)</a:t>
            </a:r>
          </a:p>
        </p:txBody>
      </p:sp>
      <p:sp>
        <p:nvSpPr>
          <p:cNvPr id="14" name="TextBox 13"/>
          <p:cNvSpPr txBox="1"/>
          <p:nvPr/>
        </p:nvSpPr>
        <p:spPr>
          <a:xfrm>
            <a:off x="10831068" y="6263640"/>
            <a:ext cx="598932" cy="274320"/>
          </a:xfrm>
          <a:prstGeom prst="rect">
            <a:avLst/>
          </a:prstGeom>
          <a:noFill/>
          <a:effectLst/>
        </p:spPr>
        <p:txBody>
          <a:bodyPr wrap="none">
            <a:spAutoFit/>
          </a:bodyPr>
          <a:lstStyle/>
          <a:p>
            <a:pPr algn="ctr">
              <a:defRPr sz="900">
                <a:solidFill>
                  <a:srgbClr val="5C5C5C"/>
                </a:solidFill>
                <a:latin typeface="Fraunces"/>
              </a:defRPr>
            </a:pPr>
            <a:r>
              <a:t>MUSIC</a:t>
            </a:r>
          </a:p>
        </p:txBody>
        <a:spPr>
          <a:prstGeom prst="roundRect">
            <a:avLst/>
          </a:prstGeom>
          <a:ln w="6350">
            <a:solidFill>
              <a:srgbClr val="B0A89E"/>
            </a:solidFill>
            <a:prstDash val="solid"/>
          </a:ln>
        </a:spPr>
      </p:sp>
      <p:sp>
        <p:nvSpPr>
          <p:cNvPr id="15" name="TextBox 14"/>
          <p:cNvSpPr txBox="1"/>
          <p:nvPr/>
        </p:nvSpPr>
        <p:spPr>
          <a:xfrm>
            <a:off x="9752076" y="6263640"/>
            <a:ext cx="941832" cy="274320"/>
          </a:xfrm>
          <a:prstGeom prst="rect">
            <a:avLst/>
          </a:prstGeom>
          <a:noFill/>
          <a:effectLst/>
        </p:spPr>
        <p:txBody>
          <a:bodyPr wrap="none">
            <a:spAutoFit/>
          </a:bodyPr>
          <a:lstStyle/>
          <a:p>
            <a:pPr algn="ctr">
              <a:defRPr sz="900">
                <a:solidFill>
                  <a:srgbClr val="5C5C5C"/>
                </a:solidFill>
                <a:latin typeface="Fraunces"/>
              </a:defRPr>
            </a:pPr>
            <a:r>
              <a:t>ANDALUSIAN</a:t>
            </a:r>
          </a:p>
        </p:txBody>
        <a:spPr>
          <a:prstGeom prst="roundRect">
            <a:avLst/>
          </a:prstGeom>
          <a:ln w="6350">
            <a:solidFill>
              <a:srgbClr val="B0A89E"/>
            </a:solidFill>
            <a:prstDash val="solid"/>
          </a:ln>
        </a:spPr>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10058400" y="365760"/>
            <a:ext cx="1828800" cy="914400"/>
          </a:xfrm>
          <a:prstGeom prst="rect">
            <a:avLst/>
          </a:prstGeom>
          <a:noFill/>
          <a:effectLst/>
        </p:spPr>
        <p:txBody>
          <a:bodyPr wrap="square">
            <a:spAutoFit/>
          </a:bodyPr>
          <a:lstStyle/>
          <a:p>
            <a:pPr algn="r">
              <a:lnSpc>
                <a:spcPts val="10200"/>
              </a:lnSpc>
              <a:defRPr sz="6400" b="0" i="0">
                <a:solidFill>
                  <a:srgbClr val="400505"/>
                </a:solidFill>
                <a:latin typeface="Baskerville"/>
              </a:defRPr>
            </a:pPr>
            <a:r>
              <a:t>06</a:t>
            </a:r>
          </a:p>
        </p:txBody>
      </p:sp>
      <p:sp>
        <p:nvSpPr>
          <p:cNvPr id="3" name="TextBox 2"/>
          <p:cNvSpPr txBox="1"/>
          <p:nvPr/>
        </p:nvSpPr>
        <p:spPr>
          <a:xfrm>
            <a:off x="731520" y="548640"/>
            <a:ext cx="45720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GEOPOLITICS</a:t>
            </a:r>
          </a:p>
        </p:txBody>
      </p:sp>
      <p:sp>
        <p:nvSpPr>
          <p:cNvPr id="4" name="TextBox 3"/>
          <p:cNvSpPr txBox="1"/>
          <p:nvPr/>
        </p:nvSpPr>
        <p:spPr>
          <a:xfrm>
            <a:off x="731520" y="1463040"/>
            <a:ext cx="9144000" cy="1097280"/>
          </a:xfrm>
          <a:prstGeom prst="rect">
            <a:avLst/>
          </a:prstGeom>
          <a:noFill/>
          <a:effectLst/>
        </p:spPr>
        <p:txBody>
          <a:bodyPr wrap="square">
            <a:spAutoFit/>
          </a:bodyPr>
          <a:lstStyle/>
          <a:p>
            <a:pPr algn="l">
              <a:lnSpc>
                <a:spcPts val="6000"/>
              </a:lnSpc>
              <a:defRPr sz="3800" b="0" i="0">
                <a:solidFill>
                  <a:srgbClr val="000000"/>
                </a:solidFill>
                <a:latin typeface="Baskerville"/>
              </a:defRPr>
            </a:pPr>
            <a:r>
              <a:t>The Oasis by the Sea</a:t>
            </a:r>
          </a:p>
        </p:txBody>
      </p:sp>
      <p:sp>
        <p:nvSpPr>
          <p:cNvPr id="5" name="TextBox 4"/>
          <p:cNvSpPr txBox="1"/>
          <p:nvPr/>
        </p:nvSpPr>
        <p:spPr>
          <a:xfrm>
            <a:off x="731520" y="2560320"/>
            <a:ext cx="9144000" cy="731520"/>
          </a:xfrm>
          <a:prstGeom prst="rect">
            <a:avLst/>
          </a:prstGeom>
          <a:noFill/>
          <a:effectLst/>
        </p:spPr>
        <p:txBody>
          <a:bodyPr wrap="square">
            <a:spAutoFit/>
          </a:bodyPr>
          <a:lstStyle/>
          <a:p>
            <a:pPr algn="l">
              <a:lnSpc>
                <a:spcPts val="3800"/>
              </a:lnSpc>
              <a:defRPr sz="2400" b="0" i="1">
                <a:solidFill>
                  <a:srgbClr val="5C5C5C"/>
                </a:solidFill>
                <a:latin typeface="Baskerville"/>
              </a:defRPr>
            </a:pPr>
            <a:r>
              <a:t>Gabès, the Last Maritime Oasis</a:t>
            </a:r>
          </a:p>
        </p:txBody>
      </p:sp>
      <p:cxnSp>
        <p:nvCxnSpPr>
          <p:cNvPr id="6" name="Connector 5"/>
          <p:cNvCxnSpPr/>
          <p:nvPr/>
        </p:nvCxnSpPr>
        <p:spPr>
          <a:xfrm>
            <a:off x="731520" y="338328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THE STORY</a:t>
            </a:r>
          </a:p>
        </p:txBody>
      </p:sp>
      <p:sp>
        <p:nvSpPr>
          <p:cNvPr id="8" name="TextBox 7"/>
          <p:cNvSpPr txBox="1"/>
          <p:nvPr/>
        </p:nvSpPr>
        <p:spPr>
          <a:xfrm>
            <a:off x="731520" y="3794760"/>
            <a:ext cx="530352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Gabès holds the Mediterranean’s only seaside oasis — a three-tier garden of date palm, pomegranate, henna and vegetable running down to the shore, watered for millennia — now poisoned at its edge by the state phosphate works that have piled phosphogypsum into the gulf for fifty years. Farmers describe henna and pomegranate failing.</a:t>
            </a:r>
          </a:p>
        </p:txBody>
      </p:sp>
      <p:cxnSp>
        <p:nvCxnSpPr>
          <p:cNvPr id="9" name="Connector 8"/>
          <p:cNvCxnSpPr/>
          <p:nvPr/>
        </p:nvCxnSpPr>
        <p:spPr>
          <a:xfrm>
            <a:off x="6400800" y="3566160"/>
            <a:ext cx="0" cy="2194560"/>
          </a:xfrm>
          <a:prstGeom prst="line">
            <a:avLst/>
          </a:prstGeom>
          <a:ln w="254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OUR PROPOSAL</a:t>
            </a:r>
          </a:p>
        </p:txBody>
      </p:sp>
      <p:sp>
        <p:nvSpPr>
          <p:cNvPr id="11" name="TextBox 10"/>
          <p:cNvSpPr txBox="1"/>
          <p:nvPr/>
        </p:nvSpPr>
        <p:spPr>
          <a:xfrm>
            <a:off x="6766560" y="3794760"/>
            <a:ext cx="475488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INLAND documents the oasis from inside — a henna grower, the layered garden, the old irrigation — against the chimneys at its margin: a living agricultural landscape and the industry pressing on it. Tension, not indictment; the gardeners are the subject.</a:t>
            </a:r>
          </a:p>
        </p:txBody>
      </p:sp>
      <p:sp>
        <p:nvSpPr>
          <p:cNvPr id="12" name="TextBox 11"/>
          <p:cNvSpPr txBox="1"/>
          <p:nvPr/>
        </p:nvSpPr>
        <p:spPr>
          <a:xfrm>
            <a:off x="731520" y="5989320"/>
            <a:ext cx="6583680" cy="320040"/>
          </a:xfrm>
          <a:prstGeom prst="rect">
            <a:avLst/>
          </a:prstGeom>
          <a:noFill/>
          <a:effectLst/>
        </p:spPr>
        <p:txBody>
          <a:bodyPr wrap="square">
            <a:spAutoFit/>
          </a:bodyPr>
          <a:lstStyle/>
          <a:p>
            <a:pPr algn="l">
              <a:lnSpc>
                <a:spcPts val="1600"/>
              </a:lnSpc>
              <a:defRPr sz="1000" b="0" i="0">
                <a:solidFill>
                  <a:srgbClr val="5C5C5C"/>
                </a:solidFill>
                <a:latin typeface="Fraunces"/>
              </a:defRPr>
            </a:pPr>
            <a:r>
              <a:t>Places: Gabès · Chenini Gabès · Gulf of Gabès</a:t>
            </a:r>
          </a:p>
        </p:txBody>
      </p:sp>
      <p:sp>
        <p:nvSpPr>
          <p:cNvPr id="13" name="TextBox 12"/>
          <p:cNvSpPr txBox="1"/>
          <p:nvPr/>
        </p:nvSpPr>
        <p:spPr>
          <a:xfrm>
            <a:off x="731520" y="6327648"/>
            <a:ext cx="6583680" cy="274320"/>
          </a:xfrm>
          <a:prstGeom prst="rect">
            <a:avLst/>
          </a:prstGeom>
          <a:noFill/>
          <a:effectLst/>
        </p:spPr>
        <p:txBody>
          <a:bodyPr wrap="square">
            <a:spAutoFit/>
          </a:bodyPr>
          <a:lstStyle/>
          <a:p>
            <a:pPr algn="l">
              <a:lnSpc>
                <a:spcPts val="1400"/>
              </a:lnSpc>
              <a:defRPr sz="900" b="0" i="0">
                <a:solidFill>
                  <a:srgbClr val="857F76"/>
                </a:solidFill>
                <a:latin typeface="Fraunces"/>
              </a:defRPr>
            </a:pPr>
            <a:r>
              <a:t>Sources: Med-O-Med (Gabès oasis); Coda Story; TIMEP; SEVENSEAS</a:t>
            </a:r>
          </a:p>
        </p:txBody>
      </p:sp>
      <p:sp>
        <p:nvSpPr>
          <p:cNvPr id="14" name="TextBox 13"/>
          <p:cNvSpPr txBox="1"/>
          <p:nvPr/>
        </p:nvSpPr>
        <p:spPr>
          <a:xfrm>
            <a:off x="10831068" y="6263640"/>
            <a:ext cx="598932" cy="274320"/>
          </a:xfrm>
          <a:prstGeom prst="rect">
            <a:avLst/>
          </a:prstGeom>
          <a:noFill/>
          <a:effectLst/>
        </p:spPr>
        <p:txBody>
          <a:bodyPr wrap="none">
            <a:spAutoFit/>
          </a:bodyPr>
          <a:lstStyle/>
          <a:p>
            <a:pPr algn="ctr">
              <a:defRPr sz="900">
                <a:solidFill>
                  <a:srgbClr val="5C5C5C"/>
                </a:solidFill>
                <a:latin typeface="Fraunces"/>
              </a:defRPr>
            </a:pPr>
            <a:r>
              <a:t>HENNA</a:t>
            </a:r>
          </a:p>
        </p:txBody>
        <a:spPr>
          <a:prstGeom prst="roundRect">
            <a:avLst/>
          </a:prstGeom>
          <a:ln w="6350">
            <a:solidFill>
              <a:srgbClr val="B0A89E"/>
            </a:solidFill>
            <a:prstDash val="solid"/>
          </a:ln>
        </a:spPr>
      </p:sp>
      <p:sp>
        <p:nvSpPr>
          <p:cNvPr id="15" name="TextBox 14"/>
          <p:cNvSpPr txBox="1"/>
          <p:nvPr/>
        </p:nvSpPr>
        <p:spPr>
          <a:xfrm>
            <a:off x="9957816" y="6263640"/>
            <a:ext cx="736092" cy="274320"/>
          </a:xfrm>
          <a:prstGeom prst="rect">
            <a:avLst/>
          </a:prstGeom>
          <a:noFill/>
          <a:effectLst/>
        </p:spPr>
        <p:txBody>
          <a:bodyPr wrap="none">
            <a:spAutoFit/>
          </a:bodyPr>
          <a:lstStyle/>
          <a:p>
            <a:pPr algn="ctr">
              <a:defRPr sz="900">
                <a:solidFill>
                  <a:srgbClr val="5C5C5C"/>
                </a:solidFill>
                <a:latin typeface="Fraunces"/>
              </a:defRPr>
            </a:pPr>
            <a:r>
              <a:t>ECOLOGY</a:t>
            </a:r>
          </a:p>
        </p:txBody>
        <a:spPr>
          <a:prstGeom prst="roundRect">
            <a:avLst/>
          </a:prstGeom>
          <a:ln w="6350">
            <a:solidFill>
              <a:srgbClr val="B0A89E"/>
            </a:solidFill>
            <a:prstDash val="solid"/>
          </a:ln>
        </a:spPr>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10058400" y="365760"/>
            <a:ext cx="1828800" cy="914400"/>
          </a:xfrm>
          <a:prstGeom prst="rect">
            <a:avLst/>
          </a:prstGeom>
          <a:noFill/>
          <a:effectLst/>
        </p:spPr>
        <p:txBody>
          <a:bodyPr wrap="square">
            <a:spAutoFit/>
          </a:bodyPr>
          <a:lstStyle/>
          <a:p>
            <a:pPr algn="r">
              <a:lnSpc>
                <a:spcPts val="10200"/>
              </a:lnSpc>
              <a:defRPr sz="6400" b="0" i="0">
                <a:solidFill>
                  <a:srgbClr val="400505"/>
                </a:solidFill>
                <a:latin typeface="Baskerville"/>
              </a:defRPr>
            </a:pPr>
            <a:r>
              <a:t>07</a:t>
            </a:r>
          </a:p>
        </p:txBody>
      </p:sp>
      <p:sp>
        <p:nvSpPr>
          <p:cNvPr id="3" name="TextBox 2"/>
          <p:cNvSpPr txBox="1"/>
          <p:nvPr/>
        </p:nvSpPr>
        <p:spPr>
          <a:xfrm>
            <a:off x="731520" y="548640"/>
            <a:ext cx="45720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MYTH &amp; RELIGION</a:t>
            </a:r>
          </a:p>
        </p:txBody>
      </p:sp>
      <p:sp>
        <p:nvSpPr>
          <p:cNvPr id="4" name="TextBox 3"/>
          <p:cNvSpPr txBox="1"/>
          <p:nvPr/>
        </p:nvSpPr>
        <p:spPr>
          <a:xfrm>
            <a:off x="731520" y="1463040"/>
            <a:ext cx="9144000" cy="1097280"/>
          </a:xfrm>
          <a:prstGeom prst="rect">
            <a:avLst/>
          </a:prstGeom>
          <a:noFill/>
          <a:effectLst/>
        </p:spPr>
        <p:txBody>
          <a:bodyPr wrap="square">
            <a:spAutoFit/>
          </a:bodyPr>
          <a:lstStyle/>
          <a:p>
            <a:pPr algn="l">
              <a:lnSpc>
                <a:spcPts val="6000"/>
              </a:lnSpc>
              <a:defRPr sz="3800" b="0" i="0">
                <a:solidFill>
                  <a:srgbClr val="000000"/>
                </a:solidFill>
                <a:latin typeface="Baskerville"/>
              </a:defRPr>
            </a:pPr>
            <a:r>
              <a:t>The Spirits Carried North</a:t>
            </a:r>
          </a:p>
        </p:txBody>
      </p:sp>
      <p:sp>
        <p:nvSpPr>
          <p:cNvPr id="5" name="TextBox 4"/>
          <p:cNvSpPr txBox="1"/>
          <p:nvPr/>
        </p:nvSpPr>
        <p:spPr>
          <a:xfrm>
            <a:off x="731520" y="2560320"/>
            <a:ext cx="9144000" cy="731520"/>
          </a:xfrm>
          <a:prstGeom prst="rect">
            <a:avLst/>
          </a:prstGeom>
          <a:noFill/>
          <a:effectLst/>
        </p:spPr>
        <p:txBody>
          <a:bodyPr wrap="square">
            <a:spAutoFit/>
          </a:bodyPr>
          <a:lstStyle/>
          <a:p>
            <a:pPr algn="l">
              <a:lnSpc>
                <a:spcPts val="3800"/>
              </a:lnSpc>
              <a:defRPr sz="2400" b="0" i="1">
                <a:solidFill>
                  <a:srgbClr val="5C5C5C"/>
                </a:solidFill>
                <a:latin typeface="Baskerville"/>
              </a:defRPr>
            </a:pPr>
            <a:r>
              <a:t>Stambeli, Black Tunisia’s Healing Trance</a:t>
            </a:r>
          </a:p>
        </p:txBody>
      </p:sp>
      <p:cxnSp>
        <p:nvCxnSpPr>
          <p:cNvPr id="6" name="Connector 5"/>
          <p:cNvCxnSpPr/>
          <p:nvPr/>
        </p:nvCxnSpPr>
        <p:spPr>
          <a:xfrm>
            <a:off x="731520" y="338328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THE STORY</a:t>
            </a:r>
          </a:p>
        </p:txBody>
      </p:sp>
      <p:sp>
        <p:nvSpPr>
          <p:cNvPr id="8" name="TextBox 7"/>
          <p:cNvSpPr txBox="1"/>
          <p:nvPr/>
        </p:nvSpPr>
        <p:spPr>
          <a:xfrm>
            <a:off x="731520" y="3794760"/>
            <a:ext cx="530352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 a few houses in Tunis — above all Dar Barnou, once a refuge for freed slaves — the descendants of sub-Saharan people brought across the Sahara keep Stambeli, a night music of the gambri lute and iron shqasheq that calls a pantheon of sub-Saharan spirits and Muslim saints to heal through trance. It survives in a handful of brotherhoods.</a:t>
            </a:r>
          </a:p>
        </p:txBody>
      </p:sp>
      <p:cxnSp>
        <p:nvCxnSpPr>
          <p:cNvPr id="9" name="Connector 8"/>
          <p:cNvCxnSpPr/>
          <p:nvPr/>
        </p:nvCxnSpPr>
        <p:spPr>
          <a:xfrm>
            <a:off x="6400800" y="3566160"/>
            <a:ext cx="0" cy="2194560"/>
          </a:xfrm>
          <a:prstGeom prst="line">
            <a:avLst/>
          </a:prstGeom>
          <a:ln w="254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OUR PROPOSAL</a:t>
            </a:r>
          </a:p>
        </p:txBody>
      </p:sp>
      <p:sp>
        <p:nvSpPr>
          <p:cNvPr id="11" name="TextBox 10"/>
          <p:cNvSpPr txBox="1"/>
          <p:nvPr/>
        </p:nvSpPr>
        <p:spPr>
          <a:xfrm>
            <a:off x="6766560" y="3794760"/>
            <a:ext cx="475488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INLAND sits a full Stambeli night with one of the last troupes — the tuning, the incense, the colours each spirit demands, the dance — documenting Black Tunisia’s living liturgy with consent, as ritual rather than spectacle.</a:t>
            </a:r>
          </a:p>
        </p:txBody>
      </p:sp>
      <p:sp>
        <p:nvSpPr>
          <p:cNvPr id="12" name="TextBox 11"/>
          <p:cNvSpPr txBox="1"/>
          <p:nvPr/>
        </p:nvSpPr>
        <p:spPr>
          <a:xfrm>
            <a:off x="731520" y="5989320"/>
            <a:ext cx="6583680" cy="320040"/>
          </a:xfrm>
          <a:prstGeom prst="rect">
            <a:avLst/>
          </a:prstGeom>
          <a:noFill/>
          <a:effectLst/>
        </p:spPr>
        <p:txBody>
          <a:bodyPr wrap="square">
            <a:spAutoFit/>
          </a:bodyPr>
          <a:lstStyle/>
          <a:p>
            <a:pPr algn="l">
              <a:lnSpc>
                <a:spcPts val="1600"/>
              </a:lnSpc>
              <a:defRPr sz="1000" b="0" i="0">
                <a:solidFill>
                  <a:srgbClr val="5C5C5C"/>
                </a:solidFill>
                <a:latin typeface="Fraunces"/>
              </a:defRPr>
            </a:pPr>
            <a:r>
              <a:t>Places: Tunis · Dar Barnou · Sidi Saad</a:t>
            </a:r>
          </a:p>
        </p:txBody>
      </p:sp>
      <p:sp>
        <p:nvSpPr>
          <p:cNvPr id="13" name="TextBox 12"/>
          <p:cNvSpPr txBox="1"/>
          <p:nvPr/>
        </p:nvSpPr>
        <p:spPr>
          <a:xfrm>
            <a:off x="731520" y="6327648"/>
            <a:ext cx="6583680" cy="274320"/>
          </a:xfrm>
          <a:prstGeom prst="rect">
            <a:avLst/>
          </a:prstGeom>
          <a:noFill/>
          <a:effectLst/>
        </p:spPr>
        <p:txBody>
          <a:bodyPr wrap="square">
            <a:spAutoFit/>
          </a:bodyPr>
          <a:lstStyle/>
          <a:p>
            <a:pPr algn="l">
              <a:lnSpc>
                <a:spcPts val="1400"/>
              </a:lnSpc>
              <a:defRPr sz="900" b="0" i="0">
                <a:solidFill>
                  <a:srgbClr val="857F76"/>
                </a:solidFill>
                <a:latin typeface="Fraunces"/>
              </a:defRPr>
            </a:pPr>
            <a:r>
              <a:t>Sources: Stambeli (Wikipedia); Jankowsky, Stambeli (U. Chicago); Pan-African Music</a:t>
            </a:r>
          </a:p>
        </p:txBody>
      </p:sp>
      <p:sp>
        <p:nvSpPr>
          <p:cNvPr id="14" name="TextBox 13"/>
          <p:cNvSpPr txBox="1"/>
          <p:nvPr/>
        </p:nvSpPr>
        <p:spPr>
          <a:xfrm>
            <a:off x="10625328" y="6263640"/>
            <a:ext cx="804672" cy="274320"/>
          </a:xfrm>
          <a:prstGeom prst="rect">
            <a:avLst/>
          </a:prstGeom>
          <a:noFill/>
          <a:effectLst/>
        </p:spPr>
        <p:txBody>
          <a:bodyPr wrap="none">
            <a:spAutoFit/>
          </a:bodyPr>
          <a:lstStyle/>
          <a:p>
            <a:pPr algn="ctr">
              <a:defRPr sz="900">
                <a:solidFill>
                  <a:srgbClr val="5C5C5C"/>
                </a:solidFill>
                <a:latin typeface="Fraunces"/>
              </a:defRPr>
            </a:pPr>
            <a:r>
              <a:t>MINORITY</a:t>
            </a:r>
          </a:p>
        </p:txBody>
        <a:spPr>
          <a:prstGeom prst="roundRect">
            <a:avLst/>
          </a:prstGeom>
          <a:ln w="6350">
            <a:solidFill>
              <a:srgbClr val="B0A89E"/>
            </a:solidFill>
            <a:prstDash val="solid"/>
          </a:ln>
        </a:spPr>
      </p:sp>
      <p:sp>
        <p:nvSpPr>
          <p:cNvPr id="15" name="TextBox 14"/>
          <p:cNvSpPr txBox="1"/>
          <p:nvPr/>
        </p:nvSpPr>
        <p:spPr>
          <a:xfrm>
            <a:off x="9820656" y="6263640"/>
            <a:ext cx="667512" cy="274320"/>
          </a:xfrm>
          <a:prstGeom prst="rect">
            <a:avLst/>
          </a:prstGeom>
          <a:noFill/>
          <a:effectLst/>
        </p:spPr>
        <p:txBody>
          <a:bodyPr wrap="none">
            <a:spAutoFit/>
          </a:bodyPr>
          <a:lstStyle/>
          <a:p>
            <a:pPr algn="ctr">
              <a:defRPr sz="900">
                <a:solidFill>
                  <a:srgbClr val="5C5C5C"/>
                </a:solidFill>
                <a:latin typeface="Fraunces"/>
              </a:defRPr>
            </a:pPr>
            <a:r>
              <a:t>RITUAL</a:t>
            </a:r>
          </a:p>
        </p:txBody>
        <a:spPr>
          <a:prstGeom prst="roundRect">
            <a:avLst/>
          </a:prstGeom>
          <a:ln w="6350">
            <a:solidFill>
              <a:srgbClr val="B0A89E"/>
            </a:solidFill>
            <a:prstDash val="solid"/>
          </a:ln>
        </a:spPr>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10058400" y="365760"/>
            <a:ext cx="1828800" cy="914400"/>
          </a:xfrm>
          <a:prstGeom prst="rect">
            <a:avLst/>
          </a:prstGeom>
          <a:noFill/>
          <a:effectLst/>
        </p:spPr>
        <p:txBody>
          <a:bodyPr wrap="square">
            <a:spAutoFit/>
          </a:bodyPr>
          <a:lstStyle/>
          <a:p>
            <a:pPr algn="r">
              <a:lnSpc>
                <a:spcPts val="10200"/>
              </a:lnSpc>
              <a:defRPr sz="6400" b="0" i="0">
                <a:solidFill>
                  <a:srgbClr val="400505"/>
                </a:solidFill>
                <a:latin typeface="Baskerville"/>
              </a:defRPr>
            </a:pPr>
            <a:r>
              <a:t>08</a:t>
            </a:r>
          </a:p>
        </p:txBody>
      </p:sp>
      <p:sp>
        <p:nvSpPr>
          <p:cNvPr id="3" name="TextBox 2"/>
          <p:cNvSpPr txBox="1"/>
          <p:nvPr/>
        </p:nvSpPr>
        <p:spPr>
          <a:xfrm>
            <a:off x="731520" y="548640"/>
            <a:ext cx="45720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FOOD</a:t>
            </a:r>
          </a:p>
        </p:txBody>
      </p:sp>
      <p:sp>
        <p:nvSpPr>
          <p:cNvPr id="4" name="TextBox 3"/>
          <p:cNvSpPr txBox="1"/>
          <p:nvPr/>
        </p:nvSpPr>
        <p:spPr>
          <a:xfrm>
            <a:off x="731520" y="1463040"/>
            <a:ext cx="9144000" cy="1097280"/>
          </a:xfrm>
          <a:prstGeom prst="rect">
            <a:avLst/>
          </a:prstGeom>
          <a:noFill/>
          <a:effectLst/>
        </p:spPr>
        <p:txBody>
          <a:bodyPr wrap="square">
            <a:spAutoFit/>
          </a:bodyPr>
          <a:lstStyle/>
          <a:p>
            <a:pPr algn="l">
              <a:lnSpc>
                <a:spcPts val="6000"/>
              </a:lnSpc>
              <a:defRPr sz="3800" b="0" i="0">
                <a:solidFill>
                  <a:srgbClr val="000000"/>
                </a:solidFill>
                <a:latin typeface="Baskerville"/>
              </a:defRPr>
            </a:pPr>
            <a:r>
              <a:t>The Last Matanza</a:t>
            </a:r>
          </a:p>
        </p:txBody>
      </p:sp>
      <p:sp>
        <p:nvSpPr>
          <p:cNvPr id="5" name="TextBox 4"/>
          <p:cNvSpPr txBox="1"/>
          <p:nvPr/>
        </p:nvSpPr>
        <p:spPr>
          <a:xfrm>
            <a:off x="731520" y="2560320"/>
            <a:ext cx="9144000" cy="731520"/>
          </a:xfrm>
          <a:prstGeom prst="rect">
            <a:avLst/>
          </a:prstGeom>
          <a:noFill/>
          <a:effectLst/>
        </p:spPr>
        <p:txBody>
          <a:bodyPr wrap="square">
            <a:spAutoFit/>
          </a:bodyPr>
          <a:lstStyle/>
          <a:p>
            <a:pPr algn="l">
              <a:lnSpc>
                <a:spcPts val="3800"/>
              </a:lnSpc>
              <a:defRPr sz="2400" b="0" i="1">
                <a:solidFill>
                  <a:srgbClr val="5C5C5C"/>
                </a:solidFill>
                <a:latin typeface="Baskerville"/>
              </a:defRPr>
            </a:pPr>
            <a:r>
              <a:t>The Bluefin Trap of Cap Bon</a:t>
            </a:r>
          </a:p>
        </p:txBody>
      </p:sp>
      <p:cxnSp>
        <p:nvCxnSpPr>
          <p:cNvPr id="6" name="Connector 5"/>
          <p:cNvCxnSpPr/>
          <p:nvPr/>
        </p:nvCxnSpPr>
        <p:spPr>
          <a:xfrm>
            <a:off x="731520" y="338328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THE STORY</a:t>
            </a:r>
          </a:p>
        </p:txBody>
      </p:sp>
      <p:sp>
        <p:nvSpPr>
          <p:cNvPr id="8" name="TextBox 7"/>
          <p:cNvSpPr txBox="1"/>
          <p:nvPr/>
        </p:nvSpPr>
        <p:spPr>
          <a:xfrm>
            <a:off x="731520" y="3794760"/>
            <a:ext cx="530352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At Sidi Daoud, on the tip of Cap Bon, fishermen set the madrague — a labyrinth of nets the locals call the matanza — to trap migrating Atlantic bluefin between May and July, a Phoenician-old technique that ends in a churning chamber of tuna hauled by hand. Quotas, industrial fleets and warming water have all but stilled it.</a:t>
            </a:r>
          </a:p>
        </p:txBody>
      </p:sp>
      <p:cxnSp>
        <p:nvCxnSpPr>
          <p:cNvPr id="9" name="Connector 8"/>
          <p:cNvCxnSpPr/>
          <p:nvPr/>
        </p:nvCxnSpPr>
        <p:spPr>
          <a:xfrm>
            <a:off x="6400800" y="3566160"/>
            <a:ext cx="0" cy="2194560"/>
          </a:xfrm>
          <a:prstGeom prst="line">
            <a:avLst/>
          </a:prstGeom>
          <a:ln w="254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OUR PROPOSAL</a:t>
            </a:r>
          </a:p>
        </p:txBody>
      </p:sp>
      <p:sp>
        <p:nvSpPr>
          <p:cNvPr id="11" name="TextBox 10"/>
          <p:cNvSpPr txBox="1"/>
          <p:nvPr/>
        </p:nvSpPr>
        <p:spPr>
          <a:xfrm>
            <a:off x="6766560" y="3794760"/>
            <a:ext cx="475488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INLAND embeds for a season at one of the Mediterranean’s last working tuna traps — the building of the net-rooms, the watch for the school, the matanza itself — a violent, ancient sea-harvest at the edge of disappearing.</a:t>
            </a:r>
          </a:p>
        </p:txBody>
      </p:sp>
      <p:sp>
        <p:nvSpPr>
          <p:cNvPr id="12" name="TextBox 11"/>
          <p:cNvSpPr txBox="1"/>
          <p:nvPr/>
        </p:nvSpPr>
        <p:spPr>
          <a:xfrm>
            <a:off x="731520" y="5989320"/>
            <a:ext cx="6583680" cy="320040"/>
          </a:xfrm>
          <a:prstGeom prst="rect">
            <a:avLst/>
          </a:prstGeom>
          <a:noFill/>
          <a:effectLst/>
        </p:spPr>
        <p:txBody>
          <a:bodyPr wrap="square">
            <a:spAutoFit/>
          </a:bodyPr>
          <a:lstStyle/>
          <a:p>
            <a:pPr algn="l">
              <a:lnSpc>
                <a:spcPts val="1600"/>
              </a:lnSpc>
              <a:defRPr sz="1000" b="0" i="0">
                <a:solidFill>
                  <a:srgbClr val="5C5C5C"/>
                </a:solidFill>
                <a:latin typeface="Fraunces"/>
              </a:defRPr>
            </a:pPr>
            <a:r>
              <a:t>Places: Sidi Daoud · Cap Bon · El Haouaria</a:t>
            </a:r>
          </a:p>
        </p:txBody>
      </p:sp>
      <p:sp>
        <p:nvSpPr>
          <p:cNvPr id="13" name="TextBox 12"/>
          <p:cNvSpPr txBox="1"/>
          <p:nvPr/>
        </p:nvSpPr>
        <p:spPr>
          <a:xfrm>
            <a:off x="731520" y="6327648"/>
            <a:ext cx="6583680" cy="274320"/>
          </a:xfrm>
          <a:prstGeom prst="rect">
            <a:avLst/>
          </a:prstGeom>
          <a:noFill/>
          <a:effectLst/>
        </p:spPr>
        <p:txBody>
          <a:bodyPr wrap="square">
            <a:spAutoFit/>
          </a:bodyPr>
          <a:lstStyle/>
          <a:p>
            <a:pPr algn="l">
              <a:lnSpc>
                <a:spcPts val="1400"/>
              </a:lnSpc>
              <a:defRPr sz="900" b="0" i="0">
                <a:solidFill>
                  <a:srgbClr val="857F76"/>
                </a:solidFill>
                <a:latin typeface="Fraunces"/>
              </a:defRPr>
            </a:pPr>
            <a:r>
              <a:t>Sources: INSTM Bulletin (madrague Sidi Daoud); Mattanza (Wikipedia); harissa.com</a:t>
            </a:r>
          </a:p>
        </p:txBody>
      </p:sp>
      <p:sp>
        <p:nvSpPr>
          <p:cNvPr id="14" name="TextBox 13"/>
          <p:cNvSpPr txBox="1"/>
          <p:nvPr/>
        </p:nvSpPr>
        <p:spPr>
          <a:xfrm>
            <a:off x="10488168" y="6263640"/>
            <a:ext cx="941832" cy="274320"/>
          </a:xfrm>
          <a:prstGeom prst="rect">
            <a:avLst/>
          </a:prstGeom>
          <a:noFill/>
          <a:effectLst/>
        </p:spPr>
        <p:txBody>
          <a:bodyPr wrap="none">
            <a:spAutoFit/>
          </a:bodyPr>
          <a:lstStyle/>
          <a:p>
            <a:pPr algn="ctr">
              <a:defRPr sz="900">
                <a:solidFill>
                  <a:srgbClr val="5C5C5C"/>
                </a:solidFill>
                <a:latin typeface="Fraunces"/>
              </a:defRPr>
            </a:pPr>
            <a:r>
              <a:t>ENDANGERED</a:t>
            </a:r>
          </a:p>
        </p:txBody>
        <a:spPr>
          <a:prstGeom prst="roundRect">
            <a:avLst/>
          </a:prstGeom>
          <a:ln w="6350">
            <a:solidFill>
              <a:srgbClr val="B0A89E"/>
            </a:solidFill>
            <a:prstDash val="solid"/>
          </a:ln>
        </a:spPr>
      </p:sp>
      <p:sp>
        <p:nvSpPr>
          <p:cNvPr id="15" name="TextBox 14"/>
          <p:cNvSpPr txBox="1"/>
          <p:nvPr/>
        </p:nvSpPr>
        <p:spPr>
          <a:xfrm>
            <a:off x="9889236" y="6263640"/>
            <a:ext cx="461772" cy="274320"/>
          </a:xfrm>
          <a:prstGeom prst="rect">
            <a:avLst/>
          </a:prstGeom>
          <a:noFill/>
          <a:effectLst/>
        </p:spPr>
        <p:txBody>
          <a:bodyPr wrap="none">
            <a:spAutoFit/>
          </a:bodyPr>
          <a:lstStyle/>
          <a:p>
            <a:pPr algn="ctr">
              <a:defRPr sz="900">
                <a:solidFill>
                  <a:srgbClr val="5C5C5C"/>
                </a:solidFill>
                <a:latin typeface="Fraunces"/>
              </a:defRPr>
            </a:pPr>
            <a:r>
              <a:t>SEA</a:t>
            </a:r>
          </a:p>
        </p:txBody>
        <a:spPr>
          <a:prstGeom prst="roundRect">
            <a:avLst/>
          </a:prstGeom>
          <a:ln w="6350">
            <a:solidFill>
              <a:srgbClr val="B0A89E"/>
            </a:solidFill>
            <a:prstDash val="solid"/>
          </a:ln>
        </a:spPr>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10058400" y="365760"/>
            <a:ext cx="1828800" cy="914400"/>
          </a:xfrm>
          <a:prstGeom prst="rect">
            <a:avLst/>
          </a:prstGeom>
          <a:noFill/>
          <a:effectLst/>
        </p:spPr>
        <p:txBody>
          <a:bodyPr wrap="square">
            <a:spAutoFit/>
          </a:bodyPr>
          <a:lstStyle/>
          <a:p>
            <a:pPr algn="r">
              <a:lnSpc>
                <a:spcPts val="10200"/>
              </a:lnSpc>
              <a:defRPr sz="6400" b="0" i="0">
                <a:solidFill>
                  <a:srgbClr val="400505"/>
                </a:solidFill>
                <a:latin typeface="Baskerville"/>
              </a:defRPr>
            </a:pPr>
            <a:r>
              <a:t>09</a:t>
            </a:r>
          </a:p>
        </p:txBody>
      </p:sp>
      <p:sp>
        <p:nvSpPr>
          <p:cNvPr id="3" name="TextBox 2"/>
          <p:cNvSpPr txBox="1"/>
          <p:nvPr/>
        </p:nvSpPr>
        <p:spPr>
          <a:xfrm>
            <a:off x="731520" y="548640"/>
            <a:ext cx="45720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FOOD</a:t>
            </a:r>
          </a:p>
        </p:txBody>
      </p:sp>
      <p:sp>
        <p:nvSpPr>
          <p:cNvPr id="4" name="TextBox 3"/>
          <p:cNvSpPr txBox="1"/>
          <p:nvPr/>
        </p:nvSpPr>
        <p:spPr>
          <a:xfrm>
            <a:off x="731520" y="1463040"/>
            <a:ext cx="9144000" cy="1097280"/>
          </a:xfrm>
          <a:prstGeom prst="rect">
            <a:avLst/>
          </a:prstGeom>
          <a:noFill/>
          <a:effectLst/>
        </p:spPr>
        <p:txBody>
          <a:bodyPr wrap="square">
            <a:spAutoFit/>
          </a:bodyPr>
          <a:lstStyle/>
          <a:p>
            <a:pPr algn="l">
              <a:lnSpc>
                <a:spcPts val="6000"/>
              </a:lnSpc>
              <a:defRPr sz="3800" b="0" i="0">
                <a:solidFill>
                  <a:srgbClr val="000000"/>
                </a:solidFill>
                <a:latin typeface="Baskerville"/>
              </a:defRPr>
            </a:pPr>
            <a:r>
              <a:t>White Gold</a:t>
            </a:r>
          </a:p>
        </p:txBody>
      </p:sp>
      <p:sp>
        <p:nvSpPr>
          <p:cNvPr id="5" name="TextBox 4"/>
          <p:cNvSpPr txBox="1"/>
          <p:nvPr/>
        </p:nvSpPr>
        <p:spPr>
          <a:xfrm>
            <a:off x="731520" y="2560320"/>
            <a:ext cx="9144000" cy="731520"/>
          </a:xfrm>
          <a:prstGeom prst="rect">
            <a:avLst/>
          </a:prstGeom>
          <a:noFill/>
          <a:effectLst/>
        </p:spPr>
        <p:txBody>
          <a:bodyPr wrap="square">
            <a:spAutoFit/>
          </a:bodyPr>
          <a:lstStyle/>
          <a:p>
            <a:pPr algn="l">
              <a:lnSpc>
                <a:spcPts val="3800"/>
              </a:lnSpc>
              <a:defRPr sz="2400" b="0" i="1">
                <a:solidFill>
                  <a:srgbClr val="5C5C5C"/>
                </a:solidFill>
                <a:latin typeface="Baskerville"/>
              </a:defRPr>
            </a:pPr>
            <a:r>
              <a:t>Distilling Neroli at Nabeul</a:t>
            </a:r>
          </a:p>
        </p:txBody>
      </p:sp>
      <p:cxnSp>
        <p:nvCxnSpPr>
          <p:cNvPr id="6" name="Connector 5"/>
          <p:cNvCxnSpPr/>
          <p:nvPr/>
        </p:nvCxnSpPr>
        <p:spPr>
          <a:xfrm>
            <a:off x="731520" y="338328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THE STORY</a:t>
            </a:r>
          </a:p>
        </p:txBody>
      </p:sp>
      <p:sp>
        <p:nvSpPr>
          <p:cNvPr id="8" name="TextBox 7"/>
          <p:cNvSpPr txBox="1"/>
          <p:nvPr/>
        </p:nvSpPr>
        <p:spPr>
          <a:xfrm>
            <a:off x="731520" y="3794760"/>
            <a:ext cx="530352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Each April and May around Nabeul, families pick the bitter-orange blossom by hand before dawn, when the scent is strongest, and distil it over slow fire in copper alembics into zhar — orange-blossom water for sweets and grief and celebration — and the precious neroli oil. A million flowers make a kilogram of oil.</a:t>
            </a:r>
          </a:p>
        </p:txBody>
      </p:sp>
      <p:cxnSp>
        <p:nvCxnSpPr>
          <p:cNvPr id="9" name="Connector 8"/>
          <p:cNvCxnSpPr/>
          <p:nvPr/>
        </p:nvCxnSpPr>
        <p:spPr>
          <a:xfrm>
            <a:off x="6400800" y="3566160"/>
            <a:ext cx="0" cy="2194560"/>
          </a:xfrm>
          <a:prstGeom prst="line">
            <a:avLst/>
          </a:prstGeom>
          <a:ln w="254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OUR PROPOSAL</a:t>
            </a:r>
          </a:p>
        </p:txBody>
      </p:sp>
      <p:sp>
        <p:nvSpPr>
          <p:cNvPr id="11" name="TextBox 10"/>
          <p:cNvSpPr txBox="1"/>
          <p:nvPr/>
        </p:nvSpPr>
        <p:spPr>
          <a:xfrm>
            <a:off x="6766560" y="3794760"/>
            <a:ext cx="475488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INLAND follows one family’s blossom week — the pre-dawn picking, the qattara still, the bottling — a Mediterranean perfume-and-kitchen tradition where the whole coast smells of one tree for a fortnight a year.</a:t>
            </a:r>
          </a:p>
        </p:txBody>
      </p:sp>
      <p:sp>
        <p:nvSpPr>
          <p:cNvPr id="12" name="TextBox 11"/>
          <p:cNvSpPr txBox="1"/>
          <p:nvPr/>
        </p:nvSpPr>
        <p:spPr>
          <a:xfrm>
            <a:off x="731520" y="5989320"/>
            <a:ext cx="6583680" cy="320040"/>
          </a:xfrm>
          <a:prstGeom prst="rect">
            <a:avLst/>
          </a:prstGeom>
          <a:noFill/>
          <a:effectLst/>
        </p:spPr>
        <p:txBody>
          <a:bodyPr wrap="square">
            <a:spAutoFit/>
          </a:bodyPr>
          <a:lstStyle/>
          <a:p>
            <a:pPr algn="l">
              <a:lnSpc>
                <a:spcPts val="1600"/>
              </a:lnSpc>
              <a:defRPr sz="1000" b="0" i="0">
                <a:solidFill>
                  <a:srgbClr val="5C5C5C"/>
                </a:solidFill>
                <a:latin typeface="Fraunces"/>
              </a:defRPr>
            </a:pPr>
            <a:r>
              <a:t>Places: Nabeul · Hammamet · Cap Bon</a:t>
            </a:r>
          </a:p>
        </p:txBody>
      </p:sp>
      <p:sp>
        <p:nvSpPr>
          <p:cNvPr id="13" name="TextBox 12"/>
          <p:cNvSpPr txBox="1"/>
          <p:nvPr/>
        </p:nvSpPr>
        <p:spPr>
          <a:xfrm>
            <a:off x="731520" y="6327648"/>
            <a:ext cx="6583680" cy="274320"/>
          </a:xfrm>
          <a:prstGeom prst="rect">
            <a:avLst/>
          </a:prstGeom>
          <a:noFill/>
          <a:effectLst/>
        </p:spPr>
        <p:txBody>
          <a:bodyPr wrap="square">
            <a:spAutoFit/>
          </a:bodyPr>
          <a:lstStyle/>
          <a:p>
            <a:pPr algn="l">
              <a:lnSpc>
                <a:spcPts val="1400"/>
              </a:lnSpc>
              <a:defRPr sz="900" b="0" i="0">
                <a:solidFill>
                  <a:srgbClr val="857F76"/>
                </a:solidFill>
                <a:latin typeface="Fraunces"/>
              </a:defRPr>
            </a:pPr>
            <a:r>
              <a:t>Sources: Africanews (Nabeul orange blossom); Middle East Eye; Biolandes</a:t>
            </a:r>
          </a:p>
        </p:txBody>
      </p:sp>
      <p:sp>
        <p:nvSpPr>
          <p:cNvPr id="14" name="TextBox 13"/>
          <p:cNvSpPr txBox="1"/>
          <p:nvPr/>
        </p:nvSpPr>
        <p:spPr>
          <a:xfrm>
            <a:off x="10762488" y="6263640"/>
            <a:ext cx="667512" cy="274320"/>
          </a:xfrm>
          <a:prstGeom prst="rect">
            <a:avLst/>
          </a:prstGeom>
          <a:noFill/>
          <a:effectLst/>
        </p:spPr>
        <p:txBody>
          <a:bodyPr wrap="none">
            <a:spAutoFit/>
          </a:bodyPr>
          <a:lstStyle/>
          <a:p>
            <a:pPr algn="ctr">
              <a:defRPr sz="900">
                <a:solidFill>
                  <a:srgbClr val="5C5C5C"/>
                </a:solidFill>
                <a:latin typeface="Fraunces"/>
              </a:defRPr>
            </a:pPr>
            <a:r>
              <a:t>SEASON</a:t>
            </a:r>
          </a:p>
        </p:txBody>
        <a:spPr>
          <a:prstGeom prst="roundRect">
            <a:avLst/>
          </a:prstGeom>
          <a:ln w="6350">
            <a:solidFill>
              <a:srgbClr val="B0A89E"/>
            </a:solidFill>
            <a:prstDash val="solid"/>
          </a:ln>
        </a:spPr>
      </p:sp>
      <p:sp>
        <p:nvSpPr>
          <p:cNvPr id="15" name="TextBox 14"/>
          <p:cNvSpPr txBox="1"/>
          <p:nvPr/>
        </p:nvSpPr>
        <p:spPr>
          <a:xfrm>
            <a:off x="9546336" y="6263640"/>
            <a:ext cx="1078992" cy="274320"/>
          </a:xfrm>
          <a:prstGeom prst="rect">
            <a:avLst/>
          </a:prstGeom>
          <a:noFill/>
          <a:effectLst/>
        </p:spPr>
        <p:txBody>
          <a:bodyPr wrap="none">
            <a:spAutoFit/>
          </a:bodyPr>
          <a:lstStyle/>
          <a:p>
            <a:pPr algn="ctr">
              <a:defRPr sz="900">
                <a:solidFill>
                  <a:srgbClr val="5C5C5C"/>
                </a:solidFill>
                <a:latin typeface="Fraunces"/>
              </a:defRPr>
            </a:pPr>
            <a:r>
              <a:t>DISTILLATION</a:t>
            </a:r>
          </a:p>
        </p:txBody>
        <a:spPr>
          <a:prstGeom prst="roundRect">
            <a:avLst/>
          </a:prstGeom>
          <a:ln w="6350">
            <a:solidFill>
              <a:srgbClr val="B0A89E"/>
            </a:solidFill>
            <a:prstDash val="solid"/>
          </a:ln>
        </a:spPr>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10058400" y="365760"/>
            <a:ext cx="1828800" cy="914400"/>
          </a:xfrm>
          <a:prstGeom prst="rect">
            <a:avLst/>
          </a:prstGeom>
          <a:noFill/>
          <a:effectLst/>
        </p:spPr>
        <p:txBody>
          <a:bodyPr wrap="square">
            <a:spAutoFit/>
          </a:bodyPr>
          <a:lstStyle/>
          <a:p>
            <a:pPr algn="r">
              <a:lnSpc>
                <a:spcPts val="10200"/>
              </a:lnSpc>
              <a:defRPr sz="6400" b="0" i="0">
                <a:solidFill>
                  <a:srgbClr val="400505"/>
                </a:solidFill>
                <a:latin typeface="Baskerville"/>
              </a:defRPr>
            </a:pPr>
            <a:r>
              <a:t>10</a:t>
            </a:r>
          </a:p>
        </p:txBody>
      </p:sp>
      <p:sp>
        <p:nvSpPr>
          <p:cNvPr id="3" name="TextBox 2"/>
          <p:cNvSpPr txBox="1"/>
          <p:nvPr/>
        </p:nvSpPr>
        <p:spPr>
          <a:xfrm>
            <a:off x="731520" y="548640"/>
            <a:ext cx="45720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ARTS &amp; CULTURE</a:t>
            </a:r>
          </a:p>
        </p:txBody>
      </p:sp>
      <p:sp>
        <p:nvSpPr>
          <p:cNvPr id="4" name="TextBox 3"/>
          <p:cNvSpPr txBox="1"/>
          <p:nvPr/>
        </p:nvSpPr>
        <p:spPr>
          <a:xfrm>
            <a:off x="731520" y="1463040"/>
            <a:ext cx="9144000" cy="1097280"/>
          </a:xfrm>
          <a:prstGeom prst="rect">
            <a:avLst/>
          </a:prstGeom>
          <a:noFill/>
          <a:effectLst/>
        </p:spPr>
        <p:txBody>
          <a:bodyPr wrap="square">
            <a:spAutoFit/>
          </a:bodyPr>
          <a:lstStyle/>
          <a:p>
            <a:pPr algn="l">
              <a:lnSpc>
                <a:spcPts val="6000"/>
              </a:lnSpc>
              <a:defRPr sz="3800" b="0" i="0">
                <a:solidFill>
                  <a:srgbClr val="000000"/>
                </a:solidFill>
                <a:latin typeface="Baskerville"/>
              </a:defRPr>
            </a:pPr>
            <a:r>
              <a:t>The Gold-Threaded Loom</a:t>
            </a:r>
          </a:p>
        </p:txBody>
      </p:sp>
      <p:sp>
        <p:nvSpPr>
          <p:cNvPr id="5" name="TextBox 4"/>
          <p:cNvSpPr txBox="1"/>
          <p:nvPr/>
        </p:nvSpPr>
        <p:spPr>
          <a:xfrm>
            <a:off x="731520" y="2560320"/>
            <a:ext cx="9144000" cy="731520"/>
          </a:xfrm>
          <a:prstGeom prst="rect">
            <a:avLst/>
          </a:prstGeom>
          <a:noFill/>
          <a:effectLst/>
        </p:spPr>
        <p:txBody>
          <a:bodyPr wrap="square">
            <a:spAutoFit/>
          </a:bodyPr>
          <a:lstStyle/>
          <a:p>
            <a:pPr algn="l">
              <a:lnSpc>
                <a:spcPts val="3800"/>
              </a:lnSpc>
              <a:defRPr sz="2400" b="0" i="1">
                <a:solidFill>
                  <a:srgbClr val="5C5C5C"/>
                </a:solidFill>
                <a:latin typeface="Baskerville"/>
              </a:defRPr>
            </a:pPr>
            <a:r>
              <a:t>Wedding Silk of Mahdia</a:t>
            </a:r>
          </a:p>
        </p:txBody>
      </p:sp>
      <p:cxnSp>
        <p:nvCxnSpPr>
          <p:cNvPr id="6" name="Connector 5"/>
          <p:cNvCxnSpPr/>
          <p:nvPr/>
        </p:nvCxnSpPr>
        <p:spPr>
          <a:xfrm>
            <a:off x="731520" y="338328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THE STORY</a:t>
            </a:r>
          </a:p>
        </p:txBody>
      </p:sp>
      <p:sp>
        <p:nvSpPr>
          <p:cNvPr id="8" name="TextBox 7"/>
          <p:cNvSpPr txBox="1"/>
          <p:nvPr/>
        </p:nvSpPr>
        <p:spPr>
          <a:xfrm>
            <a:off x="731520" y="3794760"/>
            <a:ext cx="530352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 the sea-walled medina of Mahdia, weavers still work tall draw-looms — a technology that came across the Mediterranean from Iberia — to make narrow silk strips threaded with gold and silver for the keswa el-kbira, the layered wedding dress that tells a Sahel woman’s married status. The craft was brought by Jewish artisans.</a:t>
            </a:r>
          </a:p>
        </p:txBody>
      </p:sp>
      <p:cxnSp>
        <p:nvCxnSpPr>
          <p:cNvPr id="9" name="Connector 8"/>
          <p:cNvCxnSpPr/>
          <p:nvPr/>
        </p:nvCxnSpPr>
        <p:spPr>
          <a:xfrm>
            <a:off x="6400800" y="3566160"/>
            <a:ext cx="0" cy="2194560"/>
          </a:xfrm>
          <a:prstGeom prst="line">
            <a:avLst/>
          </a:prstGeom>
          <a:ln w="254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OUR PROPOSAL</a:t>
            </a:r>
          </a:p>
        </p:txBody>
      </p:sp>
      <p:sp>
        <p:nvSpPr>
          <p:cNvPr id="11" name="TextBox 10"/>
          <p:cNvSpPr txBox="1"/>
          <p:nvPr/>
        </p:nvSpPr>
        <p:spPr>
          <a:xfrm>
            <a:off x="6766560" y="3794760"/>
            <a:ext cx="475488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INLAND portraits a master weaver and a bride’s family through the making and wearing of a gold-silk keswa — the loom, the shuttle, the dressing — a coastal textile tradition where a wedding is still woven by hand.</a:t>
            </a:r>
          </a:p>
        </p:txBody>
      </p:sp>
      <p:sp>
        <p:nvSpPr>
          <p:cNvPr id="12" name="TextBox 11"/>
          <p:cNvSpPr txBox="1"/>
          <p:nvPr/>
        </p:nvSpPr>
        <p:spPr>
          <a:xfrm>
            <a:off x="731520" y="5989320"/>
            <a:ext cx="6583680" cy="320040"/>
          </a:xfrm>
          <a:prstGeom prst="rect">
            <a:avLst/>
          </a:prstGeom>
          <a:noFill/>
          <a:effectLst/>
        </p:spPr>
        <p:txBody>
          <a:bodyPr wrap="square">
            <a:spAutoFit/>
          </a:bodyPr>
          <a:lstStyle/>
          <a:p>
            <a:pPr algn="l">
              <a:lnSpc>
                <a:spcPts val="1600"/>
              </a:lnSpc>
              <a:defRPr sz="1000" b="0" i="0">
                <a:solidFill>
                  <a:srgbClr val="5C5C5C"/>
                </a:solidFill>
                <a:latin typeface="Fraunces"/>
              </a:defRPr>
            </a:pPr>
            <a:r>
              <a:t>Places: Mahdia · the Sahel coast</a:t>
            </a:r>
          </a:p>
        </p:txBody>
      </p:sp>
      <p:sp>
        <p:nvSpPr>
          <p:cNvPr id="13" name="TextBox 12"/>
          <p:cNvSpPr txBox="1"/>
          <p:nvPr/>
        </p:nvSpPr>
        <p:spPr>
          <a:xfrm>
            <a:off x="731520" y="6327648"/>
            <a:ext cx="6583680" cy="274320"/>
          </a:xfrm>
          <a:prstGeom prst="rect">
            <a:avLst/>
          </a:prstGeom>
          <a:noFill/>
          <a:effectLst/>
        </p:spPr>
        <p:txBody>
          <a:bodyPr wrap="square">
            <a:spAutoFit/>
          </a:bodyPr>
          <a:lstStyle/>
          <a:p>
            <a:pPr algn="l">
              <a:lnSpc>
                <a:spcPts val="1400"/>
              </a:lnSpc>
              <a:defRPr sz="900" b="0" i="0">
                <a:solidFill>
                  <a:srgbClr val="857F76"/>
                </a:solidFill>
                <a:latin typeface="Fraunces"/>
              </a:defRPr>
            </a:pPr>
            <a:r>
              <a:t>Sources: Carthage Magazine (Tunisian wedding); Discover Tunisia; shirahime.ch</a:t>
            </a:r>
          </a:p>
        </p:txBody>
      </p:sp>
      <p:sp>
        <p:nvSpPr>
          <p:cNvPr id="14" name="TextBox 13"/>
          <p:cNvSpPr txBox="1"/>
          <p:nvPr/>
        </p:nvSpPr>
        <p:spPr>
          <a:xfrm>
            <a:off x="10831068" y="6263640"/>
            <a:ext cx="598932" cy="274320"/>
          </a:xfrm>
          <a:prstGeom prst="rect">
            <a:avLst/>
          </a:prstGeom>
          <a:noFill/>
          <a:effectLst/>
        </p:spPr>
        <p:txBody>
          <a:bodyPr wrap="none">
            <a:spAutoFit/>
          </a:bodyPr>
          <a:lstStyle/>
          <a:p>
            <a:pPr algn="ctr">
              <a:defRPr sz="900">
                <a:solidFill>
                  <a:srgbClr val="5C5C5C"/>
                </a:solidFill>
                <a:latin typeface="Fraunces"/>
              </a:defRPr>
            </a:pPr>
            <a:r>
              <a:t>WOMEN</a:t>
            </a:r>
          </a:p>
        </p:txBody>
        <a:spPr>
          <a:prstGeom prst="roundRect">
            <a:avLst/>
          </a:prstGeom>
          <a:ln w="6350">
            <a:solidFill>
              <a:srgbClr val="B0A89E"/>
            </a:solidFill>
            <a:prstDash val="solid"/>
          </a:ln>
        </a:spPr>
      </p:sp>
      <p:sp>
        <p:nvSpPr>
          <p:cNvPr id="15" name="TextBox 14"/>
          <p:cNvSpPr txBox="1"/>
          <p:nvPr/>
        </p:nvSpPr>
        <p:spPr>
          <a:xfrm>
            <a:off x="9957816" y="6263640"/>
            <a:ext cx="736092" cy="274320"/>
          </a:xfrm>
          <a:prstGeom prst="rect">
            <a:avLst/>
          </a:prstGeom>
          <a:noFill/>
          <a:effectLst/>
        </p:spPr>
        <p:txBody>
          <a:bodyPr wrap="none">
            <a:spAutoFit/>
          </a:bodyPr>
          <a:lstStyle/>
          <a:p>
            <a:pPr algn="ctr">
              <a:defRPr sz="900">
                <a:solidFill>
                  <a:srgbClr val="5C5C5C"/>
                </a:solidFill>
                <a:latin typeface="Fraunces"/>
              </a:defRPr>
            </a:pPr>
            <a:r>
              <a:t>WEAVING</a:t>
            </a:r>
          </a:p>
        </p:txBody>
        <a:spPr>
          <a:prstGeom prst="roundRect">
            <a:avLst/>
          </a:prstGeom>
          <a:ln w="6350">
            <a:solidFill>
              <a:srgbClr val="B0A89E"/>
            </a:solidFill>
            <a:prstDash val="solid"/>
          </a:ln>
        </a:spPr>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10058400" y="365760"/>
            <a:ext cx="1828800" cy="914400"/>
          </a:xfrm>
          <a:prstGeom prst="rect">
            <a:avLst/>
          </a:prstGeom>
          <a:noFill/>
          <a:effectLst/>
        </p:spPr>
        <p:txBody>
          <a:bodyPr wrap="square">
            <a:spAutoFit/>
          </a:bodyPr>
          <a:lstStyle/>
          <a:p>
            <a:pPr algn="r">
              <a:lnSpc>
                <a:spcPts val="10200"/>
              </a:lnSpc>
              <a:defRPr sz="6400" b="0" i="0">
                <a:solidFill>
                  <a:srgbClr val="400505"/>
                </a:solidFill>
                <a:latin typeface="Baskerville"/>
              </a:defRPr>
            </a:pPr>
            <a:r>
              <a:t>11</a:t>
            </a:r>
          </a:p>
        </p:txBody>
      </p:sp>
      <p:sp>
        <p:nvSpPr>
          <p:cNvPr id="3" name="TextBox 2"/>
          <p:cNvSpPr txBox="1"/>
          <p:nvPr/>
        </p:nvSpPr>
        <p:spPr>
          <a:xfrm>
            <a:off x="731520" y="548640"/>
            <a:ext cx="45720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HISTORY</a:t>
            </a:r>
          </a:p>
        </p:txBody>
      </p:sp>
      <p:sp>
        <p:nvSpPr>
          <p:cNvPr id="4" name="TextBox 3"/>
          <p:cNvSpPr txBox="1"/>
          <p:nvPr/>
        </p:nvSpPr>
        <p:spPr>
          <a:xfrm>
            <a:off x="731520" y="1463040"/>
            <a:ext cx="9144000" cy="1097280"/>
          </a:xfrm>
          <a:prstGeom prst="rect">
            <a:avLst/>
          </a:prstGeom>
          <a:noFill/>
          <a:effectLst/>
        </p:spPr>
        <p:txBody>
          <a:bodyPr wrap="square">
            <a:spAutoFit/>
          </a:bodyPr>
          <a:lstStyle/>
          <a:p>
            <a:pPr algn="l">
              <a:lnSpc>
                <a:spcPts val="6000"/>
              </a:lnSpc>
              <a:defRPr sz="3800" b="0" i="0">
                <a:solidFill>
                  <a:srgbClr val="000000"/>
                </a:solidFill>
                <a:latin typeface="Baskerville"/>
              </a:defRPr>
            </a:pPr>
            <a:r>
              <a:t>The Knot and the Sweet</a:t>
            </a:r>
          </a:p>
        </p:txBody>
      </p:sp>
      <p:sp>
        <p:nvSpPr>
          <p:cNvPr id="5" name="TextBox 4"/>
          <p:cNvSpPr txBox="1"/>
          <p:nvPr/>
        </p:nvSpPr>
        <p:spPr>
          <a:xfrm>
            <a:off x="731520" y="2560320"/>
            <a:ext cx="9144000" cy="731520"/>
          </a:xfrm>
          <a:prstGeom prst="rect">
            <a:avLst/>
          </a:prstGeom>
          <a:noFill/>
          <a:effectLst/>
        </p:spPr>
        <p:txBody>
          <a:bodyPr wrap="square">
            <a:spAutoFit/>
          </a:bodyPr>
          <a:lstStyle/>
          <a:p>
            <a:pPr algn="l">
              <a:lnSpc>
                <a:spcPts val="3800"/>
              </a:lnSpc>
              <a:defRPr sz="2400" b="0" i="1">
                <a:solidFill>
                  <a:srgbClr val="5C5C5C"/>
                </a:solidFill>
                <a:latin typeface="Baskerville"/>
              </a:defRPr>
            </a:pPr>
            <a:r>
              <a:t>The Holy City’s Carpets</a:t>
            </a:r>
          </a:p>
        </p:txBody>
      </p:sp>
      <p:cxnSp>
        <p:nvCxnSpPr>
          <p:cNvPr id="6" name="Connector 5"/>
          <p:cNvCxnSpPr/>
          <p:nvPr/>
        </p:nvCxnSpPr>
        <p:spPr>
          <a:xfrm>
            <a:off x="731520" y="338328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THE STORY</a:t>
            </a:r>
          </a:p>
        </p:txBody>
      </p:sp>
      <p:sp>
        <p:nvSpPr>
          <p:cNvPr id="8" name="TextBox 7"/>
          <p:cNvSpPr txBox="1"/>
          <p:nvPr/>
        </p:nvSpPr>
        <p:spPr>
          <a:xfrm>
            <a:off x="731520" y="3794760"/>
            <a:ext cx="530352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Kairouan, Islam’s fourth holy city and its first in Africa, is also Tunisia’s carpet capital, where women knot the zerbia — hundreds of thousands of knots a square metre — in workshops around the Great Mosque, and bake the date-and-semolina makroudh the city claims as its own. Both loom and oven are pressed by cheaper imports.</a:t>
            </a:r>
          </a:p>
        </p:txBody>
      </p:sp>
      <p:cxnSp>
        <p:nvCxnSpPr>
          <p:cNvPr id="9" name="Connector 8"/>
          <p:cNvCxnSpPr/>
          <p:nvPr/>
        </p:nvCxnSpPr>
        <p:spPr>
          <a:xfrm>
            <a:off x="6400800" y="3566160"/>
            <a:ext cx="0" cy="2194560"/>
          </a:xfrm>
          <a:prstGeom prst="line">
            <a:avLst/>
          </a:prstGeom>
          <a:ln w="254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OUR PROPOSAL</a:t>
            </a:r>
          </a:p>
        </p:txBody>
      </p:sp>
      <p:sp>
        <p:nvSpPr>
          <p:cNvPr id="11" name="TextBox 10"/>
          <p:cNvSpPr txBox="1"/>
          <p:nvPr/>
        </p:nvSpPr>
        <p:spPr>
          <a:xfrm>
            <a:off x="6766560" y="3794760"/>
            <a:ext cx="475488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INLAND works the medina with one weaving family and one makroudh house — the dyed wool, the knotting frame, the honeyed pastry — documenting the holy city through the women’s hands that keep its two famous crafts.</a:t>
            </a:r>
          </a:p>
        </p:txBody>
      </p:sp>
      <p:sp>
        <p:nvSpPr>
          <p:cNvPr id="12" name="TextBox 11"/>
          <p:cNvSpPr txBox="1"/>
          <p:nvPr/>
        </p:nvSpPr>
        <p:spPr>
          <a:xfrm>
            <a:off x="731520" y="5989320"/>
            <a:ext cx="6583680" cy="320040"/>
          </a:xfrm>
          <a:prstGeom prst="rect">
            <a:avLst/>
          </a:prstGeom>
          <a:noFill/>
          <a:effectLst/>
        </p:spPr>
        <p:txBody>
          <a:bodyPr wrap="square">
            <a:spAutoFit/>
          </a:bodyPr>
          <a:lstStyle/>
          <a:p>
            <a:pPr algn="l">
              <a:lnSpc>
                <a:spcPts val="1600"/>
              </a:lnSpc>
              <a:defRPr sz="1000" b="0" i="0">
                <a:solidFill>
                  <a:srgbClr val="5C5C5C"/>
                </a:solidFill>
                <a:latin typeface="Fraunces"/>
              </a:defRPr>
            </a:pPr>
            <a:r>
              <a:t>Places: Kairouan · the Medina</a:t>
            </a:r>
          </a:p>
        </p:txBody>
      </p:sp>
      <p:sp>
        <p:nvSpPr>
          <p:cNvPr id="13" name="TextBox 12"/>
          <p:cNvSpPr txBox="1"/>
          <p:nvPr/>
        </p:nvSpPr>
        <p:spPr>
          <a:xfrm>
            <a:off x="731520" y="6327648"/>
            <a:ext cx="6583680" cy="274320"/>
          </a:xfrm>
          <a:prstGeom prst="rect">
            <a:avLst/>
          </a:prstGeom>
          <a:noFill/>
          <a:effectLst/>
        </p:spPr>
        <p:txBody>
          <a:bodyPr wrap="square">
            <a:spAutoFit/>
          </a:bodyPr>
          <a:lstStyle/>
          <a:p>
            <a:pPr algn="l">
              <a:lnSpc>
                <a:spcPts val="1400"/>
              </a:lnSpc>
              <a:defRPr sz="900" b="0" i="0">
                <a:solidFill>
                  <a:srgbClr val="857F76"/>
                </a:solidFill>
                <a:latin typeface="Fraunces"/>
              </a:defRPr>
            </a:pPr>
            <a:r>
              <a:t>Sources: Discover Tunisia (weaving &amp; carpets); Folk Culture (Kairouan carpet); WildyNess</a:t>
            </a:r>
          </a:p>
        </p:txBody>
      </p:sp>
      <p:sp>
        <p:nvSpPr>
          <p:cNvPr id="14" name="TextBox 13"/>
          <p:cNvSpPr txBox="1"/>
          <p:nvPr/>
        </p:nvSpPr>
        <p:spPr>
          <a:xfrm>
            <a:off x="10556748" y="6263640"/>
            <a:ext cx="873252" cy="274320"/>
          </a:xfrm>
          <a:prstGeom prst="rect">
            <a:avLst/>
          </a:prstGeom>
          <a:noFill/>
          <a:effectLst/>
        </p:spPr>
        <p:txBody>
          <a:bodyPr wrap="none">
            <a:spAutoFit/>
          </a:bodyPr>
          <a:lstStyle/>
          <a:p>
            <a:pPr algn="ctr">
              <a:defRPr sz="900">
                <a:solidFill>
                  <a:srgbClr val="5C5C5C"/>
                </a:solidFill>
                <a:latin typeface="Fraunces"/>
              </a:defRPr>
            </a:pPr>
            <a:r>
              <a:t>HOLY CITY</a:t>
            </a:r>
          </a:p>
        </p:txBody>
        <a:spPr>
          <a:prstGeom prst="roundRect">
            <a:avLst/>
          </a:prstGeom>
          <a:ln w="6350">
            <a:solidFill>
              <a:srgbClr val="B0A89E"/>
            </a:solidFill>
            <a:prstDash val="solid"/>
          </a:ln>
        </a:spPr>
      </p:sp>
      <p:sp>
        <p:nvSpPr>
          <p:cNvPr id="15" name="TextBox 14"/>
          <p:cNvSpPr txBox="1"/>
          <p:nvPr/>
        </p:nvSpPr>
        <p:spPr>
          <a:xfrm>
            <a:off x="9683496" y="6263640"/>
            <a:ext cx="736092" cy="274320"/>
          </a:xfrm>
          <a:prstGeom prst="rect">
            <a:avLst/>
          </a:prstGeom>
          <a:noFill/>
          <a:effectLst/>
        </p:spPr>
        <p:txBody>
          <a:bodyPr wrap="none">
            <a:spAutoFit/>
          </a:bodyPr>
          <a:lstStyle/>
          <a:p>
            <a:pPr algn="ctr">
              <a:defRPr sz="900">
                <a:solidFill>
                  <a:srgbClr val="5C5C5C"/>
                </a:solidFill>
                <a:latin typeface="Fraunces"/>
              </a:defRPr>
            </a:pPr>
            <a:r>
              <a:t>CARPETS</a:t>
            </a:r>
          </a:p>
        </p:txBody>
        <a:spPr>
          <a:prstGeom prst="roundRect">
            <a:avLst/>
          </a:prstGeom>
          <a:ln w="6350">
            <a:solidFill>
              <a:srgbClr val="B0A89E"/>
            </a:solidFill>
            <a:prstDash val="solid"/>
          </a:ln>
        </a:spPr>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10058400" y="365760"/>
            <a:ext cx="1828800" cy="914400"/>
          </a:xfrm>
          <a:prstGeom prst="rect">
            <a:avLst/>
          </a:prstGeom>
          <a:noFill/>
          <a:effectLst/>
        </p:spPr>
        <p:txBody>
          <a:bodyPr wrap="square">
            <a:spAutoFit/>
          </a:bodyPr>
          <a:lstStyle/>
          <a:p>
            <a:pPr algn="r">
              <a:lnSpc>
                <a:spcPts val="10200"/>
              </a:lnSpc>
              <a:defRPr sz="6400" b="0" i="0">
                <a:solidFill>
                  <a:srgbClr val="400505"/>
                </a:solidFill>
                <a:latin typeface="Baskerville"/>
              </a:defRPr>
            </a:pPr>
            <a:r>
              <a:t>12</a:t>
            </a:r>
          </a:p>
        </p:txBody>
      </p:sp>
      <p:sp>
        <p:nvSpPr>
          <p:cNvPr id="3" name="TextBox 2"/>
          <p:cNvSpPr txBox="1"/>
          <p:nvPr/>
        </p:nvSpPr>
        <p:spPr>
          <a:xfrm>
            <a:off x="731520" y="548640"/>
            <a:ext cx="45720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LOCAL COMMUNITIES</a:t>
            </a:r>
          </a:p>
        </p:txBody>
      </p:sp>
      <p:sp>
        <p:nvSpPr>
          <p:cNvPr id="4" name="TextBox 3"/>
          <p:cNvSpPr txBox="1"/>
          <p:nvPr/>
        </p:nvSpPr>
        <p:spPr>
          <a:xfrm>
            <a:off x="731520" y="1463040"/>
            <a:ext cx="9144000" cy="1097280"/>
          </a:xfrm>
          <a:prstGeom prst="rect">
            <a:avLst/>
          </a:prstGeom>
          <a:noFill/>
          <a:effectLst/>
        </p:spPr>
        <p:txBody>
          <a:bodyPr wrap="square">
            <a:spAutoFit/>
          </a:bodyPr>
          <a:lstStyle/>
          <a:p>
            <a:pPr algn="l">
              <a:lnSpc>
                <a:spcPts val="6000"/>
              </a:lnSpc>
              <a:defRPr sz="3800" b="0" i="0">
                <a:solidFill>
                  <a:srgbClr val="000000"/>
                </a:solidFill>
                <a:latin typeface="Baskerville"/>
              </a:defRPr>
            </a:pPr>
            <a:r>
              <a:t>The Green Mountain</a:t>
            </a:r>
          </a:p>
        </p:txBody>
      </p:sp>
      <p:sp>
        <p:nvSpPr>
          <p:cNvPr id="5" name="TextBox 4"/>
          <p:cNvSpPr txBox="1"/>
          <p:nvPr/>
        </p:nvSpPr>
        <p:spPr>
          <a:xfrm>
            <a:off x="731520" y="2560320"/>
            <a:ext cx="9144000" cy="731520"/>
          </a:xfrm>
          <a:prstGeom prst="rect">
            <a:avLst/>
          </a:prstGeom>
          <a:noFill/>
          <a:effectLst/>
        </p:spPr>
        <p:txBody>
          <a:bodyPr wrap="square">
            <a:spAutoFit/>
          </a:bodyPr>
          <a:lstStyle/>
          <a:p>
            <a:pPr algn="l">
              <a:lnSpc>
                <a:spcPts val="3800"/>
              </a:lnSpc>
              <a:defRPr sz="2400" b="0" i="1">
                <a:solidFill>
                  <a:srgbClr val="5C5C5C"/>
                </a:solidFill>
                <a:latin typeface="Baskerville"/>
              </a:defRPr>
            </a:pPr>
            <a:r>
              <a:t>Cork Oak and the Khroumir</a:t>
            </a:r>
          </a:p>
        </p:txBody>
      </p:sp>
      <p:cxnSp>
        <p:nvCxnSpPr>
          <p:cNvPr id="6" name="Connector 5"/>
          <p:cNvCxnSpPr/>
          <p:nvPr/>
        </p:nvCxnSpPr>
        <p:spPr>
          <a:xfrm>
            <a:off x="731520" y="338328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THE STORY</a:t>
            </a:r>
          </a:p>
        </p:txBody>
      </p:sp>
      <p:sp>
        <p:nvSpPr>
          <p:cNvPr id="8" name="TextBox 7"/>
          <p:cNvSpPr txBox="1"/>
          <p:nvPr/>
        </p:nvSpPr>
        <p:spPr>
          <a:xfrm>
            <a:off x="731520" y="3794760"/>
            <a:ext cx="530352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 the Kroumirie range above Tabarka, where it snows in winter and the cork-oak forest is unlike anywhere else in Tunisia, the Khroumir mountain people harvest cork on its long bark-cycle, herd and gather among the trees, and keep a green, wet, half-forgotten north that contradicts the country’s Saharan image.</a:t>
            </a:r>
          </a:p>
        </p:txBody>
      </p:sp>
      <p:cxnSp>
        <p:nvCxnSpPr>
          <p:cNvPr id="9" name="Connector 8"/>
          <p:cNvCxnSpPr/>
          <p:nvPr/>
        </p:nvCxnSpPr>
        <p:spPr>
          <a:xfrm>
            <a:off x="6400800" y="3566160"/>
            <a:ext cx="0" cy="2194560"/>
          </a:xfrm>
          <a:prstGeom prst="line">
            <a:avLst/>
          </a:prstGeom>
          <a:ln w="254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OUR PROPOSAL</a:t>
            </a:r>
          </a:p>
        </p:txBody>
      </p:sp>
      <p:sp>
        <p:nvSpPr>
          <p:cNvPr id="11" name="TextBox 10"/>
          <p:cNvSpPr txBox="1"/>
          <p:nvPr/>
        </p:nvSpPr>
        <p:spPr>
          <a:xfrm>
            <a:off x="6766560" y="3794760"/>
            <a:ext cx="475488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INLAND follows a cork-harvesting family through a summer stripping season and the forest year — the orange-stripped trunks, the herding, the highland village — documenting the Mediterranean Tunisia of oak and rain rather than palm and dune.</a:t>
            </a:r>
          </a:p>
        </p:txBody>
      </p:sp>
      <p:sp>
        <p:nvSpPr>
          <p:cNvPr id="12" name="TextBox 11"/>
          <p:cNvSpPr txBox="1"/>
          <p:nvPr/>
        </p:nvSpPr>
        <p:spPr>
          <a:xfrm>
            <a:off x="731520" y="5989320"/>
            <a:ext cx="6583680" cy="320040"/>
          </a:xfrm>
          <a:prstGeom prst="rect">
            <a:avLst/>
          </a:prstGeom>
          <a:noFill/>
          <a:effectLst/>
        </p:spPr>
        <p:txBody>
          <a:bodyPr wrap="square">
            <a:spAutoFit/>
          </a:bodyPr>
          <a:lstStyle/>
          <a:p>
            <a:pPr algn="l">
              <a:lnSpc>
                <a:spcPts val="1600"/>
              </a:lnSpc>
              <a:defRPr sz="1000" b="0" i="0">
                <a:solidFill>
                  <a:srgbClr val="5C5C5C"/>
                </a:solidFill>
                <a:latin typeface="Fraunces"/>
              </a:defRPr>
            </a:pPr>
            <a:r>
              <a:t>Places: Aïn Draham · Kroumirie · Tabarka</a:t>
            </a:r>
          </a:p>
        </p:txBody>
      </p:sp>
      <p:sp>
        <p:nvSpPr>
          <p:cNvPr id="13" name="TextBox 12"/>
          <p:cNvSpPr txBox="1"/>
          <p:nvPr/>
        </p:nvSpPr>
        <p:spPr>
          <a:xfrm>
            <a:off x="731520" y="6327648"/>
            <a:ext cx="6583680" cy="274320"/>
          </a:xfrm>
          <a:prstGeom prst="rect">
            <a:avLst/>
          </a:prstGeom>
          <a:noFill/>
          <a:effectLst/>
        </p:spPr>
        <p:txBody>
          <a:bodyPr wrap="square">
            <a:spAutoFit/>
          </a:bodyPr>
          <a:lstStyle/>
          <a:p>
            <a:pPr algn="l">
              <a:lnSpc>
                <a:spcPts val="1400"/>
              </a:lnSpc>
              <a:defRPr sz="900" b="0" i="0">
                <a:solidFill>
                  <a:srgbClr val="857F76"/>
                </a:solidFill>
                <a:latin typeface="Fraunces"/>
              </a:defRPr>
            </a:pPr>
            <a:r>
              <a:t>Sources: Carthage Magazine (Aïn Draham); Tunisi.info (Kroumirie); Take Your Backpack</a:t>
            </a:r>
          </a:p>
        </p:txBody>
      </p:sp>
      <p:sp>
        <p:nvSpPr>
          <p:cNvPr id="14" name="TextBox 13"/>
          <p:cNvSpPr txBox="1"/>
          <p:nvPr/>
        </p:nvSpPr>
        <p:spPr>
          <a:xfrm>
            <a:off x="10899648" y="6263640"/>
            <a:ext cx="530352" cy="274320"/>
          </a:xfrm>
          <a:prstGeom prst="rect">
            <a:avLst/>
          </a:prstGeom>
          <a:noFill/>
          <a:effectLst/>
        </p:spPr>
        <p:txBody>
          <a:bodyPr wrap="none">
            <a:spAutoFit/>
          </a:bodyPr>
          <a:lstStyle/>
          <a:p>
            <a:pPr algn="ctr">
              <a:defRPr sz="900">
                <a:solidFill>
                  <a:srgbClr val="5C5C5C"/>
                </a:solidFill>
                <a:latin typeface="Fraunces"/>
              </a:defRPr>
            </a:pPr>
            <a:r>
              <a:t>CORK</a:t>
            </a:r>
          </a:p>
        </p:txBody>
        <a:spPr>
          <a:prstGeom prst="roundRect">
            <a:avLst/>
          </a:prstGeom>
          <a:ln w="6350">
            <a:solidFill>
              <a:srgbClr val="B0A89E"/>
            </a:solidFill>
            <a:prstDash val="solid"/>
          </a:ln>
        </a:spPr>
      </p:sp>
      <p:sp>
        <p:nvSpPr>
          <p:cNvPr id="15" name="TextBox 14"/>
          <p:cNvSpPr txBox="1"/>
          <p:nvPr/>
        </p:nvSpPr>
        <p:spPr>
          <a:xfrm>
            <a:off x="10094976" y="6263640"/>
            <a:ext cx="667512" cy="274320"/>
          </a:xfrm>
          <a:prstGeom prst="rect">
            <a:avLst/>
          </a:prstGeom>
          <a:noFill/>
          <a:effectLst/>
        </p:spPr>
        <p:txBody>
          <a:bodyPr wrap="none">
            <a:spAutoFit/>
          </a:bodyPr>
          <a:lstStyle/>
          <a:p>
            <a:pPr algn="ctr">
              <a:defRPr sz="900">
                <a:solidFill>
                  <a:srgbClr val="5C5C5C"/>
                </a:solidFill>
                <a:latin typeface="Fraunces"/>
              </a:defRPr>
            </a:pPr>
            <a:r>
              <a:t>FOREST</a:t>
            </a:r>
          </a:p>
        </p:txBody>
        <a:spPr>
          <a:prstGeom prst="roundRect">
            <a:avLst/>
          </a:prstGeom>
          <a:ln w="6350">
            <a:solidFill>
              <a:srgbClr val="B0A89E"/>
            </a:solidFill>
            <a:prstDash val="solid"/>
          </a:ln>
        </a:spPr>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0E0E"/>
        </a:solidFill>
        <a:effectLst/>
      </p:bgPr>
    </p:bg>
    <p:spTree>
      <p:nvGrpSpPr>
        <p:cNvPr id="1" name=""/>
        <p:cNvGrpSpPr/>
        <p:nvPr/>
      </p:nvGrpSpPr>
      <p:grpSpPr/>
      <p:sp>
        <p:nvSpPr>
          <p:cNvPr id="2" name="TextBox 1"/>
          <p:cNvSpPr txBox="1"/>
          <p:nvPr/>
        </p:nvSpPr>
        <p:spPr>
          <a:xfrm>
            <a:off x="914400" y="1828800"/>
            <a:ext cx="10332720" cy="365760"/>
          </a:xfrm>
          <a:prstGeom prst="rect">
            <a:avLst/>
          </a:prstGeom>
          <a:noFill/>
          <a:effectLst/>
        </p:spPr>
        <p:txBody>
          <a:bodyPr wrap="square">
            <a:spAutoFit/>
          </a:bodyPr>
          <a:lstStyle/>
          <a:p>
            <a:pPr algn="ctr">
              <a:lnSpc>
                <a:spcPts val="1700"/>
              </a:lnSpc>
              <a:defRPr sz="1100" b="0" i="0">
                <a:solidFill>
                  <a:srgbClr val="999999"/>
                </a:solidFill>
                <a:latin typeface="Fraunces"/>
              </a:defRPr>
            </a:pPr>
            <a:r>
              <a:t>OUR SUGGESTION</a:t>
            </a:r>
          </a:p>
        </p:txBody>
      </p:sp>
      <p:sp>
        <p:nvSpPr>
          <p:cNvPr id="3" name="TextBox 2"/>
          <p:cNvSpPr txBox="1"/>
          <p:nvPr/>
        </p:nvSpPr>
        <p:spPr>
          <a:xfrm>
            <a:off x="914400" y="2560320"/>
            <a:ext cx="10332720" cy="1097280"/>
          </a:xfrm>
          <a:prstGeom prst="rect">
            <a:avLst/>
          </a:prstGeom>
          <a:noFill/>
          <a:effectLst/>
        </p:spPr>
        <p:txBody>
          <a:bodyPr wrap="square">
            <a:spAutoFit/>
          </a:bodyPr>
          <a:lstStyle/>
          <a:p>
            <a:pPr algn="ctr">
              <a:lnSpc>
                <a:spcPts val="8300"/>
              </a:lnSpc>
              <a:defRPr sz="5200" b="0" i="0">
                <a:solidFill>
                  <a:srgbClr val="FFFFFF"/>
                </a:solidFill>
                <a:latin typeface="Baskerville"/>
              </a:defRPr>
            </a:pPr>
            <a:r>
              <a:t>Production Clusters</a:t>
            </a:r>
          </a:p>
        </p:txBody>
      </p:sp>
      <p:cxnSp>
        <p:nvCxnSpPr>
          <p:cNvPr id="4" name="Connector 3"/>
          <p:cNvCxnSpPr/>
          <p:nvPr/>
        </p:nvCxnSpPr>
        <p:spPr>
          <a:xfrm>
            <a:off x="5303520" y="3840480"/>
            <a:ext cx="1554480" cy="0"/>
          </a:xfrm>
          <a:prstGeom prst="line">
            <a:avLst/>
          </a:prstGeom>
          <a:ln w="9525">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2286000" y="4206240"/>
            <a:ext cx="7589520" cy="1097280"/>
          </a:xfrm>
          <a:prstGeom prst="rect">
            <a:avLst/>
          </a:prstGeom>
          <a:noFill/>
          <a:effectLst/>
        </p:spPr>
        <p:txBody>
          <a:bodyPr wrap="square">
            <a:spAutoFit/>
          </a:bodyPr>
          <a:lstStyle/>
          <a:p>
            <a:pPr algn="ctr">
              <a:lnSpc>
                <a:spcPts val="2800"/>
              </a:lnSpc>
              <a:defRPr sz="1800" b="0" i="0">
                <a:solidFill>
                  <a:srgbClr val="999999"/>
                </a:solidFill>
                <a:latin typeface="Baskerville"/>
              </a:defRPr>
            </a:pPr>
            <a:r>
              <a:t>From the twelve storylines we propose three field clusters — each grouping stories that share geography and season into one deployable shoot along Tunisia’s Mediterranean shores.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731520" y="457200"/>
            <a:ext cx="36576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THREE CLUSTERS</a:t>
            </a:r>
          </a:p>
        </p:txBody>
      </p:sp>
      <p:sp>
        <p:nvSpPr>
          <p:cNvPr id="3" name="TextBox 2"/>
          <p:cNvSpPr txBox="1"/>
          <p:nvPr/>
        </p:nvSpPr>
        <p:spPr>
          <a:xfrm>
            <a:off x="731520" y="1188720"/>
            <a:ext cx="7315200" cy="914400"/>
          </a:xfrm>
          <a:prstGeom prst="rect">
            <a:avLst/>
          </a:prstGeom>
          <a:noFill/>
          <a:effectLst/>
        </p:spPr>
        <p:txBody>
          <a:bodyPr wrap="square">
            <a:spAutoFit/>
          </a:bodyPr>
          <a:lstStyle/>
          <a:p>
            <a:pPr algn="l">
              <a:lnSpc>
                <a:spcPts val="6400"/>
              </a:lnSpc>
              <a:defRPr sz="4000" b="0" i="0">
                <a:solidFill>
                  <a:srgbClr val="000000"/>
                </a:solidFill>
                <a:latin typeface="Baskerville"/>
              </a:defRPr>
            </a:pPr>
            <a:r>
              <a:t>Production Clusters</a:t>
            </a:r>
          </a:p>
        </p:txBody>
      </p:sp>
      <p:cxnSp>
        <p:nvCxnSpPr>
          <p:cNvPr id="4" name="Connector 3"/>
          <p:cNvCxnSpPr/>
          <p:nvPr/>
        </p:nvCxnSpPr>
        <p:spPr>
          <a:xfrm>
            <a:off x="731520" y="228600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2651760"/>
            <a:ext cx="3383280" cy="0"/>
          </a:xfrm>
          <a:prstGeom prst="line">
            <a:avLst/>
          </a:prstGeom>
          <a:ln w="38100">
            <a:solidFill>
              <a:srgbClr val="1B4965"/>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2788920"/>
            <a:ext cx="3383280" cy="457200"/>
          </a:xfrm>
          <a:prstGeom prst="rect">
            <a:avLst/>
          </a:prstGeom>
          <a:noFill/>
          <a:effectLst/>
        </p:spPr>
        <p:txBody>
          <a:bodyPr wrap="square">
            <a:spAutoFit/>
          </a:bodyPr>
          <a:lstStyle/>
          <a:p>
            <a:pPr algn="l">
              <a:lnSpc>
                <a:spcPts val="3500"/>
              </a:lnSpc>
              <a:defRPr sz="2200" b="0" i="0">
                <a:solidFill>
                  <a:srgbClr val="1B4965"/>
                </a:solidFill>
                <a:latin typeface="Baskerville"/>
              </a:defRPr>
            </a:pPr>
            <a:r>
              <a:t>The South &amp; the Islands</a:t>
            </a:r>
          </a:p>
        </p:txBody>
      </p:sp>
      <p:sp>
        <p:nvSpPr>
          <p:cNvPr id="7" name="TextBox 6"/>
          <p:cNvSpPr txBox="1"/>
          <p:nvPr/>
        </p:nvSpPr>
        <p:spPr>
          <a:xfrm>
            <a:off x="731520" y="3218688"/>
            <a:ext cx="3383280" cy="274320"/>
          </a:xfrm>
          <a:prstGeom prst="rect">
            <a:avLst/>
          </a:prstGeom>
          <a:noFill/>
          <a:effectLst/>
        </p:spPr>
        <p:txBody>
          <a:bodyPr wrap="square">
            <a:spAutoFit/>
          </a:bodyPr>
          <a:lstStyle/>
          <a:p>
            <a:pPr algn="l">
              <a:lnSpc>
                <a:spcPts val="1400"/>
              </a:lnSpc>
              <a:defRPr sz="900" b="0" i="0">
                <a:solidFill>
                  <a:srgbClr val="5C5C5C"/>
                </a:solidFill>
                <a:latin typeface="Fraunces"/>
              </a:defRPr>
            </a:pPr>
            <a:r>
              <a:t>Stories 01 + 03 + 04 + 06</a:t>
            </a:r>
          </a:p>
        </p:txBody>
      </p:sp>
      <p:sp>
        <p:nvSpPr>
          <p:cNvPr id="8" name="TextBox 7"/>
          <p:cNvSpPr txBox="1"/>
          <p:nvPr/>
        </p:nvSpPr>
        <p:spPr>
          <a:xfrm>
            <a:off x="731520" y="3520439"/>
            <a:ext cx="3383280" cy="1554480"/>
          </a:xfrm>
          <a:prstGeom prst="rect">
            <a:avLst/>
          </a:prstGeom>
          <a:noFill/>
          <a:effectLst/>
        </p:spPr>
        <p:txBody>
          <a:bodyPr wrap="square">
            <a:spAutoFit/>
          </a:bodyPr>
          <a:lstStyle/>
          <a:p>
            <a:pPr algn="l">
              <a:lnSpc>
                <a:spcPts val="1800"/>
              </a:lnSpc>
              <a:defRPr sz="1300" b="0" i="0">
                <a:solidFill>
                  <a:srgbClr val="000000"/>
                </a:solidFill>
                <a:latin typeface="Baskerville"/>
              </a:defRPr>
            </a:pPr>
            <a:r>
              <a:t>The Mediterranean south: the charfia palm-fences of Kerkennah, the coexistence-island of Djerba (Ibadi mosques + El Ghriba), the Amazigh ksour of the Dahar, and the threatened seaside oasis of Gabès. One southern deployment.</a:t>
            </a:r>
          </a:p>
        </p:txBody>
      </p:sp>
      <p:sp>
        <p:nvSpPr>
          <p:cNvPr id="9" name="TextBox 8"/>
          <p:cNvSpPr txBox="1"/>
          <p:nvPr/>
        </p:nvSpPr>
        <p:spPr>
          <a:xfrm>
            <a:off x="731520" y="5303520"/>
            <a:ext cx="3383280" cy="914400"/>
          </a:xfrm>
          <a:prstGeom prst="rect">
            <a:avLst/>
          </a:prstGeom>
          <a:noFill/>
          <a:effectLst/>
        </p:spPr>
        <p:txBody>
          <a:bodyPr wrap="square">
            <a:spAutoFit/>
          </a:bodyPr>
          <a:lstStyle/>
          <a:p>
            <a:pPr algn="l">
              <a:lnSpc>
                <a:spcPts val="1200"/>
              </a:lnSpc>
              <a:defRPr sz="800" b="0" i="0">
                <a:solidFill>
                  <a:srgbClr val="857F76"/>
                </a:solidFill>
                <a:latin typeface="Fraunces"/>
              </a:defRPr>
            </a:pPr>
            <a:r>
              <a:t>Geography: Kerkennah/Sfax → Gabès → Djerba → Tataouine</a:t>
            </a:r>
            <a:br/>
            <a:r>
              <a:t>Season: Charfia autumn-set; El Ghriba pilgrimage (spring)</a:t>
            </a:r>
            <a:br/>
            <a:r>
              <a:t>4 stories, 1 southern base</a:t>
            </a:r>
          </a:p>
        </p:txBody>
      </p:sp>
      <p:cxnSp>
        <p:nvCxnSpPr>
          <p:cNvPr id="10" name="Connector 9"/>
          <p:cNvCxnSpPr/>
          <p:nvPr/>
        </p:nvCxnSpPr>
        <p:spPr>
          <a:xfrm>
            <a:off x="4434840" y="2651760"/>
            <a:ext cx="3383280" cy="0"/>
          </a:xfrm>
          <a:prstGeom prst="line">
            <a:avLst/>
          </a:prstGeom>
          <a:ln w="38100">
            <a:solidFill>
              <a:srgbClr val="3A5A40"/>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434840" y="2788920"/>
            <a:ext cx="3383280" cy="457200"/>
          </a:xfrm>
          <a:prstGeom prst="rect">
            <a:avLst/>
          </a:prstGeom>
          <a:noFill/>
          <a:effectLst/>
        </p:spPr>
        <p:txBody>
          <a:bodyPr wrap="square">
            <a:spAutoFit/>
          </a:bodyPr>
          <a:lstStyle/>
          <a:p>
            <a:pPr algn="l">
              <a:lnSpc>
                <a:spcPts val="3500"/>
              </a:lnSpc>
              <a:defRPr sz="2200" b="0" i="0">
                <a:solidFill>
                  <a:srgbClr val="3A5A40"/>
                </a:solidFill>
                <a:latin typeface="Baskerville"/>
              </a:defRPr>
            </a:pPr>
            <a:r>
              <a:t>Cap Bon &amp; the Sahel</a:t>
            </a:r>
          </a:p>
        </p:txBody>
      </p:sp>
      <p:sp>
        <p:nvSpPr>
          <p:cNvPr id="12" name="TextBox 11"/>
          <p:cNvSpPr txBox="1"/>
          <p:nvPr/>
        </p:nvSpPr>
        <p:spPr>
          <a:xfrm>
            <a:off x="4434840" y="3218688"/>
            <a:ext cx="3383280" cy="274320"/>
          </a:xfrm>
          <a:prstGeom prst="rect">
            <a:avLst/>
          </a:prstGeom>
          <a:noFill/>
          <a:effectLst/>
        </p:spPr>
        <p:txBody>
          <a:bodyPr wrap="square">
            <a:spAutoFit/>
          </a:bodyPr>
          <a:lstStyle/>
          <a:p>
            <a:pPr algn="l">
              <a:lnSpc>
                <a:spcPts val="1400"/>
              </a:lnSpc>
              <a:defRPr sz="900" b="0" i="0">
                <a:solidFill>
                  <a:srgbClr val="5C5C5C"/>
                </a:solidFill>
                <a:latin typeface="Fraunces"/>
              </a:defRPr>
            </a:pPr>
            <a:r>
              <a:t>Stories 08 + 09 + 10 + 11</a:t>
            </a:r>
          </a:p>
        </p:txBody>
      </p:sp>
      <p:sp>
        <p:nvSpPr>
          <p:cNvPr id="13" name="TextBox 12"/>
          <p:cNvSpPr txBox="1"/>
          <p:nvPr/>
        </p:nvSpPr>
        <p:spPr>
          <a:xfrm>
            <a:off x="4434840" y="3520439"/>
            <a:ext cx="3383280" cy="1554480"/>
          </a:xfrm>
          <a:prstGeom prst="rect">
            <a:avLst/>
          </a:prstGeom>
          <a:noFill/>
          <a:effectLst/>
        </p:spPr>
        <p:txBody>
          <a:bodyPr wrap="square">
            <a:spAutoFit/>
          </a:bodyPr>
          <a:lstStyle/>
          <a:p>
            <a:pPr algn="l">
              <a:lnSpc>
                <a:spcPts val="1800"/>
              </a:lnSpc>
              <a:defRPr sz="1300" b="0" i="0">
                <a:solidFill>
                  <a:srgbClr val="000000"/>
                </a:solidFill>
                <a:latin typeface="Baskerville"/>
              </a:defRPr>
            </a:pPr>
            <a:r>
              <a:t>The eastern shoulder: the Sidi Daoud bluefin matanza and the Nabeul orange-blossom stills of Cap Bon, the wedding silk of Mahdia and the carpets and makroudh of holy Kairouan. Sea and craft on the Sahel.</a:t>
            </a:r>
          </a:p>
        </p:txBody>
      </p:sp>
      <p:sp>
        <p:nvSpPr>
          <p:cNvPr id="14" name="TextBox 13"/>
          <p:cNvSpPr txBox="1"/>
          <p:nvPr/>
        </p:nvSpPr>
        <p:spPr>
          <a:xfrm>
            <a:off x="4434840" y="5303520"/>
            <a:ext cx="3383280" cy="914400"/>
          </a:xfrm>
          <a:prstGeom prst="rect">
            <a:avLst/>
          </a:prstGeom>
          <a:noFill/>
          <a:effectLst/>
        </p:spPr>
        <p:txBody>
          <a:bodyPr wrap="square">
            <a:spAutoFit/>
          </a:bodyPr>
          <a:lstStyle/>
          <a:p>
            <a:pPr algn="l">
              <a:lnSpc>
                <a:spcPts val="1200"/>
              </a:lnSpc>
              <a:defRPr sz="800" b="0" i="0">
                <a:solidFill>
                  <a:srgbClr val="857F76"/>
                </a:solidFill>
                <a:latin typeface="Fraunces"/>
              </a:defRPr>
            </a:pPr>
            <a:r>
              <a:t>Geography: Cap Bon (Sidi Daoud/Nabeul) → Kairouan → Mahdia</a:t>
            </a:r>
            <a:br/>
            <a:r>
              <a:t>Season: Blossom Apr–May; matanza May–Jul</a:t>
            </a:r>
            <a:br/>
            <a:r>
              <a:t>4 stories, spring window</a:t>
            </a:r>
          </a:p>
        </p:txBody>
      </p:sp>
      <p:cxnSp>
        <p:nvCxnSpPr>
          <p:cNvPr id="15" name="Connector 14"/>
          <p:cNvCxnSpPr/>
          <p:nvPr/>
        </p:nvCxnSpPr>
        <p:spPr>
          <a:xfrm>
            <a:off x="8138160" y="2651760"/>
            <a:ext cx="3383280" cy="0"/>
          </a:xfrm>
          <a:prstGeom prst="line">
            <a:avLst/>
          </a:prstGeom>
          <a:ln w="38100">
            <a:solidFill>
              <a:srgbClr val="5B2C6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138160" y="2788920"/>
            <a:ext cx="3383280" cy="457200"/>
          </a:xfrm>
          <a:prstGeom prst="rect">
            <a:avLst/>
          </a:prstGeom>
          <a:noFill/>
          <a:effectLst/>
        </p:spPr>
        <p:txBody>
          <a:bodyPr wrap="square">
            <a:spAutoFit/>
          </a:bodyPr>
          <a:lstStyle/>
          <a:p>
            <a:pPr algn="l">
              <a:lnSpc>
                <a:spcPts val="3500"/>
              </a:lnSpc>
              <a:defRPr sz="2200" b="0" i="0">
                <a:solidFill>
                  <a:srgbClr val="5B2C6F"/>
                </a:solidFill>
                <a:latin typeface="Baskerville"/>
              </a:defRPr>
            </a:pPr>
            <a:r>
              <a:t>The Green North</a:t>
            </a:r>
          </a:p>
        </p:txBody>
      </p:sp>
      <p:sp>
        <p:nvSpPr>
          <p:cNvPr id="17" name="TextBox 16"/>
          <p:cNvSpPr txBox="1"/>
          <p:nvPr/>
        </p:nvSpPr>
        <p:spPr>
          <a:xfrm>
            <a:off x="8138160" y="3218688"/>
            <a:ext cx="3383280" cy="274320"/>
          </a:xfrm>
          <a:prstGeom prst="rect">
            <a:avLst/>
          </a:prstGeom>
          <a:noFill/>
          <a:effectLst/>
        </p:spPr>
        <p:txBody>
          <a:bodyPr wrap="square">
            <a:spAutoFit/>
          </a:bodyPr>
          <a:lstStyle/>
          <a:p>
            <a:pPr algn="l">
              <a:lnSpc>
                <a:spcPts val="1400"/>
              </a:lnSpc>
              <a:defRPr sz="900" b="0" i="0">
                <a:solidFill>
                  <a:srgbClr val="5C5C5C"/>
                </a:solidFill>
                <a:latin typeface="Fraunces"/>
              </a:defRPr>
            </a:pPr>
            <a:r>
              <a:t>Stories 02 + 05 + 07 + 12</a:t>
            </a:r>
          </a:p>
        </p:txBody>
      </p:sp>
      <p:sp>
        <p:nvSpPr>
          <p:cNvPr id="18" name="TextBox 17"/>
          <p:cNvSpPr txBox="1"/>
          <p:nvPr/>
        </p:nvSpPr>
        <p:spPr>
          <a:xfrm>
            <a:off x="8138160" y="3520439"/>
            <a:ext cx="3383280" cy="1554480"/>
          </a:xfrm>
          <a:prstGeom prst="rect">
            <a:avLst/>
          </a:prstGeom>
          <a:noFill/>
          <a:effectLst/>
        </p:spPr>
        <p:txBody>
          <a:bodyPr wrap="square">
            <a:spAutoFit/>
          </a:bodyPr>
          <a:lstStyle/>
          <a:p>
            <a:pPr algn="l">
              <a:lnSpc>
                <a:spcPts val="1800"/>
              </a:lnSpc>
              <a:defRPr sz="1300" b="0" i="0">
                <a:solidFill>
                  <a:srgbClr val="000000"/>
                </a:solidFill>
                <a:latin typeface="Baskerville"/>
              </a:defRPr>
            </a:pPr>
            <a:r>
              <a:t>The wet, layered north: the women potters of Sejnane, the Andalusian malouf of Testour, the Stambeli brotherhoods of Tunis, and the Kroumirie cork-oak country above Tabarka. The Tunisia of oak, exile and rain.</a:t>
            </a:r>
          </a:p>
        </p:txBody>
      </p:sp>
      <p:sp>
        <p:nvSpPr>
          <p:cNvPr id="19" name="TextBox 18"/>
          <p:cNvSpPr txBox="1"/>
          <p:nvPr/>
        </p:nvSpPr>
        <p:spPr>
          <a:xfrm>
            <a:off x="8138160" y="5303520"/>
            <a:ext cx="3383280" cy="914400"/>
          </a:xfrm>
          <a:prstGeom prst="rect">
            <a:avLst/>
          </a:prstGeom>
          <a:noFill/>
          <a:effectLst/>
        </p:spPr>
        <p:txBody>
          <a:bodyPr wrap="square">
            <a:spAutoFit/>
          </a:bodyPr>
          <a:lstStyle/>
          <a:p>
            <a:pPr algn="l">
              <a:lnSpc>
                <a:spcPts val="1200"/>
              </a:lnSpc>
              <a:defRPr sz="800" b="0" i="0">
                <a:solidFill>
                  <a:srgbClr val="857F76"/>
                </a:solidFill>
                <a:latin typeface="Fraunces"/>
              </a:defRPr>
            </a:pPr>
            <a:r>
              <a:t>Geography: Tunis → Testour (Medjerda) → Sejnane (Bizerte) → Aïn Draham</a:t>
            </a:r>
            <a:br/>
            <a:r>
              <a:t>Season: Cork stripping &amp; malouf festival (summer)</a:t>
            </a:r>
            <a:br/>
            <a:r>
              <a:t>4 stories, 1 northern loop</a:t>
            </a:r>
          </a:p>
        </p:txBody>
      </p:sp>
      <p:sp>
        <p:nvSpPr>
          <p:cNvPr id="20" name="TextBox 19"/>
          <p:cNvSpPr txBox="1"/>
          <p:nvPr/>
        </p:nvSpPr>
        <p:spPr>
          <a:xfrm>
            <a:off x="731520" y="6126480"/>
            <a:ext cx="10698480" cy="548640"/>
          </a:xfrm>
          <a:prstGeom prst="rect">
            <a:avLst/>
          </a:prstGeom>
          <a:noFill/>
          <a:effectLst/>
        </p:spPr>
        <p:txBody>
          <a:bodyPr wrap="square">
            <a:spAutoFit/>
          </a:bodyPr>
          <a:lstStyle/>
          <a:p>
            <a:pPr algn="l">
              <a:lnSpc>
                <a:spcPts val="1400"/>
              </a:lnSpc>
              <a:defRPr sz="900" b="0" i="0">
                <a:solidFill>
                  <a:srgbClr val="857F76"/>
                </a:solidFill>
                <a:latin typeface="Fraunces"/>
              </a:defRPr>
            </a:pPr>
            <a:r>
              <a:t>Signature: The Charfia of Kerkennah (autumn net-setting) runs across the project; El Ghriba (spring) and the Stambeli nights anchor a faith-and-memory strand.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731520" y="457200"/>
            <a:ext cx="36576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THE EDITION</a:t>
            </a:r>
          </a:p>
        </p:txBody>
      </p:sp>
      <p:sp>
        <p:nvSpPr>
          <p:cNvPr id="3" name="TextBox 2"/>
          <p:cNvSpPr txBox="1"/>
          <p:nvPr/>
        </p:nvSpPr>
        <p:spPr>
          <a:xfrm>
            <a:off x="731520" y="1188720"/>
            <a:ext cx="10058400" cy="914400"/>
          </a:xfrm>
          <a:prstGeom prst="rect">
            <a:avLst/>
          </a:prstGeom>
          <a:noFill/>
          <a:effectLst/>
        </p:spPr>
        <p:txBody>
          <a:bodyPr wrap="square">
            <a:spAutoFit/>
          </a:bodyPr>
          <a:lstStyle/>
          <a:p>
            <a:pPr algn="l">
              <a:lnSpc>
                <a:spcPts val="6400"/>
              </a:lnSpc>
              <a:defRPr sz="4000" b="0" i="0">
                <a:solidFill>
                  <a:srgbClr val="000000"/>
                </a:solidFill>
                <a:latin typeface="Baskerville"/>
              </a:defRPr>
            </a:pPr>
            <a:r>
              <a:t>Two Strands, One Edition</a:t>
            </a:r>
          </a:p>
        </p:txBody>
      </p:sp>
      <p:cxnSp>
        <p:nvCxnSpPr>
          <p:cNvPr id="4" name="Connector 3"/>
          <p:cNvCxnSpPr/>
          <p:nvPr/>
        </p:nvCxnSpPr>
        <p:spPr>
          <a:xfrm>
            <a:off x="731520" y="228600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2651760"/>
            <a:ext cx="2743200" cy="365760"/>
          </a:xfrm>
          <a:prstGeom prst="rect">
            <a:avLst/>
          </a:prstGeom>
          <a:noFill/>
          <a:effectLst/>
        </p:spPr>
        <p:txBody>
          <a:bodyPr wrap="square">
            <a:spAutoFit/>
          </a:bodyPr>
          <a:lstStyle/>
          <a:p>
            <a:pPr algn="l">
              <a:lnSpc>
                <a:spcPts val="1900"/>
              </a:lnSpc>
              <a:defRPr sz="1200" b="1" i="0">
                <a:solidFill>
                  <a:srgbClr val="400505"/>
                </a:solidFill>
                <a:latin typeface="Fraunces"/>
              </a:defRPr>
            </a:pPr>
            <a:r>
              <a:t>The publication</a:t>
            </a:r>
          </a:p>
        </p:txBody>
      </p:sp>
      <p:sp>
        <p:nvSpPr>
          <p:cNvPr id="6" name="TextBox 5"/>
          <p:cNvSpPr txBox="1"/>
          <p:nvPr/>
        </p:nvSpPr>
        <p:spPr>
          <a:xfrm>
            <a:off x="3657600" y="2633472"/>
            <a:ext cx="7863840" cy="914400"/>
          </a:xfrm>
          <a:prstGeom prst="rect">
            <a:avLst/>
          </a:prstGeom>
          <a:noFill/>
          <a:effectLst/>
        </p:spPr>
        <p:txBody>
          <a:bodyPr wrap="square">
            <a:spAutoFit/>
          </a:bodyPr>
          <a:lstStyle/>
          <a:p>
            <a:pPr algn="l">
              <a:lnSpc>
                <a:spcPts val="1800"/>
              </a:lnSpc>
              <a:defRPr sz="1300" b="0" i="0">
                <a:solidFill>
                  <a:srgbClr val="000000"/>
                </a:solidFill>
                <a:latin typeface="Baskerville"/>
              </a:defRPr>
            </a:pPr>
            <a:r>
              <a:t>INLAND — yearly publication (Italy / EU). A finished Tunisia edition (~170–240 pp) on the Mediterranean theme, in the register of Issue 03, Isole Minori. The Institut français publication aid covers editing and printing in full.</a:t>
            </a:r>
          </a:p>
        </p:txBody>
      </p:sp>
      <p:sp>
        <p:nvSpPr>
          <p:cNvPr id="7" name="TextBox 6"/>
          <p:cNvSpPr txBox="1"/>
          <p:nvPr/>
        </p:nvSpPr>
        <p:spPr>
          <a:xfrm>
            <a:off x="731520" y="3611880"/>
            <a:ext cx="2743200" cy="365760"/>
          </a:xfrm>
          <a:prstGeom prst="rect">
            <a:avLst/>
          </a:prstGeom>
          <a:noFill/>
          <a:effectLst/>
        </p:spPr>
        <p:txBody>
          <a:bodyPr wrap="square">
            <a:spAutoFit/>
          </a:bodyPr>
          <a:lstStyle/>
          <a:p>
            <a:pPr algn="l">
              <a:lnSpc>
                <a:spcPts val="1900"/>
              </a:lnSpc>
              <a:defRPr sz="1200" b="1" i="0">
                <a:solidFill>
                  <a:srgbClr val="400505"/>
                </a:solidFill>
                <a:latin typeface="Fraunces"/>
              </a:defRPr>
            </a:pPr>
            <a:r>
              <a:t>The production</a:t>
            </a:r>
          </a:p>
        </p:txBody>
      </p:sp>
      <p:sp>
        <p:nvSpPr>
          <p:cNvPr id="8" name="TextBox 7"/>
          <p:cNvSpPr txBox="1"/>
          <p:nvPr/>
        </p:nvSpPr>
        <p:spPr>
          <a:xfrm>
            <a:off x="3657600" y="3593592"/>
            <a:ext cx="7863840" cy="914400"/>
          </a:xfrm>
          <a:prstGeom prst="rect">
            <a:avLst/>
          </a:prstGeom>
          <a:noFill/>
          <a:effectLst/>
        </p:spPr>
        <p:txBody>
          <a:bodyPr wrap="square">
            <a:spAutoFit/>
          </a:bodyPr>
          <a:lstStyle/>
          <a:p>
            <a:pPr algn="l">
              <a:lnSpc>
                <a:spcPts val="1800"/>
              </a:lnSpc>
              <a:defRPr sz="1300" b="0" i="0">
                <a:solidFill>
                  <a:srgbClr val="000000"/>
                </a:solidFill>
                <a:latin typeface="Baskerville"/>
              </a:defRPr>
            </a:pPr>
            <a:r>
              <a:t>The field shoot across three coastal-and-island clusters — Kerkennah, Cap Bon–Sahel, the green north — funded by the production strand for new Mediterranean photographic work.</a:t>
            </a:r>
          </a:p>
        </p:txBody>
      </p:sp>
      <p:sp>
        <p:nvSpPr>
          <p:cNvPr id="9" name="TextBox 8"/>
          <p:cNvSpPr txBox="1"/>
          <p:nvPr/>
        </p:nvSpPr>
        <p:spPr>
          <a:xfrm>
            <a:off x="731520" y="4572000"/>
            <a:ext cx="2743200" cy="365760"/>
          </a:xfrm>
          <a:prstGeom prst="rect">
            <a:avLst/>
          </a:prstGeom>
          <a:noFill/>
          <a:effectLst/>
        </p:spPr>
        <p:txBody>
          <a:bodyPr wrap="square">
            <a:spAutoFit/>
          </a:bodyPr>
          <a:lstStyle/>
          <a:p>
            <a:pPr algn="l">
              <a:lnSpc>
                <a:spcPts val="1900"/>
              </a:lnSpc>
              <a:defRPr sz="1200" b="1" i="0">
                <a:solidFill>
                  <a:srgbClr val="400505"/>
                </a:solidFill>
                <a:latin typeface="Fraunces"/>
              </a:defRPr>
            </a:pPr>
            <a:r>
              <a:t>Why the Mediterranean</a:t>
            </a:r>
          </a:p>
        </p:txBody>
      </p:sp>
      <p:sp>
        <p:nvSpPr>
          <p:cNvPr id="10" name="TextBox 9"/>
          <p:cNvSpPr txBox="1"/>
          <p:nvPr/>
        </p:nvSpPr>
        <p:spPr>
          <a:xfrm>
            <a:off x="3657600" y="4553712"/>
            <a:ext cx="7863840" cy="914400"/>
          </a:xfrm>
          <a:prstGeom prst="rect">
            <a:avLst/>
          </a:prstGeom>
          <a:noFill/>
          <a:effectLst/>
        </p:spPr>
        <p:txBody>
          <a:bodyPr wrap="square">
            <a:spAutoFit/>
          </a:bodyPr>
          <a:lstStyle/>
          <a:p>
            <a:pPr algn="l">
              <a:lnSpc>
                <a:spcPts val="1800"/>
              </a:lnSpc>
              <a:defRPr sz="1300" b="0" i="0">
                <a:solidFill>
                  <a:srgbClr val="000000"/>
                </a:solidFill>
                <a:latin typeface="Baskerville"/>
              </a:defRPr>
            </a:pPr>
            <a:r>
              <a:t>Tunisia is a Mediterranean palimpsest — Phoenician, Roman, Amazigh, Andalusian, Jewish, Ibadi and sub-Saharan — read through living custodians on its shores and islands, exactly the ‘monde méditerranéen’ the programme funds.</a:t>
            </a:r>
          </a:p>
        </p:txBody>
      </p:sp>
      <p:sp>
        <p:nvSpPr>
          <p:cNvPr id="11" name="TextBox 10"/>
          <p:cNvSpPr txBox="1"/>
          <p:nvPr/>
        </p:nvSpPr>
        <p:spPr>
          <a:xfrm>
            <a:off x="731520" y="5532120"/>
            <a:ext cx="2743200" cy="365760"/>
          </a:xfrm>
          <a:prstGeom prst="rect">
            <a:avLst/>
          </a:prstGeom>
          <a:noFill/>
          <a:effectLst/>
        </p:spPr>
        <p:txBody>
          <a:bodyPr wrap="square">
            <a:spAutoFit/>
          </a:bodyPr>
          <a:lstStyle/>
          <a:p>
            <a:pPr algn="l">
              <a:lnSpc>
                <a:spcPts val="1900"/>
              </a:lnSpc>
              <a:defRPr sz="1200" b="1" i="0">
                <a:solidFill>
                  <a:srgbClr val="400505"/>
                </a:solidFill>
                <a:latin typeface="Fraunces"/>
              </a:defRPr>
            </a:pPr>
            <a:r>
              <a:t>The principle</a:t>
            </a:r>
          </a:p>
        </p:txBody>
      </p:sp>
      <p:sp>
        <p:nvSpPr>
          <p:cNvPr id="12" name="TextBox 11"/>
          <p:cNvSpPr txBox="1"/>
          <p:nvPr/>
        </p:nvSpPr>
        <p:spPr>
          <a:xfrm>
            <a:off x="3657600" y="5513832"/>
            <a:ext cx="7863840" cy="914400"/>
          </a:xfrm>
          <a:prstGeom prst="rect">
            <a:avLst/>
          </a:prstGeom>
          <a:noFill/>
          <a:effectLst/>
        </p:spPr>
        <p:txBody>
          <a:bodyPr wrap="square">
            <a:spAutoFit/>
          </a:bodyPr>
          <a:lstStyle/>
          <a:p>
            <a:pPr algn="l">
              <a:lnSpc>
                <a:spcPts val="1800"/>
              </a:lnSpc>
              <a:defRPr sz="1300" b="0" i="0">
                <a:solidFill>
                  <a:srgbClr val="000000"/>
                </a:solidFill>
                <a:latin typeface="Baskerville"/>
              </a:defRPr>
            </a:pPr>
            <a:r>
              <a:t>Named custodians, locatable places, seasonal scenes — made with the people who keep these traditions, not about them. The loud Tunisia of revolution and migration stays as context; the quieter country is the subject.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E0E0E"/>
        </a:solidFill>
        <a:effectLst/>
      </p:bgPr>
    </p:bg>
    <p:spTree>
      <p:nvGrpSpPr>
        <p:cNvPr id="1" name=""/>
        <p:cNvGrpSpPr/>
        <p:nvPr/>
      </p:nvGrpSpPr>
      <p:grpSpPr/>
      <p:sp>
        <p:nvSpPr>
          <p:cNvPr id="2" name="TextBox 1"/>
          <p:cNvSpPr txBox="1"/>
          <p:nvPr/>
        </p:nvSpPr>
        <p:spPr>
          <a:xfrm>
            <a:off x="914400" y="2011680"/>
            <a:ext cx="10332720" cy="1371600"/>
          </a:xfrm>
          <a:prstGeom prst="rect">
            <a:avLst/>
          </a:prstGeom>
          <a:noFill/>
          <a:effectLst/>
        </p:spPr>
        <p:txBody>
          <a:bodyPr wrap="square">
            <a:spAutoFit/>
          </a:bodyPr>
          <a:lstStyle/>
          <a:p>
            <a:pPr algn="ctr">
              <a:lnSpc>
                <a:spcPts val="8300"/>
              </a:lnSpc>
              <a:defRPr sz="5200" b="0" i="0">
                <a:solidFill>
                  <a:srgbClr val="FFFFFF"/>
                </a:solidFill>
                <a:latin typeface="Baskerville"/>
              </a:defRPr>
            </a:pPr>
            <a:r>
              <a:t>12 Storylines.</a:t>
            </a:r>
            <a:br/>
            <a:r>
              <a:t>One Tunisia.</a:t>
            </a:r>
          </a:p>
        </p:txBody>
      </p:sp>
      <p:cxnSp>
        <p:nvCxnSpPr>
          <p:cNvPr id="3" name="Connector 2"/>
          <p:cNvCxnSpPr/>
          <p:nvPr/>
        </p:nvCxnSpPr>
        <p:spPr>
          <a:xfrm>
            <a:off x="5303520" y="3840480"/>
            <a:ext cx="1554480" cy="0"/>
          </a:xfrm>
          <a:prstGeom prst="line">
            <a:avLst/>
          </a:prstGeom>
          <a:ln w="9525">
            <a:solidFill>
              <a:srgbClr val="FFFFFF"/>
            </a:solidFill>
          </a:ln>
          <a:effectLst/>
        </p:spPr>
        <p:style>
          <a:lnRef idx="2">
            <a:schemeClr val="accent1"/>
          </a:lnRef>
          <a:fillRef idx="0">
            <a:schemeClr val="accent1"/>
          </a:fillRef>
          <a:effectRef idx="1">
            <a:schemeClr val="accent1"/>
          </a:effectRef>
          <a:fontRef idx="minor">
            <a:schemeClr val="tx1"/>
          </a:fontRef>
        </p:style>
      </p:cxnSp>
      <p:pic>
        <p:nvPicPr>
          <p:cNvPr id="4" name="Picture 3" descr="inland-logo-white.png"/>
          <p:cNvPicPr>
            <a:picLocks noChangeAspect="1"/>
          </p:cNvPicPr>
          <p:nvPr/>
        </p:nvPicPr>
        <p:blipFill>
          <a:blip r:embed="rId2"/>
          <a:stretch>
            <a:fillRect/>
          </a:stretch>
        </p:blipFill>
        <p:spPr>
          <a:xfrm>
            <a:off x="5181447" y="4572000"/>
            <a:ext cx="1828800" cy="384048"/>
          </a:xfrm>
          <a:prstGeom prst="rect">
            <a:avLst/>
          </a:prstGeom>
          <a:effectLst/>
        </p:spPr>
      </p:pic>
      <p:sp>
        <p:nvSpPr>
          <p:cNvPr id="5" name="TextBox 4"/>
          <p:cNvSpPr txBox="1"/>
          <p:nvPr/>
        </p:nvSpPr>
        <p:spPr>
          <a:xfrm>
            <a:off x="914400" y="5120640"/>
            <a:ext cx="10332720" cy="365760"/>
          </a:xfrm>
          <a:prstGeom prst="rect">
            <a:avLst/>
          </a:prstGeom>
          <a:noFill/>
          <a:effectLst/>
        </p:spPr>
        <p:txBody>
          <a:bodyPr wrap="square">
            <a:spAutoFit/>
          </a:bodyPr>
          <a:lstStyle/>
          <a:p>
            <a:pPr algn="ctr">
              <a:lnSpc>
                <a:spcPts val="2200"/>
              </a:lnSpc>
              <a:defRPr sz="1400" b="0" i="0">
                <a:solidFill>
                  <a:srgbClr val="999999"/>
                </a:solidFill>
                <a:latin typeface="Fraunces"/>
              </a:defRPr>
            </a:pPr>
            <a:r>
              <a:t>A Mediterranean photographic edition by INLAND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