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4EE"/>
        </a:solidFill>
        <a:effectLst/>
      </p:bgPr>
    </p:bg>
    <p:spTree>
      <p:nvGrpSpPr>
        <p:cNvPr id="1" name=""/>
        <p:cNvGrpSpPr/>
        <p:nvPr/>
      </p:nvGrpSpPr>
      <p:grpSpPr/>
      <p:pic>
        <p:nvPicPr>
          <p:cNvPr id="2" name="Picture 1" descr="inland-logo-black.png"/>
          <p:cNvPicPr>
            <a:picLocks noChangeAspect="1"/>
          </p:cNvPicPr>
          <p:nvPr/>
        </p:nvPicPr>
        <p:blipFill>
          <a:blip r:embed="rId2"/>
          <a:stretch>
            <a:fillRect/>
          </a:stretch>
        </p:blipFill>
        <p:spPr>
          <a:xfrm>
            <a:off x="4495647" y="1645920"/>
            <a:ext cx="3200400" cy="672084"/>
          </a:xfrm>
          <a:prstGeom prst="rect">
            <a:avLst/>
          </a:prstGeom>
          <a:effectLst/>
        </p:spPr>
      </p:pic>
      <p:sp>
        <p:nvSpPr>
          <p:cNvPr id="3" name="TextBox 2"/>
          <p:cNvSpPr txBox="1"/>
          <p:nvPr/>
        </p:nvSpPr>
        <p:spPr>
          <a:xfrm>
            <a:off x="914400" y="2651760"/>
            <a:ext cx="10332720" cy="1280160"/>
          </a:xfrm>
          <a:prstGeom prst="rect">
            <a:avLst/>
          </a:prstGeom>
          <a:noFill/>
          <a:effectLst/>
        </p:spPr>
        <p:txBody>
          <a:bodyPr wrap="square">
            <a:spAutoFit/>
          </a:bodyPr>
          <a:lstStyle/>
          <a:p>
            <a:pPr algn="ctr">
              <a:lnSpc>
                <a:spcPts val="11500"/>
              </a:lnSpc>
              <a:defRPr sz="7200" b="0" i="0">
                <a:solidFill>
                  <a:srgbClr val="000000"/>
                </a:solidFill>
                <a:latin typeface="Baskerville"/>
              </a:defRPr>
            </a:pPr>
            <a:r>
              <a:t>Georgia</a:t>
            </a:r>
          </a:p>
        </p:txBody>
      </p:sp>
      <p:cxnSp>
        <p:nvCxnSpPr>
          <p:cNvPr id="4" name="Connector 3"/>
          <p:cNvCxnSpPr/>
          <p:nvPr/>
        </p:nvCxnSpPr>
        <p:spPr>
          <a:xfrm>
            <a:off x="5029200" y="4206240"/>
            <a:ext cx="2103120" cy="0"/>
          </a:xfrm>
          <a:prstGeom prst="line">
            <a:avLst/>
          </a:prstGeom>
          <a:ln w="9525">
            <a:solidFill>
              <a:srgbClr val="000000"/>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914400" y="4572000"/>
            <a:ext cx="10332720" cy="548640"/>
          </a:xfrm>
          <a:prstGeom prst="rect">
            <a:avLst/>
          </a:prstGeom>
          <a:noFill/>
          <a:effectLst/>
        </p:spPr>
        <p:txBody>
          <a:bodyPr wrap="square">
            <a:spAutoFit/>
          </a:bodyPr>
          <a:lstStyle/>
          <a:p>
            <a:pPr algn="ctr">
              <a:lnSpc>
                <a:spcPts val="3200"/>
              </a:lnSpc>
              <a:defRPr sz="2000" b="0" i="0">
                <a:solidFill>
                  <a:srgbClr val="5C5C5C"/>
                </a:solidFill>
                <a:latin typeface="Baskerville"/>
              </a:defRPr>
            </a:pPr>
            <a:r>
              <a:t>The Quiet Country — A Humanistic Documentary</a:t>
            </a:r>
          </a:p>
        </p:txBody>
      </p:sp>
      <p:sp>
        <p:nvSpPr>
          <p:cNvPr id="6" name="TextBox 5"/>
          <p:cNvSpPr txBox="1"/>
          <p:nvPr/>
        </p:nvSpPr>
        <p:spPr>
          <a:xfrm>
            <a:off x="914400" y="5669280"/>
            <a:ext cx="10332720" cy="365760"/>
          </a:xfrm>
          <a:prstGeom prst="rect">
            <a:avLst/>
          </a:prstGeom>
          <a:noFill/>
          <a:effectLst/>
        </p:spPr>
        <p:txBody>
          <a:bodyPr wrap="square">
            <a:spAutoFit/>
          </a:bodyPr>
          <a:lstStyle/>
          <a:p>
            <a:pPr algn="ctr">
              <a:lnSpc>
                <a:spcPts val="1700"/>
              </a:lnSpc>
              <a:defRPr sz="1100" b="0" i="0">
                <a:solidFill>
                  <a:srgbClr val="5C5C5C"/>
                </a:solidFill>
                <a:latin typeface="Fraunces"/>
              </a:defRPr>
            </a:pPr>
            <a:r>
              <a:t>12 Selected Stories  ·  For the W. Eugene Smith Grant in Humanistic Photography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4EE"/>
        </a:solidFill>
        <a:effectLst/>
      </p:bgPr>
    </p:bg>
    <p:spTree>
      <p:nvGrpSpPr>
        <p:cNvPr id="1" name=""/>
        <p:cNvGrpSpPr/>
        <p:nvPr/>
      </p:nvGrpSpPr>
      <p:grpSpPr/>
      <p:sp>
        <p:nvSpPr>
          <p:cNvPr id="2" name="TextBox 1"/>
          <p:cNvSpPr txBox="1"/>
          <p:nvPr/>
        </p:nvSpPr>
        <p:spPr>
          <a:xfrm>
            <a:off x="731520" y="457200"/>
            <a:ext cx="3657600" cy="365760"/>
          </a:xfrm>
          <a:prstGeom prst="rect">
            <a:avLst/>
          </a:prstGeom>
          <a:noFill/>
          <a:effectLst/>
        </p:spPr>
        <p:txBody>
          <a:bodyPr wrap="square">
            <a:spAutoFit/>
          </a:bodyPr>
          <a:lstStyle/>
          <a:p>
            <a:pPr algn="l">
              <a:lnSpc>
                <a:spcPts val="1700"/>
              </a:lnSpc>
              <a:defRPr sz="1100" b="0" i="0">
                <a:solidFill>
                  <a:srgbClr val="5C5C5C"/>
                </a:solidFill>
                <a:latin typeface="Fraunces"/>
              </a:defRPr>
            </a:pPr>
            <a:r>
              <a:t>CONTENTS</a:t>
            </a:r>
          </a:p>
        </p:txBody>
      </p:sp>
      <p:sp>
        <p:nvSpPr>
          <p:cNvPr id="3" name="TextBox 2"/>
          <p:cNvSpPr txBox="1"/>
          <p:nvPr/>
        </p:nvSpPr>
        <p:spPr>
          <a:xfrm>
            <a:off x="731520" y="1188720"/>
            <a:ext cx="7315200" cy="914400"/>
          </a:xfrm>
          <a:prstGeom prst="rect">
            <a:avLst/>
          </a:prstGeom>
          <a:noFill/>
          <a:effectLst/>
        </p:spPr>
        <p:txBody>
          <a:bodyPr wrap="square">
            <a:spAutoFit/>
          </a:bodyPr>
          <a:lstStyle/>
          <a:p>
            <a:pPr algn="l">
              <a:lnSpc>
                <a:spcPts val="6400"/>
              </a:lnSpc>
              <a:defRPr sz="4000" b="0" i="0">
                <a:solidFill>
                  <a:srgbClr val="000000"/>
                </a:solidFill>
                <a:latin typeface="Baskerville"/>
              </a:defRPr>
            </a:pPr>
            <a:r>
              <a:t>Overview</a:t>
            </a:r>
          </a:p>
        </p:txBody>
      </p:sp>
      <p:cxnSp>
        <p:nvCxnSpPr>
          <p:cNvPr id="4" name="Connector 3"/>
          <p:cNvCxnSpPr/>
          <p:nvPr/>
        </p:nvCxnSpPr>
        <p:spPr>
          <a:xfrm>
            <a:off x="731520" y="2286000"/>
            <a:ext cx="10515600" cy="0"/>
          </a:xfrm>
          <a:prstGeom prst="line">
            <a:avLst/>
          </a:prstGeom>
          <a:ln w="9525">
            <a:solidFill>
              <a:srgbClr val="000000"/>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31520" y="2606040"/>
            <a:ext cx="914400" cy="457200"/>
          </a:xfrm>
          <a:prstGeom prst="rect">
            <a:avLst/>
          </a:prstGeom>
          <a:noFill/>
          <a:effectLst/>
        </p:spPr>
        <p:txBody>
          <a:bodyPr wrap="square">
            <a:spAutoFit/>
          </a:bodyPr>
          <a:lstStyle/>
          <a:p>
            <a:pPr algn="l">
              <a:lnSpc>
                <a:spcPts val="3800"/>
              </a:lnSpc>
              <a:defRPr sz="2400" b="0" i="0">
                <a:solidFill>
                  <a:srgbClr val="400505"/>
                </a:solidFill>
                <a:latin typeface="Baskerville"/>
              </a:defRPr>
            </a:pPr>
            <a:r>
              <a:t>01</a:t>
            </a:r>
          </a:p>
        </p:txBody>
      </p:sp>
      <p:sp>
        <p:nvSpPr>
          <p:cNvPr id="6" name="TextBox 5"/>
          <p:cNvSpPr txBox="1"/>
          <p:nvPr/>
        </p:nvSpPr>
        <p:spPr>
          <a:xfrm>
            <a:off x="1828800" y="2633472"/>
            <a:ext cx="7315200" cy="457200"/>
          </a:xfrm>
          <a:prstGeom prst="rect">
            <a:avLst/>
          </a:prstGeom>
          <a:noFill/>
          <a:effectLst/>
        </p:spPr>
        <p:txBody>
          <a:bodyPr wrap="square">
            <a:spAutoFit/>
          </a:bodyPr>
          <a:lstStyle/>
          <a:p>
            <a:pPr algn="l">
              <a:lnSpc>
                <a:spcPts val="3200"/>
              </a:lnSpc>
              <a:defRPr sz="2000" b="0" i="0">
                <a:solidFill>
                  <a:srgbClr val="000000"/>
                </a:solidFill>
                <a:latin typeface="Baskerville"/>
              </a:defRPr>
            </a:pPr>
            <a:r>
              <a:t>About INLAND</a:t>
            </a:r>
          </a:p>
        </p:txBody>
      </p:sp>
      <p:cxnSp>
        <p:nvCxnSpPr>
          <p:cNvPr id="7" name="Connector 6"/>
          <p:cNvCxnSpPr/>
          <p:nvPr/>
        </p:nvCxnSpPr>
        <p:spPr>
          <a:xfrm>
            <a:off x="731520" y="3081528"/>
            <a:ext cx="10515600" cy="0"/>
          </a:xfrm>
          <a:prstGeom prst="line">
            <a:avLst/>
          </a:prstGeom>
          <a:ln w="9525">
            <a:solidFill>
              <a:srgbClr val="D8D2CA"/>
            </a:solidFill>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731520" y="3172968"/>
            <a:ext cx="914400" cy="457200"/>
          </a:xfrm>
          <a:prstGeom prst="rect">
            <a:avLst/>
          </a:prstGeom>
          <a:noFill/>
          <a:effectLst/>
        </p:spPr>
        <p:txBody>
          <a:bodyPr wrap="square">
            <a:spAutoFit/>
          </a:bodyPr>
          <a:lstStyle/>
          <a:p>
            <a:pPr algn="l">
              <a:lnSpc>
                <a:spcPts val="3800"/>
              </a:lnSpc>
              <a:defRPr sz="2400" b="0" i="0">
                <a:solidFill>
                  <a:srgbClr val="400505"/>
                </a:solidFill>
                <a:latin typeface="Baskerville"/>
              </a:defRPr>
            </a:pPr>
            <a:r>
              <a:t>02</a:t>
            </a:r>
          </a:p>
        </p:txBody>
      </p:sp>
      <p:sp>
        <p:nvSpPr>
          <p:cNvPr id="9" name="TextBox 8"/>
          <p:cNvSpPr txBox="1"/>
          <p:nvPr/>
        </p:nvSpPr>
        <p:spPr>
          <a:xfrm>
            <a:off x="1828800" y="3200400"/>
            <a:ext cx="7315200" cy="457200"/>
          </a:xfrm>
          <a:prstGeom prst="rect">
            <a:avLst/>
          </a:prstGeom>
          <a:noFill/>
          <a:effectLst/>
        </p:spPr>
        <p:txBody>
          <a:bodyPr wrap="square">
            <a:spAutoFit/>
          </a:bodyPr>
          <a:lstStyle/>
          <a:p>
            <a:pPr algn="l">
              <a:lnSpc>
                <a:spcPts val="3200"/>
              </a:lnSpc>
              <a:defRPr sz="2000" b="0" i="0">
                <a:solidFill>
                  <a:srgbClr val="000000"/>
                </a:solidFill>
                <a:latin typeface="Baskerville"/>
              </a:defRPr>
            </a:pPr>
            <a:r>
              <a:t>Georgia — What Survived</a:t>
            </a:r>
          </a:p>
        </p:txBody>
      </p:sp>
      <p:cxnSp>
        <p:nvCxnSpPr>
          <p:cNvPr id="10" name="Connector 9"/>
          <p:cNvCxnSpPr/>
          <p:nvPr/>
        </p:nvCxnSpPr>
        <p:spPr>
          <a:xfrm>
            <a:off x="731520" y="3648456"/>
            <a:ext cx="10515600" cy="0"/>
          </a:xfrm>
          <a:prstGeom prst="line">
            <a:avLst/>
          </a:prstGeom>
          <a:ln w="9525">
            <a:solidFill>
              <a:srgbClr val="D8D2CA"/>
            </a:solidFill>
          </a:ln>
          <a:effectLst/>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731520" y="3739896"/>
            <a:ext cx="914400" cy="457200"/>
          </a:xfrm>
          <a:prstGeom prst="rect">
            <a:avLst/>
          </a:prstGeom>
          <a:noFill/>
          <a:effectLst/>
        </p:spPr>
        <p:txBody>
          <a:bodyPr wrap="square">
            <a:spAutoFit/>
          </a:bodyPr>
          <a:lstStyle/>
          <a:p>
            <a:pPr algn="l">
              <a:lnSpc>
                <a:spcPts val="3800"/>
              </a:lnSpc>
              <a:defRPr sz="2400" b="0" i="0">
                <a:solidFill>
                  <a:srgbClr val="400505"/>
                </a:solidFill>
                <a:latin typeface="Baskerville"/>
              </a:defRPr>
            </a:pPr>
            <a:r>
              <a:t>03</a:t>
            </a:r>
          </a:p>
        </p:txBody>
      </p:sp>
      <p:sp>
        <p:nvSpPr>
          <p:cNvPr id="12" name="TextBox 11"/>
          <p:cNvSpPr txBox="1"/>
          <p:nvPr/>
        </p:nvSpPr>
        <p:spPr>
          <a:xfrm>
            <a:off x="1828800" y="3767328"/>
            <a:ext cx="7315200" cy="457200"/>
          </a:xfrm>
          <a:prstGeom prst="rect">
            <a:avLst/>
          </a:prstGeom>
          <a:noFill/>
          <a:effectLst/>
        </p:spPr>
        <p:txBody>
          <a:bodyPr wrap="square">
            <a:spAutoFit/>
          </a:bodyPr>
          <a:lstStyle/>
          <a:p>
            <a:pPr algn="l">
              <a:lnSpc>
                <a:spcPts val="3200"/>
              </a:lnSpc>
              <a:defRPr sz="2000" b="0" i="0">
                <a:solidFill>
                  <a:srgbClr val="000000"/>
                </a:solidFill>
                <a:latin typeface="Baskerville"/>
              </a:defRPr>
            </a:pPr>
            <a:r>
              <a:t>Our Angle &amp; Categories</a:t>
            </a:r>
          </a:p>
        </p:txBody>
      </p:sp>
      <p:cxnSp>
        <p:nvCxnSpPr>
          <p:cNvPr id="13" name="Connector 12"/>
          <p:cNvCxnSpPr/>
          <p:nvPr/>
        </p:nvCxnSpPr>
        <p:spPr>
          <a:xfrm>
            <a:off x="731520" y="4215383"/>
            <a:ext cx="10515600" cy="0"/>
          </a:xfrm>
          <a:prstGeom prst="line">
            <a:avLst/>
          </a:prstGeom>
          <a:ln w="9525">
            <a:solidFill>
              <a:srgbClr val="D8D2CA"/>
            </a:solidFill>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31520" y="4306824"/>
            <a:ext cx="914400" cy="457200"/>
          </a:xfrm>
          <a:prstGeom prst="rect">
            <a:avLst/>
          </a:prstGeom>
          <a:noFill/>
          <a:effectLst/>
        </p:spPr>
        <p:txBody>
          <a:bodyPr wrap="square">
            <a:spAutoFit/>
          </a:bodyPr>
          <a:lstStyle/>
          <a:p>
            <a:pPr algn="l">
              <a:lnSpc>
                <a:spcPts val="3800"/>
              </a:lnSpc>
              <a:defRPr sz="2400" b="0" i="0">
                <a:solidFill>
                  <a:srgbClr val="400505"/>
                </a:solidFill>
                <a:latin typeface="Baskerville"/>
              </a:defRPr>
            </a:pPr>
            <a:r>
              <a:t>04</a:t>
            </a:r>
          </a:p>
        </p:txBody>
      </p:sp>
      <p:sp>
        <p:nvSpPr>
          <p:cNvPr id="15" name="TextBox 14"/>
          <p:cNvSpPr txBox="1"/>
          <p:nvPr/>
        </p:nvSpPr>
        <p:spPr>
          <a:xfrm>
            <a:off x="1828800" y="4334256"/>
            <a:ext cx="7315200" cy="457200"/>
          </a:xfrm>
          <a:prstGeom prst="rect">
            <a:avLst/>
          </a:prstGeom>
          <a:noFill/>
          <a:effectLst/>
        </p:spPr>
        <p:txBody>
          <a:bodyPr wrap="square">
            <a:spAutoFit/>
          </a:bodyPr>
          <a:lstStyle/>
          <a:p>
            <a:pPr algn="l">
              <a:lnSpc>
                <a:spcPts val="3200"/>
              </a:lnSpc>
              <a:defRPr sz="2000" b="0" i="0">
                <a:solidFill>
                  <a:srgbClr val="000000"/>
                </a:solidFill>
                <a:latin typeface="Baskerville"/>
              </a:defRPr>
            </a:pPr>
            <a:r>
              <a:t>The 12 Storylines</a:t>
            </a:r>
          </a:p>
        </p:txBody>
      </p:sp>
      <p:cxnSp>
        <p:nvCxnSpPr>
          <p:cNvPr id="16" name="Connector 15"/>
          <p:cNvCxnSpPr/>
          <p:nvPr/>
        </p:nvCxnSpPr>
        <p:spPr>
          <a:xfrm>
            <a:off x="731520" y="4782312"/>
            <a:ext cx="10515600" cy="0"/>
          </a:xfrm>
          <a:prstGeom prst="line">
            <a:avLst/>
          </a:prstGeom>
          <a:ln w="9525">
            <a:solidFill>
              <a:srgbClr val="D8D2CA"/>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731520" y="4873752"/>
            <a:ext cx="914400" cy="457200"/>
          </a:xfrm>
          <a:prstGeom prst="rect">
            <a:avLst/>
          </a:prstGeom>
          <a:noFill/>
          <a:effectLst/>
        </p:spPr>
        <p:txBody>
          <a:bodyPr wrap="square">
            <a:spAutoFit/>
          </a:bodyPr>
          <a:lstStyle/>
          <a:p>
            <a:pPr algn="l">
              <a:lnSpc>
                <a:spcPts val="3800"/>
              </a:lnSpc>
              <a:defRPr sz="2400" b="0" i="0">
                <a:solidFill>
                  <a:srgbClr val="400505"/>
                </a:solidFill>
                <a:latin typeface="Baskerville"/>
              </a:defRPr>
            </a:pPr>
            <a:r>
              <a:t>05</a:t>
            </a:r>
          </a:p>
        </p:txBody>
      </p:sp>
      <p:sp>
        <p:nvSpPr>
          <p:cNvPr id="18" name="TextBox 17"/>
          <p:cNvSpPr txBox="1"/>
          <p:nvPr/>
        </p:nvSpPr>
        <p:spPr>
          <a:xfrm>
            <a:off x="1828800" y="4901184"/>
            <a:ext cx="7315200" cy="457200"/>
          </a:xfrm>
          <a:prstGeom prst="rect">
            <a:avLst/>
          </a:prstGeom>
          <a:noFill/>
          <a:effectLst/>
        </p:spPr>
        <p:txBody>
          <a:bodyPr wrap="square">
            <a:spAutoFit/>
          </a:bodyPr>
          <a:lstStyle/>
          <a:p>
            <a:pPr algn="l">
              <a:lnSpc>
                <a:spcPts val="3200"/>
              </a:lnSpc>
              <a:defRPr sz="2000" b="0" i="0">
                <a:solidFill>
                  <a:srgbClr val="000000"/>
                </a:solidFill>
                <a:latin typeface="Baskerville"/>
              </a:defRPr>
            </a:pPr>
            <a:r>
              <a:t>Production Clusters</a:t>
            </a:r>
          </a:p>
        </p:txBody>
      </p:sp>
      <p:cxnSp>
        <p:nvCxnSpPr>
          <p:cNvPr id="19" name="Connector 18"/>
          <p:cNvCxnSpPr/>
          <p:nvPr/>
        </p:nvCxnSpPr>
        <p:spPr>
          <a:xfrm>
            <a:off x="731520" y="5349240"/>
            <a:ext cx="10515600" cy="0"/>
          </a:xfrm>
          <a:prstGeom prst="line">
            <a:avLst/>
          </a:prstGeom>
          <a:ln w="9525">
            <a:solidFill>
              <a:srgbClr val="D8D2CA"/>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731520" y="5440680"/>
            <a:ext cx="914400" cy="457200"/>
          </a:xfrm>
          <a:prstGeom prst="rect">
            <a:avLst/>
          </a:prstGeom>
          <a:noFill/>
          <a:effectLst/>
        </p:spPr>
        <p:txBody>
          <a:bodyPr wrap="square">
            <a:spAutoFit/>
          </a:bodyPr>
          <a:lstStyle/>
          <a:p>
            <a:pPr algn="l">
              <a:lnSpc>
                <a:spcPts val="3800"/>
              </a:lnSpc>
              <a:defRPr sz="2400" b="0" i="0">
                <a:solidFill>
                  <a:srgbClr val="400505"/>
                </a:solidFill>
                <a:latin typeface="Baskerville"/>
              </a:defRPr>
            </a:pPr>
            <a:r>
              <a:t>06</a:t>
            </a:r>
          </a:p>
        </p:txBody>
      </p:sp>
      <p:sp>
        <p:nvSpPr>
          <p:cNvPr id="21" name="TextBox 20"/>
          <p:cNvSpPr txBox="1"/>
          <p:nvPr/>
        </p:nvSpPr>
        <p:spPr>
          <a:xfrm>
            <a:off x="1828800" y="5468112"/>
            <a:ext cx="7315200" cy="457200"/>
          </a:xfrm>
          <a:prstGeom prst="rect">
            <a:avLst/>
          </a:prstGeom>
          <a:noFill/>
          <a:effectLst/>
        </p:spPr>
        <p:txBody>
          <a:bodyPr wrap="square">
            <a:spAutoFit/>
          </a:bodyPr>
          <a:lstStyle/>
          <a:p>
            <a:pPr algn="l">
              <a:lnSpc>
                <a:spcPts val="3200"/>
              </a:lnSpc>
              <a:defRPr sz="2000" b="0" i="0">
                <a:solidFill>
                  <a:srgbClr val="000000"/>
                </a:solidFill>
                <a:latin typeface="Baskerville"/>
              </a:defRPr>
            </a:pPr>
            <a:r>
              <a:t>The Application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4EE"/>
        </a:solidFill>
        <a:effectLst/>
      </p:bgPr>
    </p:bg>
    <p:spTree>
      <p:nvGrpSpPr>
        <p:cNvPr id="1" name=""/>
        <p:cNvGrpSpPr/>
        <p:nvPr/>
      </p:nvGrpSpPr>
      <p:grpSpPr/>
      <p:sp>
        <p:nvSpPr>
          <p:cNvPr id="2" name="TextBox 1"/>
          <p:cNvSpPr txBox="1"/>
          <p:nvPr/>
        </p:nvSpPr>
        <p:spPr>
          <a:xfrm>
            <a:off x="731520" y="457200"/>
            <a:ext cx="3657600" cy="365760"/>
          </a:xfrm>
          <a:prstGeom prst="rect">
            <a:avLst/>
          </a:prstGeom>
          <a:noFill/>
          <a:effectLst/>
        </p:spPr>
        <p:txBody>
          <a:bodyPr wrap="square">
            <a:spAutoFit/>
          </a:bodyPr>
          <a:lstStyle/>
          <a:p>
            <a:pPr algn="l">
              <a:lnSpc>
                <a:spcPts val="1700"/>
              </a:lnSpc>
              <a:defRPr sz="1100" b="0" i="0">
                <a:solidFill>
                  <a:srgbClr val="5C5C5C"/>
                </a:solidFill>
                <a:latin typeface="Fraunces"/>
              </a:defRPr>
            </a:pPr>
            <a:r>
              <a:t>ABOUT</a:t>
            </a:r>
          </a:p>
        </p:txBody>
      </p:sp>
      <p:sp>
        <p:nvSpPr>
          <p:cNvPr id="3" name="TextBox 2"/>
          <p:cNvSpPr txBox="1"/>
          <p:nvPr/>
        </p:nvSpPr>
        <p:spPr>
          <a:xfrm>
            <a:off x="731520" y="1188720"/>
            <a:ext cx="7315200" cy="914400"/>
          </a:xfrm>
          <a:prstGeom prst="rect">
            <a:avLst/>
          </a:prstGeom>
          <a:noFill/>
          <a:effectLst/>
        </p:spPr>
        <p:txBody>
          <a:bodyPr wrap="square">
            <a:spAutoFit/>
          </a:bodyPr>
          <a:lstStyle/>
          <a:p>
            <a:pPr algn="l">
              <a:lnSpc>
                <a:spcPts val="6400"/>
              </a:lnSpc>
              <a:defRPr sz="4000" b="0" i="0">
                <a:solidFill>
                  <a:srgbClr val="000000"/>
                </a:solidFill>
                <a:latin typeface="Baskerville"/>
              </a:defRPr>
            </a:pPr>
            <a:r>
              <a:t>About INLAND</a:t>
            </a:r>
          </a:p>
        </p:txBody>
      </p:sp>
      <p:cxnSp>
        <p:nvCxnSpPr>
          <p:cNvPr id="4" name="Connector 3"/>
          <p:cNvCxnSpPr/>
          <p:nvPr/>
        </p:nvCxnSpPr>
        <p:spPr>
          <a:xfrm>
            <a:off x="731520" y="2286000"/>
            <a:ext cx="10515600" cy="0"/>
          </a:xfrm>
          <a:prstGeom prst="line">
            <a:avLst/>
          </a:prstGeom>
          <a:ln w="9525">
            <a:solidFill>
              <a:srgbClr val="000000"/>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31520" y="2651760"/>
            <a:ext cx="6858000" cy="1828800"/>
          </a:xfrm>
          <a:prstGeom prst="rect">
            <a:avLst/>
          </a:prstGeom>
          <a:noFill/>
          <a:effectLst/>
        </p:spPr>
        <p:txBody>
          <a:bodyPr wrap="square">
            <a:spAutoFit/>
          </a:bodyPr>
          <a:lstStyle/>
          <a:p>
            <a:pPr algn="l">
              <a:lnSpc>
                <a:spcPts val="2700"/>
              </a:lnSpc>
              <a:defRPr sz="1700" b="0" i="0">
                <a:solidFill>
                  <a:srgbClr val="000000"/>
                </a:solidFill>
                <a:latin typeface="Baskerville"/>
              </a:defRPr>
            </a:pPr>
            <a:r>
              <a:t>INLAND is a yearly publication documenting the soul of countries before they change. Each issue embeds with named, locatable custodians of living traditions — artisans, pastoralists, cooks, singers, border families — whose stories have not yet been narrated internationally. Previous issues have covered the Faroe Islands, Georgia and Italy’s minor islands.</a:t>
            </a:r>
          </a:p>
        </p:txBody>
      </p:sp>
      <p:sp>
        <p:nvSpPr>
          <p:cNvPr id="6" name="TextBox 5"/>
          <p:cNvSpPr txBox="1"/>
          <p:nvPr/>
        </p:nvSpPr>
        <p:spPr>
          <a:xfrm>
            <a:off x="731520" y="4846320"/>
            <a:ext cx="6858000" cy="1371600"/>
          </a:xfrm>
          <a:prstGeom prst="rect">
            <a:avLst/>
          </a:prstGeom>
          <a:noFill/>
          <a:effectLst/>
        </p:spPr>
        <p:txBody>
          <a:bodyPr wrap="square">
            <a:spAutoFit/>
          </a:bodyPr>
          <a:lstStyle/>
          <a:p>
            <a:pPr algn="l">
              <a:lnSpc>
                <a:spcPts val="2200"/>
              </a:lnSpc>
              <a:defRPr sz="1400" b="0" i="0">
                <a:solidFill>
                  <a:srgbClr val="5C5C5C"/>
                </a:solidFill>
                <a:latin typeface="Baskerville"/>
              </a:defRPr>
            </a:pPr>
            <a:r>
              <a:t>The editorial method is slow, place-based and built on trust. We spend months in pre-production research, identify specific custodians and communities, then commission photographers, writers and filmmakers to embed with them over extended field periods. The result is long-form visual storytelling grounded in named people and real places.</a:t>
            </a:r>
          </a:p>
        </p:txBody>
      </p:sp>
      <p:sp>
        <p:nvSpPr>
          <p:cNvPr id="7" name="TextBox 6"/>
          <p:cNvSpPr txBox="1"/>
          <p:nvPr/>
        </p:nvSpPr>
        <p:spPr>
          <a:xfrm>
            <a:off x="8686800" y="2651760"/>
            <a:ext cx="2926080" cy="1371600"/>
          </a:xfrm>
          <a:prstGeom prst="rect">
            <a:avLst/>
          </a:prstGeom>
          <a:noFill/>
          <a:effectLst/>
        </p:spPr>
        <p:txBody>
          <a:bodyPr wrap="square">
            <a:spAutoFit/>
          </a:bodyPr>
          <a:lstStyle/>
          <a:p>
            <a:pPr algn="l">
              <a:lnSpc>
                <a:spcPts val="3800"/>
              </a:lnSpc>
              <a:defRPr sz="2400" b="0" i="1">
                <a:solidFill>
                  <a:srgbClr val="400505"/>
                </a:solidFill>
                <a:latin typeface="Baskerville"/>
              </a:defRPr>
            </a:pPr>
            <a:r>
              <a:t>Intimacy with</a:t>
            </a:r>
            <a:br/>
            <a:r>
              <a:t>custodians, not</a:t>
            </a:r>
            <a:br/>
            <a:r>
              <a:t>thematic surveys.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4EE"/>
        </a:solidFill>
        <a:effectLst/>
      </p:bgPr>
    </p:bg>
    <p:spTree>
      <p:nvGrpSpPr>
        <p:cNvPr id="1" name=""/>
        <p:cNvGrpSpPr/>
        <p:nvPr/>
      </p:nvGrpSpPr>
      <p:grpSpPr/>
      <p:sp>
        <p:nvSpPr>
          <p:cNvPr id="2" name="TextBox 1"/>
          <p:cNvSpPr txBox="1"/>
          <p:nvPr/>
        </p:nvSpPr>
        <p:spPr>
          <a:xfrm>
            <a:off x="731520" y="457200"/>
            <a:ext cx="3657600" cy="365760"/>
          </a:xfrm>
          <a:prstGeom prst="rect">
            <a:avLst/>
          </a:prstGeom>
          <a:noFill/>
          <a:effectLst/>
        </p:spPr>
        <p:txBody>
          <a:bodyPr wrap="square">
            <a:spAutoFit/>
          </a:bodyPr>
          <a:lstStyle/>
          <a:p>
            <a:pPr algn="l">
              <a:lnSpc>
                <a:spcPts val="1700"/>
              </a:lnSpc>
              <a:defRPr sz="1100" b="0" i="0">
                <a:solidFill>
                  <a:srgbClr val="5C5C5C"/>
                </a:solidFill>
                <a:latin typeface="Fraunces"/>
              </a:defRPr>
            </a:pPr>
            <a:r>
              <a:t>THE RESEARCH</a:t>
            </a:r>
          </a:p>
        </p:txBody>
      </p:sp>
      <p:sp>
        <p:nvSpPr>
          <p:cNvPr id="3" name="TextBox 2"/>
          <p:cNvSpPr txBox="1"/>
          <p:nvPr/>
        </p:nvSpPr>
        <p:spPr>
          <a:xfrm>
            <a:off x="731520" y="1188720"/>
            <a:ext cx="7315200" cy="914400"/>
          </a:xfrm>
          <a:prstGeom prst="rect">
            <a:avLst/>
          </a:prstGeom>
          <a:noFill/>
          <a:effectLst/>
        </p:spPr>
        <p:txBody>
          <a:bodyPr wrap="square">
            <a:spAutoFit/>
          </a:bodyPr>
          <a:lstStyle/>
          <a:p>
            <a:pPr algn="l">
              <a:lnSpc>
                <a:spcPts val="6400"/>
              </a:lnSpc>
              <a:defRPr sz="4000" b="0" i="0">
                <a:solidFill>
                  <a:srgbClr val="000000"/>
                </a:solidFill>
                <a:latin typeface="Baskerville"/>
              </a:defRPr>
            </a:pPr>
            <a:r>
              <a:t>Georgia — What Survived</a:t>
            </a:r>
          </a:p>
        </p:txBody>
      </p:sp>
      <p:cxnSp>
        <p:nvCxnSpPr>
          <p:cNvPr id="4" name="Connector 3"/>
          <p:cNvCxnSpPr/>
          <p:nvPr/>
        </p:nvCxnSpPr>
        <p:spPr>
          <a:xfrm>
            <a:off x="731520" y="2286000"/>
            <a:ext cx="10515600" cy="0"/>
          </a:xfrm>
          <a:prstGeom prst="line">
            <a:avLst/>
          </a:prstGeom>
          <a:ln w="9525">
            <a:solidFill>
              <a:srgbClr val="000000"/>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31520" y="2651760"/>
            <a:ext cx="6858000" cy="2194560"/>
          </a:xfrm>
          <a:prstGeom prst="rect">
            <a:avLst/>
          </a:prstGeom>
          <a:noFill/>
          <a:effectLst/>
        </p:spPr>
        <p:txBody>
          <a:bodyPr wrap="square">
            <a:spAutoFit/>
          </a:bodyPr>
          <a:lstStyle/>
          <a:p>
            <a:pPr algn="l">
              <a:lnSpc>
                <a:spcPts val="2500"/>
              </a:lnSpc>
              <a:defRPr sz="1600" b="0" i="0">
                <a:solidFill>
                  <a:srgbClr val="000000"/>
                </a:solidFill>
                <a:latin typeface="Baskerville"/>
              </a:defRPr>
            </a:pPr>
            <a:r>
              <a:t>Georgia is internationally legible through three loud stories — the 2008 war and the occupied lines of Abkhazia and South Ossetia, the recurring Tbilisi protests over the country’s European future, and the wine-and-feast tourism brand. All three are loud; all three crowd out the quieter country. INLAND asks one question across every lead: what survived? What persists in the high valleys and a few plains communities that has been absorbed by neither empire, Soviet rule, the market, nor the national brand — and can still be witnessed and photographed today.</a:t>
            </a:r>
          </a:p>
        </p:txBody>
      </p:sp>
      <p:sp>
        <p:nvSpPr>
          <p:cNvPr id="6" name="TextBox 5"/>
          <p:cNvSpPr txBox="1"/>
          <p:nvPr/>
        </p:nvSpPr>
        <p:spPr>
          <a:xfrm>
            <a:off x="731520" y="5394960"/>
            <a:ext cx="6858000" cy="1280160"/>
          </a:xfrm>
          <a:prstGeom prst="rect">
            <a:avLst/>
          </a:prstGeom>
          <a:noFill/>
          <a:effectLst/>
        </p:spPr>
        <p:txBody>
          <a:bodyPr wrap="square">
            <a:spAutoFit/>
          </a:bodyPr>
          <a:lstStyle/>
          <a:p>
            <a:pPr algn="l">
              <a:lnSpc>
                <a:spcPts val="2000"/>
              </a:lnSpc>
              <a:defRPr sz="1300" b="0" i="0">
                <a:solidFill>
                  <a:srgbClr val="5C5C5C"/>
                </a:solidFill>
                <a:latin typeface="Baskerville"/>
              </a:defRPr>
            </a:pPr>
            <a:r>
              <a:t>Our desk research identified 16 story leads across pastoral life, song, faith, craft, food and memory. From these, twelve have been selected for the proposed project — each centred on a practice that can still be witnessed, a specific place, and a named custodian or community in the tradition of W. Eugene Smith’s concerned, humanistic documentary.</a:t>
            </a:r>
          </a:p>
        </p:txBody>
      </p:sp>
      <p:sp>
        <p:nvSpPr>
          <p:cNvPr id="7" name="TextBox 6"/>
          <p:cNvSpPr txBox="1"/>
          <p:nvPr/>
        </p:nvSpPr>
        <p:spPr>
          <a:xfrm>
            <a:off x="8869680" y="2468880"/>
            <a:ext cx="2743200" cy="1097280"/>
          </a:xfrm>
          <a:prstGeom prst="rect">
            <a:avLst/>
          </a:prstGeom>
          <a:noFill/>
          <a:effectLst/>
        </p:spPr>
        <p:txBody>
          <a:bodyPr wrap="square">
            <a:spAutoFit/>
          </a:bodyPr>
          <a:lstStyle/>
          <a:p>
            <a:pPr algn="l">
              <a:lnSpc>
                <a:spcPts val="12800"/>
              </a:lnSpc>
              <a:defRPr sz="8000" b="0" i="0">
                <a:solidFill>
                  <a:srgbClr val="400505"/>
                </a:solidFill>
                <a:latin typeface="Baskerville"/>
              </a:defRPr>
            </a:pPr>
            <a:r>
              <a:t>16</a:t>
            </a:r>
          </a:p>
        </p:txBody>
      </p:sp>
      <p:sp>
        <p:nvSpPr>
          <p:cNvPr id="8" name="TextBox 7"/>
          <p:cNvSpPr txBox="1"/>
          <p:nvPr/>
        </p:nvSpPr>
        <p:spPr>
          <a:xfrm>
            <a:off x="8869680" y="3474720"/>
            <a:ext cx="2743200" cy="365760"/>
          </a:xfrm>
          <a:prstGeom prst="rect">
            <a:avLst/>
          </a:prstGeom>
          <a:noFill/>
          <a:effectLst/>
        </p:spPr>
        <p:txBody>
          <a:bodyPr wrap="square">
            <a:spAutoFit/>
          </a:bodyPr>
          <a:lstStyle/>
          <a:p>
            <a:pPr algn="l">
              <a:lnSpc>
                <a:spcPts val="1700"/>
              </a:lnSpc>
              <a:defRPr sz="1100" b="0" i="0">
                <a:solidFill>
                  <a:srgbClr val="5C5C5C"/>
                </a:solidFill>
                <a:latin typeface="Fraunces"/>
              </a:defRPr>
            </a:pPr>
            <a:r>
              <a:t>story leads researched</a:t>
            </a:r>
          </a:p>
        </p:txBody>
      </p:sp>
      <p:sp>
        <p:nvSpPr>
          <p:cNvPr id="9" name="TextBox 8"/>
          <p:cNvSpPr txBox="1"/>
          <p:nvPr/>
        </p:nvSpPr>
        <p:spPr>
          <a:xfrm>
            <a:off x="8869680" y="4114800"/>
            <a:ext cx="2743200" cy="1097280"/>
          </a:xfrm>
          <a:prstGeom prst="rect">
            <a:avLst/>
          </a:prstGeom>
          <a:noFill/>
          <a:effectLst/>
        </p:spPr>
        <p:txBody>
          <a:bodyPr wrap="square">
            <a:spAutoFit/>
          </a:bodyPr>
          <a:lstStyle/>
          <a:p>
            <a:pPr algn="l">
              <a:lnSpc>
                <a:spcPts val="12800"/>
              </a:lnSpc>
              <a:defRPr sz="8000" b="0" i="0">
                <a:solidFill>
                  <a:srgbClr val="400505"/>
                </a:solidFill>
                <a:latin typeface="Baskerville"/>
              </a:defRPr>
            </a:pPr>
            <a:r>
              <a:t>12</a:t>
            </a:r>
          </a:p>
        </p:txBody>
      </p:sp>
      <p:sp>
        <p:nvSpPr>
          <p:cNvPr id="10" name="TextBox 9"/>
          <p:cNvSpPr txBox="1"/>
          <p:nvPr/>
        </p:nvSpPr>
        <p:spPr>
          <a:xfrm>
            <a:off x="8869680" y="5120640"/>
            <a:ext cx="2743200" cy="365760"/>
          </a:xfrm>
          <a:prstGeom prst="rect">
            <a:avLst/>
          </a:prstGeom>
          <a:noFill/>
          <a:effectLst/>
        </p:spPr>
        <p:txBody>
          <a:bodyPr wrap="square">
            <a:spAutoFit/>
          </a:bodyPr>
          <a:lstStyle/>
          <a:p>
            <a:pPr algn="l">
              <a:lnSpc>
                <a:spcPts val="1700"/>
              </a:lnSpc>
              <a:defRPr sz="1100" b="0" i="0">
                <a:solidFill>
                  <a:srgbClr val="5C5C5C"/>
                </a:solidFill>
                <a:latin typeface="Fraunces"/>
              </a:defRPr>
            </a:pPr>
            <a:r>
              <a:t>selected for the project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4EE"/>
        </a:solidFill>
        <a:effectLst/>
      </p:bgPr>
    </p:bg>
    <p:spTree>
      <p:nvGrpSpPr>
        <p:cNvPr id="1" name=""/>
        <p:cNvGrpSpPr/>
        <p:nvPr/>
      </p:nvGrpSpPr>
      <p:grpSpPr/>
      <p:sp>
        <p:nvSpPr>
          <p:cNvPr id="2" name="TextBox 1"/>
          <p:cNvSpPr txBox="1"/>
          <p:nvPr/>
        </p:nvSpPr>
        <p:spPr>
          <a:xfrm>
            <a:off x="731520" y="457200"/>
            <a:ext cx="3657600" cy="365760"/>
          </a:xfrm>
          <a:prstGeom prst="rect">
            <a:avLst/>
          </a:prstGeom>
          <a:noFill/>
          <a:effectLst/>
        </p:spPr>
        <p:txBody>
          <a:bodyPr wrap="square">
            <a:spAutoFit/>
          </a:bodyPr>
          <a:lstStyle/>
          <a:p>
            <a:pPr algn="l">
              <a:lnSpc>
                <a:spcPts val="1700"/>
              </a:lnSpc>
              <a:defRPr sz="1100" b="0" i="0">
                <a:solidFill>
                  <a:srgbClr val="5C5C5C"/>
                </a:solidFill>
                <a:latin typeface="Fraunces"/>
              </a:defRPr>
            </a:pPr>
            <a:r>
              <a:t>EDITORIAL ANGLE</a:t>
            </a:r>
          </a:p>
        </p:txBody>
      </p:sp>
      <p:sp>
        <p:nvSpPr>
          <p:cNvPr id="3" name="TextBox 2"/>
          <p:cNvSpPr txBox="1"/>
          <p:nvPr/>
        </p:nvSpPr>
        <p:spPr>
          <a:xfrm>
            <a:off x="731520" y="1188720"/>
            <a:ext cx="7315200" cy="914400"/>
          </a:xfrm>
          <a:prstGeom prst="rect">
            <a:avLst/>
          </a:prstGeom>
          <a:noFill/>
          <a:effectLst/>
        </p:spPr>
        <p:txBody>
          <a:bodyPr wrap="square">
            <a:spAutoFit/>
          </a:bodyPr>
          <a:lstStyle/>
          <a:p>
            <a:pPr algn="l">
              <a:lnSpc>
                <a:spcPts val="6400"/>
              </a:lnSpc>
              <a:defRPr sz="4000" b="0" i="0">
                <a:solidFill>
                  <a:srgbClr val="000000"/>
                </a:solidFill>
                <a:latin typeface="Baskerville"/>
              </a:defRPr>
            </a:pPr>
            <a:r>
              <a:t>Our Angle</a:t>
            </a:r>
          </a:p>
        </p:txBody>
      </p:sp>
      <p:cxnSp>
        <p:nvCxnSpPr>
          <p:cNvPr id="4" name="Connector 3"/>
          <p:cNvCxnSpPr/>
          <p:nvPr/>
        </p:nvCxnSpPr>
        <p:spPr>
          <a:xfrm>
            <a:off x="731520" y="2286000"/>
            <a:ext cx="10515600" cy="0"/>
          </a:xfrm>
          <a:prstGeom prst="line">
            <a:avLst/>
          </a:prstGeom>
          <a:ln w="9525">
            <a:solidFill>
              <a:srgbClr val="000000"/>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31520" y="2651760"/>
            <a:ext cx="6858000" cy="2194560"/>
          </a:xfrm>
          <a:prstGeom prst="rect">
            <a:avLst/>
          </a:prstGeom>
          <a:noFill/>
          <a:effectLst/>
        </p:spPr>
        <p:txBody>
          <a:bodyPr wrap="square">
            <a:spAutoFit/>
          </a:bodyPr>
          <a:lstStyle/>
          <a:p>
            <a:pPr algn="l">
              <a:lnSpc>
                <a:spcPts val="2500"/>
              </a:lnSpc>
              <a:defRPr sz="1600" b="0" i="0">
                <a:solidFill>
                  <a:srgbClr val="000000"/>
                </a:solidFill>
                <a:latin typeface="Baskerville"/>
              </a:defRPr>
            </a:pPr>
            <a:r>
              <a:t>We read Georgia through the people who keep its endangered knowledge: the mounted transhumance over the Abano Pass, the defence-tower families of Ushguli, the pre-Christian sun-hymns of Svaneti, the only women’s Sufi zikr in the South Caucasus at Duisi, the wine made under the floor of the house, and a 26-century Jewish diaspora down to its last worshippers. The occupation lines and the protests are context, never the lens; the state is never cast as villain.</a:t>
            </a:r>
          </a:p>
        </p:txBody>
      </p:sp>
      <p:sp>
        <p:nvSpPr>
          <p:cNvPr id="6" name="TextBox 5"/>
          <p:cNvSpPr txBox="1"/>
          <p:nvPr/>
        </p:nvSpPr>
        <p:spPr>
          <a:xfrm>
            <a:off x="731520" y="5303520"/>
            <a:ext cx="6858000" cy="1280160"/>
          </a:xfrm>
          <a:prstGeom prst="rect">
            <a:avLst/>
          </a:prstGeom>
          <a:noFill/>
          <a:effectLst/>
        </p:spPr>
        <p:txBody>
          <a:bodyPr wrap="square">
            <a:spAutoFit/>
          </a:bodyPr>
          <a:lstStyle/>
          <a:p>
            <a:pPr algn="l">
              <a:lnSpc>
                <a:spcPts val="2000"/>
              </a:lnSpc>
              <a:defRPr sz="1300" b="0" i="0">
                <a:solidFill>
                  <a:srgbClr val="5C5C5C"/>
                </a:solidFill>
                <a:latin typeface="Baskerville"/>
              </a:defRPr>
            </a:pPr>
            <a:r>
              <a:t>This is the humanistic documentary the W. Eugene Smith Grant exists to fund: a long-term, compassionate essay about the human condition, made with named custodians rather than about them. INLAND’s published Georgia edition (Issue 02, 2024) is the photographer’s prior cohesive body of work; the grant would underwrite the extended field embedding that carries it deeper — continuity over crisis, dignity over spectacle.</a:t>
            </a:r>
          </a:p>
        </p:txBody>
      </p:sp>
      <p:sp>
        <p:nvSpPr>
          <p:cNvPr id="7" name="TextBox 6"/>
          <p:cNvSpPr txBox="1"/>
          <p:nvPr/>
        </p:nvSpPr>
        <p:spPr>
          <a:xfrm>
            <a:off x="8869680" y="2468880"/>
            <a:ext cx="3200400" cy="365760"/>
          </a:xfrm>
          <a:prstGeom prst="rect">
            <a:avLst/>
          </a:prstGeom>
          <a:noFill/>
          <a:effectLst/>
        </p:spPr>
        <p:txBody>
          <a:bodyPr wrap="square">
            <a:spAutoFit/>
          </a:bodyPr>
          <a:lstStyle/>
          <a:p>
            <a:pPr algn="l">
              <a:lnSpc>
                <a:spcPts val="1700"/>
              </a:lnSpc>
              <a:defRPr sz="1100" b="0" i="0">
                <a:solidFill>
                  <a:srgbClr val="5C5C5C"/>
                </a:solidFill>
                <a:latin typeface="Fraunces"/>
              </a:defRPr>
            </a:pPr>
            <a:r>
              <a:t>CATEGORIES</a:t>
            </a:r>
          </a:p>
        </p:txBody>
      </p:sp>
      <p:cxnSp>
        <p:nvCxnSpPr>
          <p:cNvPr id="8" name="Connector 7"/>
          <p:cNvCxnSpPr/>
          <p:nvPr/>
        </p:nvCxnSpPr>
        <p:spPr>
          <a:xfrm>
            <a:off x="8869680" y="2880360"/>
            <a:ext cx="2651760" cy="0"/>
          </a:xfrm>
          <a:prstGeom prst="line">
            <a:avLst/>
          </a:prstGeom>
          <a:ln w="9525">
            <a:solidFill>
              <a:srgbClr val="000000"/>
            </a:solidFill>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8869680" y="3035808"/>
            <a:ext cx="2286000" cy="365760"/>
          </a:xfrm>
          <a:prstGeom prst="rect">
            <a:avLst/>
          </a:prstGeom>
          <a:noFill/>
          <a:effectLst/>
        </p:spPr>
        <p:txBody>
          <a:bodyPr wrap="square">
            <a:spAutoFit/>
          </a:bodyPr>
          <a:lstStyle/>
          <a:p>
            <a:pPr algn="l">
              <a:lnSpc>
                <a:spcPts val="2200"/>
              </a:lnSpc>
              <a:defRPr sz="1400" b="0" i="0">
                <a:solidFill>
                  <a:srgbClr val="000000"/>
                </a:solidFill>
                <a:latin typeface="Baskerville"/>
              </a:defRPr>
            </a:pPr>
            <a:r>
              <a:t>Arts &amp; Culture</a:t>
            </a:r>
          </a:p>
        </p:txBody>
      </p:sp>
      <p:sp>
        <p:nvSpPr>
          <p:cNvPr id="10" name="TextBox 9"/>
          <p:cNvSpPr txBox="1"/>
          <p:nvPr/>
        </p:nvSpPr>
        <p:spPr>
          <a:xfrm>
            <a:off x="11064240" y="3035808"/>
            <a:ext cx="914400" cy="365760"/>
          </a:xfrm>
          <a:prstGeom prst="rect">
            <a:avLst/>
          </a:prstGeom>
          <a:noFill/>
          <a:effectLst/>
        </p:spPr>
        <p:txBody>
          <a:bodyPr wrap="square">
            <a:spAutoFit/>
          </a:bodyPr>
          <a:lstStyle/>
          <a:p>
            <a:pPr algn="r">
              <a:lnSpc>
                <a:spcPts val="2200"/>
              </a:lnSpc>
              <a:defRPr sz="1400" b="1" i="0">
                <a:solidFill>
                  <a:srgbClr val="400505"/>
                </a:solidFill>
                <a:latin typeface="Baskerville"/>
              </a:defRPr>
            </a:pPr>
            <a:r>
              <a:t>3</a:t>
            </a:r>
          </a:p>
        </p:txBody>
      </p:sp>
      <p:cxnSp>
        <p:nvCxnSpPr>
          <p:cNvPr id="11" name="Connector 10"/>
          <p:cNvCxnSpPr/>
          <p:nvPr/>
        </p:nvCxnSpPr>
        <p:spPr>
          <a:xfrm>
            <a:off x="8869680" y="3392424"/>
            <a:ext cx="2651760" cy="0"/>
          </a:xfrm>
          <a:prstGeom prst="line">
            <a:avLst/>
          </a:prstGeom>
          <a:ln w="9525">
            <a:solidFill>
              <a:srgbClr val="D8D2CA"/>
            </a:solidFill>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8869680" y="3456432"/>
            <a:ext cx="2286000" cy="365760"/>
          </a:xfrm>
          <a:prstGeom prst="rect">
            <a:avLst/>
          </a:prstGeom>
          <a:noFill/>
          <a:effectLst/>
        </p:spPr>
        <p:txBody>
          <a:bodyPr wrap="square">
            <a:spAutoFit/>
          </a:bodyPr>
          <a:lstStyle/>
          <a:p>
            <a:pPr algn="l">
              <a:lnSpc>
                <a:spcPts val="2200"/>
              </a:lnSpc>
              <a:defRPr sz="1400" b="0" i="0">
                <a:solidFill>
                  <a:srgbClr val="000000"/>
                </a:solidFill>
                <a:latin typeface="Baskerville"/>
              </a:defRPr>
            </a:pPr>
            <a:r>
              <a:t>Food</a:t>
            </a:r>
          </a:p>
        </p:txBody>
      </p:sp>
      <p:sp>
        <p:nvSpPr>
          <p:cNvPr id="13" name="TextBox 12"/>
          <p:cNvSpPr txBox="1"/>
          <p:nvPr/>
        </p:nvSpPr>
        <p:spPr>
          <a:xfrm>
            <a:off x="11064240" y="3456432"/>
            <a:ext cx="914400" cy="365760"/>
          </a:xfrm>
          <a:prstGeom prst="rect">
            <a:avLst/>
          </a:prstGeom>
          <a:noFill/>
          <a:effectLst/>
        </p:spPr>
        <p:txBody>
          <a:bodyPr wrap="square">
            <a:spAutoFit/>
          </a:bodyPr>
          <a:lstStyle/>
          <a:p>
            <a:pPr algn="r">
              <a:lnSpc>
                <a:spcPts val="2200"/>
              </a:lnSpc>
              <a:defRPr sz="1400" b="1" i="0">
                <a:solidFill>
                  <a:srgbClr val="400505"/>
                </a:solidFill>
                <a:latin typeface="Baskerville"/>
              </a:defRPr>
            </a:pPr>
            <a:r>
              <a:t>2</a:t>
            </a:r>
          </a:p>
        </p:txBody>
      </p:sp>
      <p:cxnSp>
        <p:nvCxnSpPr>
          <p:cNvPr id="14" name="Connector 13"/>
          <p:cNvCxnSpPr/>
          <p:nvPr/>
        </p:nvCxnSpPr>
        <p:spPr>
          <a:xfrm>
            <a:off x="8869680" y="3813048"/>
            <a:ext cx="2651760" cy="0"/>
          </a:xfrm>
          <a:prstGeom prst="line">
            <a:avLst/>
          </a:prstGeom>
          <a:ln w="9525">
            <a:solidFill>
              <a:srgbClr val="D8D2CA"/>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8869680" y="3877056"/>
            <a:ext cx="2286000" cy="365760"/>
          </a:xfrm>
          <a:prstGeom prst="rect">
            <a:avLst/>
          </a:prstGeom>
          <a:noFill/>
          <a:effectLst/>
        </p:spPr>
        <p:txBody>
          <a:bodyPr wrap="square">
            <a:spAutoFit/>
          </a:bodyPr>
          <a:lstStyle/>
          <a:p>
            <a:pPr algn="l">
              <a:lnSpc>
                <a:spcPts val="2200"/>
              </a:lnSpc>
              <a:defRPr sz="1400" b="0" i="0">
                <a:solidFill>
                  <a:srgbClr val="000000"/>
                </a:solidFill>
                <a:latin typeface="Baskerville"/>
              </a:defRPr>
            </a:pPr>
            <a:r>
              <a:t>Myth &amp; Religion</a:t>
            </a:r>
          </a:p>
        </p:txBody>
      </p:sp>
      <p:sp>
        <p:nvSpPr>
          <p:cNvPr id="16" name="TextBox 15"/>
          <p:cNvSpPr txBox="1"/>
          <p:nvPr/>
        </p:nvSpPr>
        <p:spPr>
          <a:xfrm>
            <a:off x="11064240" y="3877056"/>
            <a:ext cx="914400" cy="365760"/>
          </a:xfrm>
          <a:prstGeom prst="rect">
            <a:avLst/>
          </a:prstGeom>
          <a:noFill/>
          <a:effectLst/>
        </p:spPr>
        <p:txBody>
          <a:bodyPr wrap="square">
            <a:spAutoFit/>
          </a:bodyPr>
          <a:lstStyle/>
          <a:p>
            <a:pPr algn="r">
              <a:lnSpc>
                <a:spcPts val="2200"/>
              </a:lnSpc>
              <a:defRPr sz="1400" b="1" i="0">
                <a:solidFill>
                  <a:srgbClr val="400505"/>
                </a:solidFill>
                <a:latin typeface="Baskerville"/>
              </a:defRPr>
            </a:pPr>
            <a:r>
              <a:t>2</a:t>
            </a:r>
          </a:p>
        </p:txBody>
      </p:sp>
      <p:cxnSp>
        <p:nvCxnSpPr>
          <p:cNvPr id="17" name="Connector 16"/>
          <p:cNvCxnSpPr/>
          <p:nvPr/>
        </p:nvCxnSpPr>
        <p:spPr>
          <a:xfrm>
            <a:off x="8869680" y="4233672"/>
            <a:ext cx="2651760" cy="0"/>
          </a:xfrm>
          <a:prstGeom prst="line">
            <a:avLst/>
          </a:prstGeom>
          <a:ln w="9525">
            <a:solidFill>
              <a:srgbClr val="D8D2CA"/>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8869680" y="4297680"/>
            <a:ext cx="2286000" cy="365760"/>
          </a:xfrm>
          <a:prstGeom prst="rect">
            <a:avLst/>
          </a:prstGeom>
          <a:noFill/>
          <a:effectLst/>
        </p:spPr>
        <p:txBody>
          <a:bodyPr wrap="square">
            <a:spAutoFit/>
          </a:bodyPr>
          <a:lstStyle/>
          <a:p>
            <a:pPr algn="l">
              <a:lnSpc>
                <a:spcPts val="2200"/>
              </a:lnSpc>
              <a:defRPr sz="1400" b="0" i="0">
                <a:solidFill>
                  <a:srgbClr val="000000"/>
                </a:solidFill>
                <a:latin typeface="Baskerville"/>
              </a:defRPr>
            </a:pPr>
            <a:r>
              <a:t>Local communities</a:t>
            </a:r>
          </a:p>
        </p:txBody>
      </p:sp>
      <p:sp>
        <p:nvSpPr>
          <p:cNvPr id="19" name="TextBox 18"/>
          <p:cNvSpPr txBox="1"/>
          <p:nvPr/>
        </p:nvSpPr>
        <p:spPr>
          <a:xfrm>
            <a:off x="11064240" y="4297680"/>
            <a:ext cx="914400" cy="365760"/>
          </a:xfrm>
          <a:prstGeom prst="rect">
            <a:avLst/>
          </a:prstGeom>
          <a:noFill/>
          <a:effectLst/>
        </p:spPr>
        <p:txBody>
          <a:bodyPr wrap="square">
            <a:spAutoFit/>
          </a:bodyPr>
          <a:lstStyle/>
          <a:p>
            <a:pPr algn="r">
              <a:lnSpc>
                <a:spcPts val="2200"/>
              </a:lnSpc>
              <a:defRPr sz="1400" b="1" i="0">
                <a:solidFill>
                  <a:srgbClr val="400505"/>
                </a:solidFill>
                <a:latin typeface="Baskerville"/>
              </a:defRPr>
            </a:pPr>
            <a:r>
              <a:t>2</a:t>
            </a:r>
          </a:p>
        </p:txBody>
      </p:sp>
      <p:cxnSp>
        <p:nvCxnSpPr>
          <p:cNvPr id="20" name="Connector 19"/>
          <p:cNvCxnSpPr/>
          <p:nvPr/>
        </p:nvCxnSpPr>
        <p:spPr>
          <a:xfrm>
            <a:off x="8869680" y="4654296"/>
            <a:ext cx="2651760" cy="0"/>
          </a:xfrm>
          <a:prstGeom prst="line">
            <a:avLst/>
          </a:prstGeom>
          <a:ln w="9525">
            <a:solidFill>
              <a:srgbClr val="D8D2CA"/>
            </a:solidFill>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8869680" y="4718304"/>
            <a:ext cx="2286000" cy="365760"/>
          </a:xfrm>
          <a:prstGeom prst="rect">
            <a:avLst/>
          </a:prstGeom>
          <a:noFill/>
          <a:effectLst/>
        </p:spPr>
        <p:txBody>
          <a:bodyPr wrap="square">
            <a:spAutoFit/>
          </a:bodyPr>
          <a:lstStyle/>
          <a:p>
            <a:pPr algn="l">
              <a:lnSpc>
                <a:spcPts val="2200"/>
              </a:lnSpc>
              <a:defRPr sz="1400" b="0" i="0">
                <a:solidFill>
                  <a:srgbClr val="000000"/>
                </a:solidFill>
                <a:latin typeface="Baskerville"/>
              </a:defRPr>
            </a:pPr>
            <a:r>
              <a:t>History</a:t>
            </a:r>
          </a:p>
        </p:txBody>
      </p:sp>
      <p:sp>
        <p:nvSpPr>
          <p:cNvPr id="22" name="TextBox 21"/>
          <p:cNvSpPr txBox="1"/>
          <p:nvPr/>
        </p:nvSpPr>
        <p:spPr>
          <a:xfrm>
            <a:off x="11064240" y="4718304"/>
            <a:ext cx="914400" cy="365760"/>
          </a:xfrm>
          <a:prstGeom prst="rect">
            <a:avLst/>
          </a:prstGeom>
          <a:noFill/>
          <a:effectLst/>
        </p:spPr>
        <p:txBody>
          <a:bodyPr wrap="square">
            <a:spAutoFit/>
          </a:bodyPr>
          <a:lstStyle/>
          <a:p>
            <a:pPr algn="r">
              <a:lnSpc>
                <a:spcPts val="2200"/>
              </a:lnSpc>
              <a:defRPr sz="1400" b="1" i="0">
                <a:solidFill>
                  <a:srgbClr val="400505"/>
                </a:solidFill>
                <a:latin typeface="Baskerville"/>
              </a:defRPr>
            </a:pPr>
            <a:r>
              <a:t>1</a:t>
            </a:r>
          </a:p>
        </p:txBody>
      </p:sp>
      <p:cxnSp>
        <p:nvCxnSpPr>
          <p:cNvPr id="23" name="Connector 22"/>
          <p:cNvCxnSpPr/>
          <p:nvPr/>
        </p:nvCxnSpPr>
        <p:spPr>
          <a:xfrm>
            <a:off x="8869680" y="5074920"/>
            <a:ext cx="2651760" cy="0"/>
          </a:xfrm>
          <a:prstGeom prst="line">
            <a:avLst/>
          </a:prstGeom>
          <a:ln w="9525">
            <a:solidFill>
              <a:srgbClr val="D8D2CA"/>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8869680" y="5138928"/>
            <a:ext cx="2286000" cy="365760"/>
          </a:xfrm>
          <a:prstGeom prst="rect">
            <a:avLst/>
          </a:prstGeom>
          <a:noFill/>
          <a:effectLst/>
        </p:spPr>
        <p:txBody>
          <a:bodyPr wrap="square">
            <a:spAutoFit/>
          </a:bodyPr>
          <a:lstStyle/>
          <a:p>
            <a:pPr algn="l">
              <a:lnSpc>
                <a:spcPts val="2200"/>
              </a:lnSpc>
              <a:defRPr sz="1400" b="0" i="0">
                <a:solidFill>
                  <a:srgbClr val="000000"/>
                </a:solidFill>
                <a:latin typeface="Baskerville"/>
              </a:defRPr>
            </a:pPr>
            <a:r>
              <a:t>Nature</a:t>
            </a:r>
          </a:p>
        </p:txBody>
      </p:sp>
      <p:sp>
        <p:nvSpPr>
          <p:cNvPr id="25" name="TextBox 24"/>
          <p:cNvSpPr txBox="1"/>
          <p:nvPr/>
        </p:nvSpPr>
        <p:spPr>
          <a:xfrm>
            <a:off x="11064240" y="5138928"/>
            <a:ext cx="914400" cy="365760"/>
          </a:xfrm>
          <a:prstGeom prst="rect">
            <a:avLst/>
          </a:prstGeom>
          <a:noFill/>
          <a:effectLst/>
        </p:spPr>
        <p:txBody>
          <a:bodyPr wrap="square">
            <a:spAutoFit/>
          </a:bodyPr>
          <a:lstStyle/>
          <a:p>
            <a:pPr algn="r">
              <a:lnSpc>
                <a:spcPts val="2200"/>
              </a:lnSpc>
              <a:defRPr sz="1400" b="1" i="0">
                <a:solidFill>
                  <a:srgbClr val="400505"/>
                </a:solidFill>
                <a:latin typeface="Baskerville"/>
              </a:defRPr>
            </a:pPr>
            <a:r>
              <a:t>1</a:t>
            </a:r>
          </a:p>
        </p:txBody>
      </p:sp>
      <p:cxnSp>
        <p:nvCxnSpPr>
          <p:cNvPr id="26" name="Connector 25"/>
          <p:cNvCxnSpPr/>
          <p:nvPr/>
        </p:nvCxnSpPr>
        <p:spPr>
          <a:xfrm>
            <a:off x="8869680" y="5495544"/>
            <a:ext cx="2651760" cy="0"/>
          </a:xfrm>
          <a:prstGeom prst="line">
            <a:avLst/>
          </a:prstGeom>
          <a:ln w="9525">
            <a:solidFill>
              <a:srgbClr val="D8D2CA"/>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869680" y="5559552"/>
            <a:ext cx="2286000" cy="365760"/>
          </a:xfrm>
          <a:prstGeom prst="rect">
            <a:avLst/>
          </a:prstGeom>
          <a:noFill/>
          <a:effectLst/>
        </p:spPr>
        <p:txBody>
          <a:bodyPr wrap="square">
            <a:spAutoFit/>
          </a:bodyPr>
          <a:lstStyle/>
          <a:p>
            <a:pPr algn="l">
              <a:lnSpc>
                <a:spcPts val="2200"/>
              </a:lnSpc>
              <a:defRPr sz="1400" b="0" i="0">
                <a:solidFill>
                  <a:srgbClr val="000000"/>
                </a:solidFill>
                <a:latin typeface="Baskerville"/>
              </a:defRPr>
            </a:pPr>
            <a:r>
              <a:t>Geopolitics</a:t>
            </a:r>
          </a:p>
        </p:txBody>
      </p:sp>
      <p:sp>
        <p:nvSpPr>
          <p:cNvPr id="28" name="TextBox 27"/>
          <p:cNvSpPr txBox="1"/>
          <p:nvPr/>
        </p:nvSpPr>
        <p:spPr>
          <a:xfrm>
            <a:off x="11064240" y="5559552"/>
            <a:ext cx="914400" cy="365760"/>
          </a:xfrm>
          <a:prstGeom prst="rect">
            <a:avLst/>
          </a:prstGeom>
          <a:noFill/>
          <a:effectLst/>
        </p:spPr>
        <p:txBody>
          <a:bodyPr wrap="square">
            <a:spAutoFit/>
          </a:bodyPr>
          <a:lstStyle/>
          <a:p>
            <a:pPr algn="r">
              <a:lnSpc>
                <a:spcPts val="2200"/>
              </a:lnSpc>
              <a:defRPr sz="1400" b="1" i="0">
                <a:solidFill>
                  <a:srgbClr val="400505"/>
                </a:solidFill>
                <a:latin typeface="Baskerville"/>
              </a:defRPr>
            </a:pPr>
            <a:r>
              <a:t>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E0E0E"/>
        </a:solidFill>
        <a:effectLst/>
      </p:bgPr>
    </p:bg>
    <p:spTree>
      <p:nvGrpSpPr>
        <p:cNvPr id="1" name=""/>
        <p:cNvGrpSpPr/>
        <p:nvPr/>
      </p:nvGrpSpPr>
      <p:grpSpPr/>
      <p:sp>
        <p:nvSpPr>
          <p:cNvPr id="2" name="TextBox 1"/>
          <p:cNvSpPr txBox="1"/>
          <p:nvPr/>
        </p:nvSpPr>
        <p:spPr>
          <a:xfrm>
            <a:off x="914400" y="1828800"/>
            <a:ext cx="10332720" cy="365760"/>
          </a:xfrm>
          <a:prstGeom prst="rect">
            <a:avLst/>
          </a:prstGeom>
          <a:noFill/>
          <a:effectLst/>
        </p:spPr>
        <p:txBody>
          <a:bodyPr wrap="square">
            <a:spAutoFit/>
          </a:bodyPr>
          <a:lstStyle/>
          <a:p>
            <a:pPr algn="ctr">
              <a:lnSpc>
                <a:spcPts val="1700"/>
              </a:lnSpc>
              <a:defRPr sz="1100" b="0" i="0">
                <a:solidFill>
                  <a:srgbClr val="999999"/>
                </a:solidFill>
                <a:latin typeface="Fraunces"/>
              </a:defRPr>
            </a:pPr>
            <a:r>
              <a:t>PART TWO</a:t>
            </a:r>
          </a:p>
        </p:txBody>
      </p:sp>
      <p:sp>
        <p:nvSpPr>
          <p:cNvPr id="3" name="TextBox 2"/>
          <p:cNvSpPr txBox="1"/>
          <p:nvPr/>
        </p:nvSpPr>
        <p:spPr>
          <a:xfrm>
            <a:off x="914400" y="2560320"/>
            <a:ext cx="10332720" cy="1097280"/>
          </a:xfrm>
          <a:prstGeom prst="rect">
            <a:avLst/>
          </a:prstGeom>
          <a:noFill/>
          <a:effectLst/>
        </p:spPr>
        <p:txBody>
          <a:bodyPr wrap="square">
            <a:spAutoFit/>
          </a:bodyPr>
          <a:lstStyle/>
          <a:p>
            <a:pPr algn="ctr">
              <a:lnSpc>
                <a:spcPts val="8300"/>
              </a:lnSpc>
              <a:defRPr sz="5200" b="0" i="0">
                <a:solidFill>
                  <a:srgbClr val="FFFFFF"/>
                </a:solidFill>
                <a:latin typeface="Baskerville"/>
              </a:defRPr>
            </a:pPr>
            <a:r>
              <a:t>The Storylines</a:t>
            </a:r>
          </a:p>
        </p:txBody>
      </p:sp>
      <p:cxnSp>
        <p:nvCxnSpPr>
          <p:cNvPr id="4" name="Connector 3"/>
          <p:cNvCxnSpPr/>
          <p:nvPr/>
        </p:nvCxnSpPr>
        <p:spPr>
          <a:xfrm>
            <a:off x="5303520" y="3840480"/>
            <a:ext cx="1554480" cy="0"/>
          </a:xfrm>
          <a:prstGeom prst="line">
            <a:avLst/>
          </a:prstGeom>
          <a:ln w="9525">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2286000" y="4206240"/>
            <a:ext cx="7589520" cy="1097280"/>
          </a:xfrm>
          <a:prstGeom prst="rect">
            <a:avLst/>
          </a:prstGeom>
          <a:noFill/>
          <a:effectLst/>
        </p:spPr>
        <p:txBody>
          <a:bodyPr wrap="square">
            <a:spAutoFit/>
          </a:bodyPr>
          <a:lstStyle/>
          <a:p>
            <a:pPr algn="ctr">
              <a:lnSpc>
                <a:spcPts val="2800"/>
              </a:lnSpc>
              <a:defRPr sz="1800" b="0" i="0">
                <a:solidFill>
                  <a:srgbClr val="999999"/>
                </a:solidFill>
                <a:latin typeface="Baskerville"/>
              </a:defRPr>
            </a:pPr>
            <a:r>
              <a:t>Twelve selected stories across pasture, song, faith, craft, food and memory. Each centres a named custodian, a specific place, and a practice that can still be witnessed — in the tradition of concerned photography.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4EE"/>
        </a:solidFill>
        <a:effectLst/>
      </p:bgPr>
    </p:bg>
    <p:spTree>
      <p:nvGrpSpPr>
        <p:cNvPr id="1" name=""/>
        <p:cNvGrpSpPr/>
        <p:nvPr/>
      </p:nvGrpSpPr>
      <p:grpSpPr/>
      <p:sp>
        <p:nvSpPr>
          <p:cNvPr id="2" name="TextBox 1"/>
          <p:cNvSpPr txBox="1"/>
          <p:nvPr/>
        </p:nvSpPr>
        <p:spPr>
          <a:xfrm>
            <a:off x="10058400" y="365760"/>
            <a:ext cx="1828800" cy="914400"/>
          </a:xfrm>
          <a:prstGeom prst="rect">
            <a:avLst/>
          </a:prstGeom>
          <a:noFill/>
          <a:effectLst/>
        </p:spPr>
        <p:txBody>
          <a:bodyPr wrap="square">
            <a:spAutoFit/>
          </a:bodyPr>
          <a:lstStyle/>
          <a:p>
            <a:pPr algn="r">
              <a:lnSpc>
                <a:spcPts val="10200"/>
              </a:lnSpc>
              <a:defRPr sz="6400" b="0" i="0">
                <a:solidFill>
                  <a:srgbClr val="400505"/>
                </a:solidFill>
                <a:latin typeface="Baskerville"/>
              </a:defRPr>
            </a:pPr>
            <a:r>
              <a:t>01</a:t>
            </a:r>
          </a:p>
        </p:txBody>
      </p:sp>
      <p:sp>
        <p:nvSpPr>
          <p:cNvPr id="3" name="TextBox 2"/>
          <p:cNvSpPr txBox="1"/>
          <p:nvPr/>
        </p:nvSpPr>
        <p:spPr>
          <a:xfrm>
            <a:off x="731520" y="548640"/>
            <a:ext cx="4572000" cy="365760"/>
          </a:xfrm>
          <a:prstGeom prst="rect">
            <a:avLst/>
          </a:prstGeom>
          <a:noFill/>
          <a:effectLst/>
        </p:spPr>
        <p:txBody>
          <a:bodyPr wrap="square">
            <a:spAutoFit/>
          </a:bodyPr>
          <a:lstStyle/>
          <a:p>
            <a:pPr algn="l">
              <a:lnSpc>
                <a:spcPts val="1700"/>
              </a:lnSpc>
              <a:defRPr sz="1100" b="0" i="0">
                <a:solidFill>
                  <a:srgbClr val="5C5C5C"/>
                </a:solidFill>
                <a:latin typeface="Fraunces"/>
              </a:defRPr>
            </a:pPr>
            <a:r>
              <a:t>NATURE</a:t>
            </a:r>
          </a:p>
        </p:txBody>
      </p:sp>
      <p:sp>
        <p:nvSpPr>
          <p:cNvPr id="4" name="TextBox 3"/>
          <p:cNvSpPr txBox="1"/>
          <p:nvPr/>
        </p:nvSpPr>
        <p:spPr>
          <a:xfrm>
            <a:off x="731520" y="1463040"/>
            <a:ext cx="9144000" cy="1097280"/>
          </a:xfrm>
          <a:prstGeom prst="rect">
            <a:avLst/>
          </a:prstGeom>
          <a:noFill/>
          <a:effectLst/>
        </p:spPr>
        <p:txBody>
          <a:bodyPr wrap="square">
            <a:spAutoFit/>
          </a:bodyPr>
          <a:lstStyle/>
          <a:p>
            <a:pPr algn="l">
              <a:lnSpc>
                <a:spcPts val="6000"/>
              </a:lnSpc>
              <a:defRPr sz="3800" b="0" i="0">
                <a:solidFill>
                  <a:srgbClr val="000000"/>
                </a:solidFill>
                <a:latin typeface="Baskerville"/>
              </a:defRPr>
            </a:pPr>
            <a:r>
              <a:t>The Road in May</a:t>
            </a:r>
          </a:p>
        </p:txBody>
      </p:sp>
      <p:sp>
        <p:nvSpPr>
          <p:cNvPr id="5" name="TextBox 4"/>
          <p:cNvSpPr txBox="1"/>
          <p:nvPr/>
        </p:nvSpPr>
        <p:spPr>
          <a:xfrm>
            <a:off x="731520" y="2560320"/>
            <a:ext cx="9144000" cy="731520"/>
          </a:xfrm>
          <a:prstGeom prst="rect">
            <a:avLst/>
          </a:prstGeom>
          <a:noFill/>
          <a:effectLst/>
        </p:spPr>
        <p:txBody>
          <a:bodyPr wrap="square">
            <a:spAutoFit/>
          </a:bodyPr>
          <a:lstStyle/>
          <a:p>
            <a:pPr algn="l">
              <a:lnSpc>
                <a:spcPts val="3800"/>
              </a:lnSpc>
              <a:defRPr sz="2400" b="0" i="1">
                <a:solidFill>
                  <a:srgbClr val="5C5C5C"/>
                </a:solidFill>
                <a:latin typeface="Baskerville"/>
              </a:defRPr>
            </a:pPr>
            <a:r>
              <a:t>The Transhumance over the Abano Pass</a:t>
            </a:r>
          </a:p>
        </p:txBody>
      </p:sp>
      <p:cxnSp>
        <p:nvCxnSpPr>
          <p:cNvPr id="6" name="Connector 5"/>
          <p:cNvCxnSpPr/>
          <p:nvPr/>
        </p:nvCxnSpPr>
        <p:spPr>
          <a:xfrm>
            <a:off x="731520" y="3383280"/>
            <a:ext cx="10515600" cy="0"/>
          </a:xfrm>
          <a:prstGeom prst="line">
            <a:avLst/>
          </a:prstGeom>
          <a:ln w="9525">
            <a:solidFill>
              <a:srgbClr val="000000"/>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731520" y="3566160"/>
            <a:ext cx="1828800" cy="228600"/>
          </a:xfrm>
          <a:prstGeom prst="rect">
            <a:avLst/>
          </a:prstGeom>
          <a:noFill/>
          <a:effectLst/>
        </p:spPr>
        <p:txBody>
          <a:bodyPr wrap="square">
            <a:spAutoFit/>
          </a:bodyPr>
          <a:lstStyle/>
          <a:p>
            <a:pPr algn="l">
              <a:lnSpc>
                <a:spcPts val="1200"/>
              </a:lnSpc>
              <a:defRPr sz="800" b="0" i="0">
                <a:solidFill>
                  <a:srgbClr val="707070"/>
                </a:solidFill>
                <a:latin typeface="Fraunces"/>
              </a:defRPr>
            </a:pPr>
            <a:r>
              <a:t>THE STORY</a:t>
            </a:r>
          </a:p>
        </p:txBody>
      </p:sp>
      <p:sp>
        <p:nvSpPr>
          <p:cNvPr id="8" name="TextBox 7"/>
          <p:cNvSpPr txBox="1"/>
          <p:nvPr/>
        </p:nvSpPr>
        <p:spPr>
          <a:xfrm>
            <a:off x="731520" y="3794760"/>
            <a:ext cx="5303520" cy="1645920"/>
          </a:xfrm>
          <a:prstGeom prst="rect">
            <a:avLst/>
          </a:prstGeom>
          <a:noFill/>
          <a:effectLst/>
        </p:spPr>
        <p:txBody>
          <a:bodyPr wrap="square">
            <a:spAutoFit/>
          </a:bodyPr>
          <a:lstStyle/>
          <a:p>
            <a:pPr algn="l">
              <a:lnSpc>
                <a:spcPts val="2200"/>
              </a:lnSpc>
              <a:defRPr sz="1400" b="0" i="0">
                <a:solidFill>
                  <a:srgbClr val="000000"/>
                </a:solidFill>
                <a:latin typeface="Baskerville"/>
              </a:defRPr>
            </a:pPr>
            <a:r>
              <a:t>Around a tenth of Tusheti’s people still live to the rhythm of transhumance, driving sheep — and, ever more rarely, riding the migration on horseback — between the Kakheti lowlands and the high summer grass of Tusheti, climbing and descending the Abano Pass at 2,850 metres, one of the most dangerous roads in the country.</a:t>
            </a:r>
          </a:p>
        </p:txBody>
      </p:sp>
      <p:cxnSp>
        <p:nvCxnSpPr>
          <p:cNvPr id="9" name="Connector 8"/>
          <p:cNvCxnSpPr/>
          <p:nvPr/>
        </p:nvCxnSpPr>
        <p:spPr>
          <a:xfrm>
            <a:off x="6400800" y="3566160"/>
            <a:ext cx="0" cy="2194560"/>
          </a:xfrm>
          <a:prstGeom prst="line">
            <a:avLst/>
          </a:prstGeom>
          <a:ln w="25400">
            <a:solidFill>
              <a:srgbClr val="D8D2CA"/>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766560" y="3566160"/>
            <a:ext cx="1828800" cy="228600"/>
          </a:xfrm>
          <a:prstGeom prst="rect">
            <a:avLst/>
          </a:prstGeom>
          <a:noFill/>
          <a:effectLst/>
        </p:spPr>
        <p:txBody>
          <a:bodyPr wrap="square">
            <a:spAutoFit/>
          </a:bodyPr>
          <a:lstStyle/>
          <a:p>
            <a:pPr algn="l">
              <a:lnSpc>
                <a:spcPts val="1200"/>
              </a:lnSpc>
              <a:defRPr sz="800" b="0" i="0">
                <a:solidFill>
                  <a:srgbClr val="707070"/>
                </a:solidFill>
                <a:latin typeface="Fraunces"/>
              </a:defRPr>
            </a:pPr>
            <a:r>
              <a:t>OUR PROPOSAL</a:t>
            </a:r>
          </a:p>
        </p:txBody>
      </p:sp>
      <p:sp>
        <p:nvSpPr>
          <p:cNvPr id="11" name="TextBox 10"/>
          <p:cNvSpPr txBox="1"/>
          <p:nvPr/>
        </p:nvSpPr>
        <p:spPr>
          <a:xfrm>
            <a:off x="6766560" y="3794760"/>
            <a:ext cx="4754880" cy="1645920"/>
          </a:xfrm>
          <a:prstGeom prst="rect">
            <a:avLst/>
          </a:prstGeom>
          <a:noFill/>
          <a:effectLst/>
        </p:spPr>
        <p:txBody>
          <a:bodyPr wrap="square">
            <a:spAutoFit/>
          </a:bodyPr>
          <a:lstStyle/>
          <a:p>
            <a:pPr algn="l">
              <a:lnSpc>
                <a:spcPts val="2200"/>
              </a:lnSpc>
              <a:defRPr sz="1400" b="0" i="0">
                <a:solidFill>
                  <a:srgbClr val="000000"/>
                </a:solidFill>
                <a:latin typeface="Baskerville"/>
              </a:defRPr>
            </a:pPr>
            <a:r>
              <a:t>INLAND follows one shepherd family through the spring drive up and the autumn descent — the night camps, the dogs, the pass in cloud — a half-millennium-old movement of animals and people, on a real date. The project’s signature recurring image.</a:t>
            </a:r>
          </a:p>
        </p:txBody>
      </p:sp>
      <p:sp>
        <p:nvSpPr>
          <p:cNvPr id="12" name="TextBox 11"/>
          <p:cNvSpPr txBox="1"/>
          <p:nvPr/>
        </p:nvSpPr>
        <p:spPr>
          <a:xfrm>
            <a:off x="731520" y="5989320"/>
            <a:ext cx="6583680" cy="320040"/>
          </a:xfrm>
          <a:prstGeom prst="rect">
            <a:avLst/>
          </a:prstGeom>
          <a:noFill/>
          <a:effectLst/>
        </p:spPr>
        <p:txBody>
          <a:bodyPr wrap="square">
            <a:spAutoFit/>
          </a:bodyPr>
          <a:lstStyle/>
          <a:p>
            <a:pPr algn="l">
              <a:lnSpc>
                <a:spcPts val="1600"/>
              </a:lnSpc>
              <a:defRPr sz="1000" b="0" i="0">
                <a:solidFill>
                  <a:srgbClr val="5C5C5C"/>
                </a:solidFill>
                <a:latin typeface="Fraunces"/>
              </a:defRPr>
            </a:pPr>
            <a:r>
              <a:t>Places: Kakheti → Abano Pass → Tusheti (Omalo)</a:t>
            </a:r>
          </a:p>
        </p:txBody>
      </p:sp>
      <p:sp>
        <p:nvSpPr>
          <p:cNvPr id="13" name="TextBox 12"/>
          <p:cNvSpPr txBox="1"/>
          <p:nvPr/>
        </p:nvSpPr>
        <p:spPr>
          <a:xfrm>
            <a:off x="731520" y="6327648"/>
            <a:ext cx="6583680" cy="274320"/>
          </a:xfrm>
          <a:prstGeom prst="rect">
            <a:avLst/>
          </a:prstGeom>
          <a:noFill/>
          <a:effectLst/>
        </p:spPr>
        <p:txBody>
          <a:bodyPr wrap="square">
            <a:spAutoFit/>
          </a:bodyPr>
          <a:lstStyle/>
          <a:p>
            <a:pPr algn="l">
              <a:lnSpc>
                <a:spcPts val="1400"/>
              </a:lnSpc>
              <a:defRPr sz="900" b="0" i="0">
                <a:solidFill>
                  <a:srgbClr val="857F76"/>
                </a:solidFill>
                <a:latin typeface="Fraunces"/>
              </a:defRPr>
            </a:pPr>
            <a:r>
              <a:t>Sources: Atlas Obscura; National Geographic; RFE/RL (horse migration); Milk Trekker</a:t>
            </a:r>
          </a:p>
        </p:txBody>
      </p:sp>
      <p:sp>
        <p:nvSpPr>
          <p:cNvPr id="14" name="TextBox 13"/>
          <p:cNvSpPr txBox="1"/>
          <p:nvPr/>
        </p:nvSpPr>
        <p:spPr>
          <a:xfrm>
            <a:off x="10762488" y="6263640"/>
            <a:ext cx="667512" cy="274320"/>
          </a:xfrm>
          <a:prstGeom prst="rect">
            <a:avLst/>
          </a:prstGeom>
          <a:noFill/>
          <a:effectLst/>
        </p:spPr>
        <p:txBody>
          <a:bodyPr wrap="none">
            <a:spAutoFit/>
          </a:bodyPr>
          <a:lstStyle/>
          <a:p>
            <a:pPr algn="ctr">
              <a:defRPr sz="900">
                <a:solidFill>
                  <a:srgbClr val="5C5C5C"/>
                </a:solidFill>
                <a:latin typeface="Fraunces"/>
              </a:defRPr>
            </a:pPr>
            <a:r>
              <a:t>SEASON</a:t>
            </a:r>
          </a:p>
        </p:txBody>
        <a:spPr>
          <a:prstGeom prst="roundRect">
            <a:avLst/>
          </a:prstGeom>
          <a:ln w="6350">
            <a:solidFill>
              <a:srgbClr val="B0A89E"/>
            </a:solidFill>
            <a:prstDash val="solid"/>
          </a:ln>
        </a:spPr>
      </p:sp>
      <p:sp>
        <p:nvSpPr>
          <p:cNvPr id="15" name="TextBox 14"/>
          <p:cNvSpPr txBox="1"/>
          <p:nvPr/>
        </p:nvSpPr>
        <p:spPr>
          <a:xfrm>
            <a:off x="9820656" y="6263640"/>
            <a:ext cx="804672" cy="274320"/>
          </a:xfrm>
          <a:prstGeom prst="rect">
            <a:avLst/>
          </a:prstGeom>
          <a:noFill/>
          <a:effectLst/>
        </p:spPr>
        <p:txBody>
          <a:bodyPr wrap="none">
            <a:spAutoFit/>
          </a:bodyPr>
          <a:lstStyle/>
          <a:p>
            <a:pPr algn="ctr">
              <a:defRPr sz="900">
                <a:solidFill>
                  <a:srgbClr val="5C5C5C"/>
                </a:solidFill>
                <a:latin typeface="Fraunces"/>
              </a:defRPr>
            </a:pPr>
            <a:r>
              <a:t>PASTORAL</a:t>
            </a:r>
          </a:p>
        </p:txBody>
        <a:spPr>
          <a:prstGeom prst="roundRect">
            <a:avLst/>
          </a:prstGeom>
          <a:ln w="6350">
            <a:solidFill>
              <a:srgbClr val="B0A89E"/>
            </a:solidFill>
            <a:prstDash val="solid"/>
          </a:ln>
        </a:spPr>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4EE"/>
        </a:solidFill>
        <a:effectLst/>
      </p:bgPr>
    </p:bg>
    <p:spTree>
      <p:nvGrpSpPr>
        <p:cNvPr id="1" name=""/>
        <p:cNvGrpSpPr/>
        <p:nvPr/>
      </p:nvGrpSpPr>
      <p:grpSpPr/>
      <p:sp>
        <p:nvSpPr>
          <p:cNvPr id="2" name="TextBox 1"/>
          <p:cNvSpPr txBox="1"/>
          <p:nvPr/>
        </p:nvSpPr>
        <p:spPr>
          <a:xfrm>
            <a:off x="10058400" y="365760"/>
            <a:ext cx="1828800" cy="914400"/>
          </a:xfrm>
          <a:prstGeom prst="rect">
            <a:avLst/>
          </a:prstGeom>
          <a:noFill/>
          <a:effectLst/>
        </p:spPr>
        <p:txBody>
          <a:bodyPr wrap="square">
            <a:spAutoFit/>
          </a:bodyPr>
          <a:lstStyle/>
          <a:p>
            <a:pPr algn="r">
              <a:lnSpc>
                <a:spcPts val="10200"/>
              </a:lnSpc>
              <a:defRPr sz="6400" b="0" i="0">
                <a:solidFill>
                  <a:srgbClr val="400505"/>
                </a:solidFill>
                <a:latin typeface="Baskerville"/>
              </a:defRPr>
            </a:pPr>
            <a:r>
              <a:t>02</a:t>
            </a:r>
          </a:p>
        </p:txBody>
      </p:sp>
      <p:sp>
        <p:nvSpPr>
          <p:cNvPr id="3" name="TextBox 2"/>
          <p:cNvSpPr txBox="1"/>
          <p:nvPr/>
        </p:nvSpPr>
        <p:spPr>
          <a:xfrm>
            <a:off x="731520" y="548640"/>
            <a:ext cx="4572000" cy="365760"/>
          </a:xfrm>
          <a:prstGeom prst="rect">
            <a:avLst/>
          </a:prstGeom>
          <a:noFill/>
          <a:effectLst/>
        </p:spPr>
        <p:txBody>
          <a:bodyPr wrap="square">
            <a:spAutoFit/>
          </a:bodyPr>
          <a:lstStyle/>
          <a:p>
            <a:pPr algn="l">
              <a:lnSpc>
                <a:spcPts val="1700"/>
              </a:lnSpc>
              <a:defRPr sz="1100" b="0" i="0">
                <a:solidFill>
                  <a:srgbClr val="5C5C5C"/>
                </a:solidFill>
                <a:latin typeface="Fraunces"/>
              </a:defRPr>
            </a:pPr>
            <a:r>
              <a:t>HISTORY</a:t>
            </a:r>
          </a:p>
        </p:txBody>
      </p:sp>
      <p:sp>
        <p:nvSpPr>
          <p:cNvPr id="4" name="TextBox 3"/>
          <p:cNvSpPr txBox="1"/>
          <p:nvPr/>
        </p:nvSpPr>
        <p:spPr>
          <a:xfrm>
            <a:off x="731520" y="1463040"/>
            <a:ext cx="9144000" cy="1097280"/>
          </a:xfrm>
          <a:prstGeom prst="rect">
            <a:avLst/>
          </a:prstGeom>
          <a:noFill/>
          <a:effectLst/>
        </p:spPr>
        <p:txBody>
          <a:bodyPr wrap="square">
            <a:spAutoFit/>
          </a:bodyPr>
          <a:lstStyle/>
          <a:p>
            <a:pPr algn="l">
              <a:lnSpc>
                <a:spcPts val="6000"/>
              </a:lnSpc>
              <a:defRPr sz="3800" b="0" i="0">
                <a:solidFill>
                  <a:srgbClr val="000000"/>
                </a:solidFill>
                <a:latin typeface="Baskerville"/>
              </a:defRPr>
            </a:pPr>
            <a:r>
              <a:t>The Tower and the Byre</a:t>
            </a:r>
          </a:p>
        </p:txBody>
      </p:sp>
      <p:sp>
        <p:nvSpPr>
          <p:cNvPr id="5" name="TextBox 4"/>
          <p:cNvSpPr txBox="1"/>
          <p:nvPr/>
        </p:nvSpPr>
        <p:spPr>
          <a:xfrm>
            <a:off x="731520" y="2560320"/>
            <a:ext cx="9144000" cy="731520"/>
          </a:xfrm>
          <a:prstGeom prst="rect">
            <a:avLst/>
          </a:prstGeom>
          <a:noFill/>
          <a:effectLst/>
        </p:spPr>
        <p:txBody>
          <a:bodyPr wrap="square">
            <a:spAutoFit/>
          </a:bodyPr>
          <a:lstStyle/>
          <a:p>
            <a:pPr algn="l">
              <a:lnSpc>
                <a:spcPts val="3800"/>
              </a:lnSpc>
              <a:defRPr sz="2400" b="0" i="1">
                <a:solidFill>
                  <a:srgbClr val="5C5C5C"/>
                </a:solidFill>
                <a:latin typeface="Baskerville"/>
              </a:defRPr>
            </a:pPr>
            <a:r>
              <a:t>The Tower-Keeping Families of Ushguli</a:t>
            </a:r>
          </a:p>
        </p:txBody>
      </p:sp>
      <p:cxnSp>
        <p:nvCxnSpPr>
          <p:cNvPr id="6" name="Connector 5"/>
          <p:cNvCxnSpPr/>
          <p:nvPr/>
        </p:nvCxnSpPr>
        <p:spPr>
          <a:xfrm>
            <a:off x="731520" y="3383280"/>
            <a:ext cx="10515600" cy="0"/>
          </a:xfrm>
          <a:prstGeom prst="line">
            <a:avLst/>
          </a:prstGeom>
          <a:ln w="9525">
            <a:solidFill>
              <a:srgbClr val="000000"/>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731520" y="3566160"/>
            <a:ext cx="1828800" cy="228600"/>
          </a:xfrm>
          <a:prstGeom prst="rect">
            <a:avLst/>
          </a:prstGeom>
          <a:noFill/>
          <a:effectLst/>
        </p:spPr>
        <p:txBody>
          <a:bodyPr wrap="square">
            <a:spAutoFit/>
          </a:bodyPr>
          <a:lstStyle/>
          <a:p>
            <a:pPr algn="l">
              <a:lnSpc>
                <a:spcPts val="1200"/>
              </a:lnSpc>
              <a:defRPr sz="800" b="0" i="0">
                <a:solidFill>
                  <a:srgbClr val="707070"/>
                </a:solidFill>
                <a:latin typeface="Fraunces"/>
              </a:defRPr>
            </a:pPr>
            <a:r>
              <a:t>THE STORY</a:t>
            </a:r>
          </a:p>
        </p:txBody>
      </p:sp>
      <p:sp>
        <p:nvSpPr>
          <p:cNvPr id="8" name="TextBox 7"/>
          <p:cNvSpPr txBox="1"/>
          <p:nvPr/>
        </p:nvSpPr>
        <p:spPr>
          <a:xfrm>
            <a:off x="731520" y="3794760"/>
            <a:ext cx="5303520" cy="1645920"/>
          </a:xfrm>
          <a:prstGeom prst="rect">
            <a:avLst/>
          </a:prstGeom>
          <a:noFill/>
          <a:effectLst/>
        </p:spPr>
        <p:txBody>
          <a:bodyPr wrap="square">
            <a:spAutoFit/>
          </a:bodyPr>
          <a:lstStyle/>
          <a:p>
            <a:pPr algn="l">
              <a:lnSpc>
                <a:spcPts val="2200"/>
              </a:lnSpc>
              <a:defRPr sz="1400" b="0" i="0">
                <a:solidFill>
                  <a:srgbClr val="000000"/>
                </a:solidFill>
                <a:latin typeface="Baskerville"/>
              </a:defRPr>
            </a:pPr>
            <a:r>
              <a:t>Ushguli, at the confluence of the Inguri and Black rivers, is among Europe’s highest inhabited places — a UNESCO site of more than 200 medieval koshki defence towers. A handful of families still keep house, byre and a standing tower together; Roland and Gulo Chelidze tend cattle, pigs and horses below the family’s keep.</a:t>
            </a:r>
          </a:p>
        </p:txBody>
      </p:sp>
      <p:cxnSp>
        <p:nvCxnSpPr>
          <p:cNvPr id="9" name="Connector 8"/>
          <p:cNvCxnSpPr/>
          <p:nvPr/>
        </p:nvCxnSpPr>
        <p:spPr>
          <a:xfrm>
            <a:off x="6400800" y="3566160"/>
            <a:ext cx="0" cy="2194560"/>
          </a:xfrm>
          <a:prstGeom prst="line">
            <a:avLst/>
          </a:prstGeom>
          <a:ln w="25400">
            <a:solidFill>
              <a:srgbClr val="D8D2CA"/>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766560" y="3566160"/>
            <a:ext cx="1828800" cy="228600"/>
          </a:xfrm>
          <a:prstGeom prst="rect">
            <a:avLst/>
          </a:prstGeom>
          <a:noFill/>
          <a:effectLst/>
        </p:spPr>
        <p:txBody>
          <a:bodyPr wrap="square">
            <a:spAutoFit/>
          </a:bodyPr>
          <a:lstStyle/>
          <a:p>
            <a:pPr algn="l">
              <a:lnSpc>
                <a:spcPts val="1200"/>
              </a:lnSpc>
              <a:defRPr sz="800" b="0" i="0">
                <a:solidFill>
                  <a:srgbClr val="707070"/>
                </a:solidFill>
                <a:latin typeface="Fraunces"/>
              </a:defRPr>
            </a:pPr>
            <a:r>
              <a:t>OUR PROPOSAL</a:t>
            </a:r>
          </a:p>
        </p:txBody>
      </p:sp>
      <p:sp>
        <p:nvSpPr>
          <p:cNvPr id="11" name="TextBox 10"/>
          <p:cNvSpPr txBox="1"/>
          <p:nvPr/>
        </p:nvSpPr>
        <p:spPr>
          <a:xfrm>
            <a:off x="6766560" y="3794760"/>
            <a:ext cx="4754880" cy="1645920"/>
          </a:xfrm>
          <a:prstGeom prst="rect">
            <a:avLst/>
          </a:prstGeom>
          <a:noFill/>
          <a:effectLst/>
        </p:spPr>
        <p:txBody>
          <a:bodyPr wrap="square">
            <a:spAutoFit/>
          </a:bodyPr>
          <a:lstStyle/>
          <a:p>
            <a:pPr algn="l">
              <a:lnSpc>
                <a:spcPts val="2200"/>
              </a:lnSpc>
              <a:defRPr sz="1400" b="0" i="0">
                <a:solidFill>
                  <a:srgbClr val="000000"/>
                </a:solidFill>
                <a:latin typeface="Baskerville"/>
              </a:defRPr>
            </a:pPr>
            <a:r>
              <a:t>INLAND spends a winter day with one Ushguli family between the byre and the tower — the stock, the horse transport across roadless country, the tower that was once home, fortress and treasury at once.</a:t>
            </a:r>
          </a:p>
        </p:txBody>
      </p:sp>
      <p:sp>
        <p:nvSpPr>
          <p:cNvPr id="12" name="TextBox 11"/>
          <p:cNvSpPr txBox="1"/>
          <p:nvPr/>
        </p:nvSpPr>
        <p:spPr>
          <a:xfrm>
            <a:off x="731520" y="5989320"/>
            <a:ext cx="6583680" cy="320040"/>
          </a:xfrm>
          <a:prstGeom prst="rect">
            <a:avLst/>
          </a:prstGeom>
          <a:noFill/>
          <a:effectLst/>
        </p:spPr>
        <p:txBody>
          <a:bodyPr wrap="square">
            <a:spAutoFit/>
          </a:bodyPr>
          <a:lstStyle/>
          <a:p>
            <a:pPr algn="l">
              <a:lnSpc>
                <a:spcPts val="1600"/>
              </a:lnSpc>
              <a:defRPr sz="1000" b="0" i="0">
                <a:solidFill>
                  <a:srgbClr val="5C5C5C"/>
                </a:solidFill>
                <a:latin typeface="Fraunces"/>
              </a:defRPr>
            </a:pPr>
            <a:r>
              <a:t>Places: Ushguli · Chazhashi · Upper Svaneti</a:t>
            </a:r>
          </a:p>
        </p:txBody>
      </p:sp>
      <p:sp>
        <p:nvSpPr>
          <p:cNvPr id="13" name="TextBox 12"/>
          <p:cNvSpPr txBox="1"/>
          <p:nvPr/>
        </p:nvSpPr>
        <p:spPr>
          <a:xfrm>
            <a:off x="731520" y="6327648"/>
            <a:ext cx="6583680" cy="274320"/>
          </a:xfrm>
          <a:prstGeom prst="rect">
            <a:avLst/>
          </a:prstGeom>
          <a:noFill/>
          <a:effectLst/>
        </p:spPr>
        <p:txBody>
          <a:bodyPr wrap="square">
            <a:spAutoFit/>
          </a:bodyPr>
          <a:lstStyle/>
          <a:p>
            <a:pPr algn="l">
              <a:lnSpc>
                <a:spcPts val="1400"/>
              </a:lnSpc>
              <a:defRPr sz="900" b="0" i="0">
                <a:solidFill>
                  <a:srgbClr val="857F76"/>
                </a:solidFill>
                <a:latin typeface="Fraunces"/>
              </a:defRPr>
            </a:pPr>
            <a:r>
              <a:t>Sources: UNESCO WHC 709; National Geographic; Atlas Obscura; Museum of Wander</a:t>
            </a:r>
          </a:p>
        </p:txBody>
      </p:sp>
      <p:sp>
        <p:nvSpPr>
          <p:cNvPr id="14" name="TextBox 13"/>
          <p:cNvSpPr txBox="1"/>
          <p:nvPr/>
        </p:nvSpPr>
        <p:spPr>
          <a:xfrm>
            <a:off x="10625328" y="6263640"/>
            <a:ext cx="804672" cy="274320"/>
          </a:xfrm>
          <a:prstGeom prst="rect">
            <a:avLst/>
          </a:prstGeom>
          <a:noFill/>
          <a:effectLst/>
        </p:spPr>
        <p:txBody>
          <a:bodyPr wrap="none">
            <a:spAutoFit/>
          </a:bodyPr>
          <a:lstStyle/>
          <a:p>
            <a:pPr algn="ctr">
              <a:defRPr sz="900">
                <a:solidFill>
                  <a:srgbClr val="5C5C5C"/>
                </a:solidFill>
                <a:latin typeface="Fraunces"/>
              </a:defRPr>
            </a:pPr>
            <a:r>
              <a:t>MOUNTAIN</a:t>
            </a:r>
          </a:p>
        </p:txBody>
        <a:spPr>
          <a:prstGeom prst="roundRect">
            <a:avLst/>
          </a:prstGeom>
          <a:ln w="6350">
            <a:solidFill>
              <a:srgbClr val="B0A89E"/>
            </a:solidFill>
            <a:prstDash val="solid"/>
          </a:ln>
        </a:spPr>
      </p:sp>
      <p:sp>
        <p:nvSpPr>
          <p:cNvPr id="15" name="TextBox 14"/>
          <p:cNvSpPr txBox="1"/>
          <p:nvPr/>
        </p:nvSpPr>
        <p:spPr>
          <a:xfrm>
            <a:off x="9820656" y="6263640"/>
            <a:ext cx="667512" cy="274320"/>
          </a:xfrm>
          <a:prstGeom prst="rect">
            <a:avLst/>
          </a:prstGeom>
          <a:noFill/>
          <a:effectLst/>
        </p:spPr>
        <p:txBody>
          <a:bodyPr wrap="none">
            <a:spAutoFit/>
          </a:bodyPr>
          <a:lstStyle/>
          <a:p>
            <a:pPr algn="ctr">
              <a:defRPr sz="900">
                <a:solidFill>
                  <a:srgbClr val="5C5C5C"/>
                </a:solidFill>
                <a:latin typeface="Fraunces"/>
              </a:defRPr>
            </a:pPr>
            <a:r>
              <a:t>UNESCO</a:t>
            </a:r>
          </a:p>
        </p:txBody>
        <a:spPr>
          <a:prstGeom prst="roundRect">
            <a:avLst/>
          </a:prstGeom>
          <a:ln w="6350">
            <a:solidFill>
              <a:srgbClr val="B0A89E"/>
            </a:solidFill>
            <a:prstDash val="solid"/>
          </a:ln>
        </a:spPr>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4EE"/>
        </a:solidFill>
        <a:effectLst/>
      </p:bgPr>
    </p:bg>
    <p:spTree>
      <p:nvGrpSpPr>
        <p:cNvPr id="1" name=""/>
        <p:cNvGrpSpPr/>
        <p:nvPr/>
      </p:nvGrpSpPr>
      <p:grpSpPr/>
      <p:sp>
        <p:nvSpPr>
          <p:cNvPr id="2" name="TextBox 1"/>
          <p:cNvSpPr txBox="1"/>
          <p:nvPr/>
        </p:nvSpPr>
        <p:spPr>
          <a:xfrm>
            <a:off x="10058400" y="365760"/>
            <a:ext cx="1828800" cy="914400"/>
          </a:xfrm>
          <a:prstGeom prst="rect">
            <a:avLst/>
          </a:prstGeom>
          <a:noFill/>
          <a:effectLst/>
        </p:spPr>
        <p:txBody>
          <a:bodyPr wrap="square">
            <a:spAutoFit/>
          </a:bodyPr>
          <a:lstStyle/>
          <a:p>
            <a:pPr algn="r">
              <a:lnSpc>
                <a:spcPts val="10200"/>
              </a:lnSpc>
              <a:defRPr sz="6400" b="0" i="0">
                <a:solidFill>
                  <a:srgbClr val="400505"/>
                </a:solidFill>
                <a:latin typeface="Baskerville"/>
              </a:defRPr>
            </a:pPr>
            <a:r>
              <a:t>03</a:t>
            </a:r>
          </a:p>
        </p:txBody>
      </p:sp>
      <p:sp>
        <p:nvSpPr>
          <p:cNvPr id="3" name="TextBox 2"/>
          <p:cNvSpPr txBox="1"/>
          <p:nvPr/>
        </p:nvSpPr>
        <p:spPr>
          <a:xfrm>
            <a:off x="731520" y="548640"/>
            <a:ext cx="4572000" cy="365760"/>
          </a:xfrm>
          <a:prstGeom prst="rect">
            <a:avLst/>
          </a:prstGeom>
          <a:noFill/>
          <a:effectLst/>
        </p:spPr>
        <p:txBody>
          <a:bodyPr wrap="square">
            <a:spAutoFit/>
          </a:bodyPr>
          <a:lstStyle/>
          <a:p>
            <a:pPr algn="l">
              <a:lnSpc>
                <a:spcPts val="1700"/>
              </a:lnSpc>
              <a:defRPr sz="1100" b="0" i="0">
                <a:solidFill>
                  <a:srgbClr val="5C5C5C"/>
                </a:solidFill>
                <a:latin typeface="Fraunces"/>
              </a:defRPr>
            </a:pPr>
            <a:r>
              <a:t>ARTS &amp; CULTURE</a:t>
            </a:r>
          </a:p>
        </p:txBody>
      </p:sp>
      <p:sp>
        <p:nvSpPr>
          <p:cNvPr id="4" name="TextBox 3"/>
          <p:cNvSpPr txBox="1"/>
          <p:nvPr/>
        </p:nvSpPr>
        <p:spPr>
          <a:xfrm>
            <a:off x="731520" y="1463040"/>
            <a:ext cx="9144000" cy="1097280"/>
          </a:xfrm>
          <a:prstGeom prst="rect">
            <a:avLst/>
          </a:prstGeom>
          <a:noFill/>
          <a:effectLst/>
        </p:spPr>
        <p:txBody>
          <a:bodyPr wrap="square">
            <a:spAutoFit/>
          </a:bodyPr>
          <a:lstStyle/>
          <a:p>
            <a:pPr algn="l">
              <a:lnSpc>
                <a:spcPts val="6000"/>
              </a:lnSpc>
              <a:defRPr sz="3800" b="0" i="0">
                <a:solidFill>
                  <a:srgbClr val="000000"/>
                </a:solidFill>
                <a:latin typeface="Baskerville"/>
              </a:defRPr>
            </a:pPr>
            <a:r>
              <a:t>Lile, the Sun Song</a:t>
            </a:r>
          </a:p>
        </p:txBody>
      </p:sp>
      <p:sp>
        <p:nvSpPr>
          <p:cNvPr id="5" name="TextBox 4"/>
          <p:cNvSpPr txBox="1"/>
          <p:nvPr/>
        </p:nvSpPr>
        <p:spPr>
          <a:xfrm>
            <a:off x="731520" y="2560320"/>
            <a:ext cx="9144000" cy="731520"/>
          </a:xfrm>
          <a:prstGeom prst="rect">
            <a:avLst/>
          </a:prstGeom>
          <a:noFill/>
          <a:effectLst/>
        </p:spPr>
        <p:txBody>
          <a:bodyPr wrap="square">
            <a:spAutoFit/>
          </a:bodyPr>
          <a:lstStyle/>
          <a:p>
            <a:pPr algn="l">
              <a:lnSpc>
                <a:spcPts val="3800"/>
              </a:lnSpc>
              <a:defRPr sz="2400" b="0" i="1">
                <a:solidFill>
                  <a:srgbClr val="5C5C5C"/>
                </a:solidFill>
                <a:latin typeface="Baskerville"/>
              </a:defRPr>
            </a:pPr>
            <a:r>
              <a:t>The Animist Hymns of Svaneti</a:t>
            </a:r>
          </a:p>
        </p:txBody>
      </p:sp>
      <p:cxnSp>
        <p:nvCxnSpPr>
          <p:cNvPr id="6" name="Connector 5"/>
          <p:cNvCxnSpPr/>
          <p:nvPr/>
        </p:nvCxnSpPr>
        <p:spPr>
          <a:xfrm>
            <a:off x="731520" y="3383280"/>
            <a:ext cx="10515600" cy="0"/>
          </a:xfrm>
          <a:prstGeom prst="line">
            <a:avLst/>
          </a:prstGeom>
          <a:ln w="9525">
            <a:solidFill>
              <a:srgbClr val="000000"/>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731520" y="3566160"/>
            <a:ext cx="1828800" cy="228600"/>
          </a:xfrm>
          <a:prstGeom prst="rect">
            <a:avLst/>
          </a:prstGeom>
          <a:noFill/>
          <a:effectLst/>
        </p:spPr>
        <p:txBody>
          <a:bodyPr wrap="square">
            <a:spAutoFit/>
          </a:bodyPr>
          <a:lstStyle/>
          <a:p>
            <a:pPr algn="l">
              <a:lnSpc>
                <a:spcPts val="1200"/>
              </a:lnSpc>
              <a:defRPr sz="800" b="0" i="0">
                <a:solidFill>
                  <a:srgbClr val="707070"/>
                </a:solidFill>
                <a:latin typeface="Fraunces"/>
              </a:defRPr>
            </a:pPr>
            <a:r>
              <a:t>THE STORY</a:t>
            </a:r>
          </a:p>
        </p:txBody>
      </p:sp>
      <p:sp>
        <p:nvSpPr>
          <p:cNvPr id="8" name="TextBox 7"/>
          <p:cNvSpPr txBox="1"/>
          <p:nvPr/>
        </p:nvSpPr>
        <p:spPr>
          <a:xfrm>
            <a:off x="731520" y="3794760"/>
            <a:ext cx="5303520" cy="1645920"/>
          </a:xfrm>
          <a:prstGeom prst="rect">
            <a:avLst/>
          </a:prstGeom>
          <a:noFill/>
          <a:effectLst/>
        </p:spPr>
        <p:txBody>
          <a:bodyPr wrap="square">
            <a:spAutoFit/>
          </a:bodyPr>
          <a:lstStyle/>
          <a:p>
            <a:pPr algn="l">
              <a:lnSpc>
                <a:spcPts val="2200"/>
              </a:lnSpc>
              <a:defRPr sz="1400" b="0" i="0">
                <a:solidFill>
                  <a:srgbClr val="000000"/>
                </a:solidFill>
                <a:latin typeface="Baskerville"/>
              </a:defRPr>
            </a:pPr>
            <a:r>
              <a:t>Some of the oldest layers of Georgian polyphony are Svan: hymns like Lile — the ancient Svan word for the Sun God — and Kviria carry largely pre-Christian, animist texts that Svans today often re-read through a Christian lens. The Mestia ensemble Riho kept them for over fifty years.</a:t>
            </a:r>
          </a:p>
        </p:txBody>
      </p:sp>
      <p:cxnSp>
        <p:nvCxnSpPr>
          <p:cNvPr id="9" name="Connector 8"/>
          <p:cNvCxnSpPr/>
          <p:nvPr/>
        </p:nvCxnSpPr>
        <p:spPr>
          <a:xfrm>
            <a:off x="6400800" y="3566160"/>
            <a:ext cx="0" cy="2194560"/>
          </a:xfrm>
          <a:prstGeom prst="line">
            <a:avLst/>
          </a:prstGeom>
          <a:ln w="25400">
            <a:solidFill>
              <a:srgbClr val="D8D2CA"/>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766560" y="3566160"/>
            <a:ext cx="1828800" cy="228600"/>
          </a:xfrm>
          <a:prstGeom prst="rect">
            <a:avLst/>
          </a:prstGeom>
          <a:noFill/>
          <a:effectLst/>
        </p:spPr>
        <p:txBody>
          <a:bodyPr wrap="square">
            <a:spAutoFit/>
          </a:bodyPr>
          <a:lstStyle/>
          <a:p>
            <a:pPr algn="l">
              <a:lnSpc>
                <a:spcPts val="1200"/>
              </a:lnSpc>
              <a:defRPr sz="800" b="0" i="0">
                <a:solidFill>
                  <a:srgbClr val="707070"/>
                </a:solidFill>
                <a:latin typeface="Fraunces"/>
              </a:defRPr>
            </a:pPr>
            <a:r>
              <a:t>OUR PROPOSAL</a:t>
            </a:r>
          </a:p>
        </p:txBody>
      </p:sp>
      <p:sp>
        <p:nvSpPr>
          <p:cNvPr id="11" name="TextBox 10"/>
          <p:cNvSpPr txBox="1"/>
          <p:nvPr/>
        </p:nvSpPr>
        <p:spPr>
          <a:xfrm>
            <a:off x="6766560" y="3794760"/>
            <a:ext cx="4754880" cy="1645920"/>
          </a:xfrm>
          <a:prstGeom prst="rect">
            <a:avLst/>
          </a:prstGeom>
          <a:noFill/>
          <a:effectLst/>
        </p:spPr>
        <p:txBody>
          <a:bodyPr wrap="square">
            <a:spAutoFit/>
          </a:bodyPr>
          <a:lstStyle/>
          <a:p>
            <a:pPr algn="l">
              <a:lnSpc>
                <a:spcPts val="2200"/>
              </a:lnSpc>
              <a:defRPr sz="1400" b="0" i="0">
                <a:solidFill>
                  <a:srgbClr val="000000"/>
                </a:solidFill>
                <a:latin typeface="Baskerville"/>
              </a:defRPr>
            </a:pPr>
            <a:r>
              <a:t>INLAND sits a rehearsal with Riho, now directed by Vakhtang Pilpani — three male voices braided into a sun-hymn older than the church, in a Mestia front room as the snow comes down.</a:t>
            </a:r>
          </a:p>
        </p:txBody>
      </p:sp>
      <p:sp>
        <p:nvSpPr>
          <p:cNvPr id="12" name="TextBox 11"/>
          <p:cNvSpPr txBox="1"/>
          <p:nvPr/>
        </p:nvSpPr>
        <p:spPr>
          <a:xfrm>
            <a:off x="731520" y="5989320"/>
            <a:ext cx="6583680" cy="320040"/>
          </a:xfrm>
          <a:prstGeom prst="rect">
            <a:avLst/>
          </a:prstGeom>
          <a:noFill/>
          <a:effectLst/>
        </p:spPr>
        <p:txBody>
          <a:bodyPr wrap="square">
            <a:spAutoFit/>
          </a:bodyPr>
          <a:lstStyle/>
          <a:p>
            <a:pPr algn="l">
              <a:lnSpc>
                <a:spcPts val="1600"/>
              </a:lnSpc>
              <a:defRPr sz="1000" b="0" i="0">
                <a:solidFill>
                  <a:srgbClr val="5C5C5C"/>
                </a:solidFill>
                <a:latin typeface="Fraunces"/>
              </a:defRPr>
            </a:pPr>
            <a:r>
              <a:t>Places: Mestia · Svaneti</a:t>
            </a:r>
          </a:p>
        </p:txBody>
      </p:sp>
      <p:sp>
        <p:nvSpPr>
          <p:cNvPr id="13" name="TextBox 12"/>
          <p:cNvSpPr txBox="1"/>
          <p:nvPr/>
        </p:nvSpPr>
        <p:spPr>
          <a:xfrm>
            <a:off x="731520" y="6327648"/>
            <a:ext cx="6583680" cy="274320"/>
          </a:xfrm>
          <a:prstGeom prst="rect">
            <a:avLst/>
          </a:prstGeom>
          <a:noFill/>
          <a:effectLst/>
        </p:spPr>
        <p:txBody>
          <a:bodyPr wrap="square">
            <a:spAutoFit/>
          </a:bodyPr>
          <a:lstStyle/>
          <a:p>
            <a:pPr algn="l">
              <a:lnSpc>
                <a:spcPts val="1400"/>
              </a:lnSpc>
              <a:defRPr sz="900" b="0" i="0">
                <a:solidFill>
                  <a:srgbClr val="857F76"/>
                </a:solidFill>
                <a:latin typeface="Fraunces"/>
              </a:defRPr>
            </a:pPr>
            <a:r>
              <a:t>Sources: Georgian Chant (Kviria; Svan chant); Chanting.ge; Discogs (Riho)</a:t>
            </a:r>
          </a:p>
        </p:txBody>
      </p:sp>
      <p:sp>
        <p:nvSpPr>
          <p:cNvPr id="14" name="TextBox 13"/>
          <p:cNvSpPr txBox="1"/>
          <p:nvPr/>
        </p:nvSpPr>
        <p:spPr>
          <a:xfrm>
            <a:off x="10488168" y="6263640"/>
            <a:ext cx="941832" cy="274320"/>
          </a:xfrm>
          <a:prstGeom prst="rect">
            <a:avLst/>
          </a:prstGeom>
          <a:noFill/>
          <a:effectLst/>
        </p:spPr>
        <p:txBody>
          <a:bodyPr wrap="none">
            <a:spAutoFit/>
          </a:bodyPr>
          <a:lstStyle/>
          <a:p>
            <a:pPr algn="ctr">
              <a:defRPr sz="900">
                <a:solidFill>
                  <a:srgbClr val="5C5C5C"/>
                </a:solidFill>
                <a:latin typeface="Fraunces"/>
              </a:defRPr>
            </a:pPr>
            <a:r>
              <a:t>ENDANGERED</a:t>
            </a:r>
          </a:p>
        </p:txBody>
        <a:spPr>
          <a:prstGeom prst="roundRect">
            <a:avLst/>
          </a:prstGeom>
          <a:ln w="6350">
            <a:solidFill>
              <a:srgbClr val="B0A89E"/>
            </a:solidFill>
            <a:prstDash val="solid"/>
          </a:ln>
        </a:spPr>
      </p:sp>
      <p:sp>
        <p:nvSpPr>
          <p:cNvPr id="15" name="TextBox 14"/>
          <p:cNvSpPr txBox="1"/>
          <p:nvPr/>
        </p:nvSpPr>
        <p:spPr>
          <a:xfrm>
            <a:off x="9752076" y="6263640"/>
            <a:ext cx="598932" cy="274320"/>
          </a:xfrm>
          <a:prstGeom prst="rect">
            <a:avLst/>
          </a:prstGeom>
          <a:noFill/>
          <a:effectLst/>
        </p:spPr>
        <p:txBody>
          <a:bodyPr wrap="none">
            <a:spAutoFit/>
          </a:bodyPr>
          <a:lstStyle/>
          <a:p>
            <a:pPr algn="ctr">
              <a:defRPr sz="900">
                <a:solidFill>
                  <a:srgbClr val="5C5C5C"/>
                </a:solidFill>
                <a:latin typeface="Fraunces"/>
              </a:defRPr>
            </a:pPr>
            <a:r>
              <a:t>MUSIC</a:t>
            </a:r>
          </a:p>
        </p:txBody>
        <a:spPr>
          <a:prstGeom prst="roundRect">
            <a:avLst/>
          </a:prstGeom>
          <a:ln w="6350">
            <a:solidFill>
              <a:srgbClr val="B0A89E"/>
            </a:solidFill>
            <a:prstDash val="solid"/>
          </a:ln>
        </a:spPr>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4EE"/>
        </a:solidFill>
        <a:effectLst/>
      </p:bgPr>
    </p:bg>
    <p:spTree>
      <p:nvGrpSpPr>
        <p:cNvPr id="1" name=""/>
        <p:cNvGrpSpPr/>
        <p:nvPr/>
      </p:nvGrpSpPr>
      <p:grpSpPr/>
      <p:sp>
        <p:nvSpPr>
          <p:cNvPr id="2" name="TextBox 1"/>
          <p:cNvSpPr txBox="1"/>
          <p:nvPr/>
        </p:nvSpPr>
        <p:spPr>
          <a:xfrm>
            <a:off x="10058400" y="365760"/>
            <a:ext cx="1828800" cy="914400"/>
          </a:xfrm>
          <a:prstGeom prst="rect">
            <a:avLst/>
          </a:prstGeom>
          <a:noFill/>
          <a:effectLst/>
        </p:spPr>
        <p:txBody>
          <a:bodyPr wrap="square">
            <a:spAutoFit/>
          </a:bodyPr>
          <a:lstStyle/>
          <a:p>
            <a:pPr algn="r">
              <a:lnSpc>
                <a:spcPts val="10200"/>
              </a:lnSpc>
              <a:defRPr sz="6400" b="0" i="0">
                <a:solidFill>
                  <a:srgbClr val="400505"/>
                </a:solidFill>
                <a:latin typeface="Baskerville"/>
              </a:defRPr>
            </a:pPr>
            <a:r>
              <a:t>04</a:t>
            </a:r>
          </a:p>
        </p:txBody>
      </p:sp>
      <p:sp>
        <p:nvSpPr>
          <p:cNvPr id="3" name="TextBox 2"/>
          <p:cNvSpPr txBox="1"/>
          <p:nvPr/>
        </p:nvSpPr>
        <p:spPr>
          <a:xfrm>
            <a:off x="731520" y="548640"/>
            <a:ext cx="4572000" cy="365760"/>
          </a:xfrm>
          <a:prstGeom prst="rect">
            <a:avLst/>
          </a:prstGeom>
          <a:noFill/>
          <a:effectLst/>
        </p:spPr>
        <p:txBody>
          <a:bodyPr wrap="square">
            <a:spAutoFit/>
          </a:bodyPr>
          <a:lstStyle/>
          <a:p>
            <a:pPr algn="l">
              <a:lnSpc>
                <a:spcPts val="1700"/>
              </a:lnSpc>
              <a:defRPr sz="1100" b="0" i="0">
                <a:solidFill>
                  <a:srgbClr val="5C5C5C"/>
                </a:solidFill>
                <a:latin typeface="Fraunces"/>
              </a:defRPr>
            </a:pPr>
            <a:r>
              <a:t>ARTS &amp; CULTURE</a:t>
            </a:r>
          </a:p>
        </p:txBody>
      </p:sp>
      <p:sp>
        <p:nvSpPr>
          <p:cNvPr id="4" name="TextBox 3"/>
          <p:cNvSpPr txBox="1"/>
          <p:nvPr/>
        </p:nvSpPr>
        <p:spPr>
          <a:xfrm>
            <a:off x="731520" y="1463040"/>
            <a:ext cx="9144000" cy="1097280"/>
          </a:xfrm>
          <a:prstGeom prst="rect">
            <a:avLst/>
          </a:prstGeom>
          <a:noFill/>
          <a:effectLst/>
        </p:spPr>
        <p:txBody>
          <a:bodyPr wrap="square">
            <a:spAutoFit/>
          </a:bodyPr>
          <a:lstStyle/>
          <a:p>
            <a:pPr algn="l">
              <a:lnSpc>
                <a:spcPts val="6000"/>
              </a:lnSpc>
              <a:defRPr sz="3800" b="0" i="0">
                <a:solidFill>
                  <a:srgbClr val="000000"/>
                </a:solidFill>
                <a:latin typeface="Baskerville"/>
              </a:defRPr>
            </a:pPr>
            <a:r>
              <a:t>The Highest Voice</a:t>
            </a:r>
          </a:p>
        </p:txBody>
      </p:sp>
      <p:sp>
        <p:nvSpPr>
          <p:cNvPr id="5" name="TextBox 4"/>
          <p:cNvSpPr txBox="1"/>
          <p:nvPr/>
        </p:nvSpPr>
        <p:spPr>
          <a:xfrm>
            <a:off x="731520" y="2560320"/>
            <a:ext cx="9144000" cy="731520"/>
          </a:xfrm>
          <a:prstGeom prst="rect">
            <a:avLst/>
          </a:prstGeom>
          <a:noFill/>
          <a:effectLst/>
        </p:spPr>
        <p:txBody>
          <a:bodyPr wrap="square">
            <a:spAutoFit/>
          </a:bodyPr>
          <a:lstStyle/>
          <a:p>
            <a:pPr algn="l">
              <a:lnSpc>
                <a:spcPts val="3800"/>
              </a:lnSpc>
              <a:defRPr sz="2400" b="0" i="1">
                <a:solidFill>
                  <a:srgbClr val="5C5C5C"/>
                </a:solidFill>
                <a:latin typeface="Baskerville"/>
              </a:defRPr>
            </a:pPr>
            <a:r>
              <a:t>Gurian Krimanchuli on the Black Sea</a:t>
            </a:r>
          </a:p>
        </p:txBody>
      </p:sp>
      <p:cxnSp>
        <p:nvCxnSpPr>
          <p:cNvPr id="6" name="Connector 5"/>
          <p:cNvCxnSpPr/>
          <p:nvPr/>
        </p:nvCxnSpPr>
        <p:spPr>
          <a:xfrm>
            <a:off x="731520" y="3383280"/>
            <a:ext cx="10515600" cy="0"/>
          </a:xfrm>
          <a:prstGeom prst="line">
            <a:avLst/>
          </a:prstGeom>
          <a:ln w="9525">
            <a:solidFill>
              <a:srgbClr val="000000"/>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731520" y="3566160"/>
            <a:ext cx="1828800" cy="228600"/>
          </a:xfrm>
          <a:prstGeom prst="rect">
            <a:avLst/>
          </a:prstGeom>
          <a:noFill/>
          <a:effectLst/>
        </p:spPr>
        <p:txBody>
          <a:bodyPr wrap="square">
            <a:spAutoFit/>
          </a:bodyPr>
          <a:lstStyle/>
          <a:p>
            <a:pPr algn="l">
              <a:lnSpc>
                <a:spcPts val="1200"/>
              </a:lnSpc>
              <a:defRPr sz="800" b="0" i="0">
                <a:solidFill>
                  <a:srgbClr val="707070"/>
                </a:solidFill>
                <a:latin typeface="Fraunces"/>
              </a:defRPr>
            </a:pPr>
            <a:r>
              <a:t>THE STORY</a:t>
            </a:r>
          </a:p>
        </p:txBody>
      </p:sp>
      <p:sp>
        <p:nvSpPr>
          <p:cNvPr id="8" name="TextBox 7"/>
          <p:cNvSpPr txBox="1"/>
          <p:nvPr/>
        </p:nvSpPr>
        <p:spPr>
          <a:xfrm>
            <a:off x="731520" y="3794760"/>
            <a:ext cx="5303520" cy="1645920"/>
          </a:xfrm>
          <a:prstGeom prst="rect">
            <a:avLst/>
          </a:prstGeom>
          <a:noFill/>
          <a:effectLst/>
        </p:spPr>
        <p:txBody>
          <a:bodyPr wrap="square">
            <a:spAutoFit/>
          </a:bodyPr>
          <a:lstStyle/>
          <a:p>
            <a:pPr algn="l">
              <a:lnSpc>
                <a:spcPts val="2200"/>
              </a:lnSpc>
              <a:defRPr sz="1400" b="0" i="0">
                <a:solidFill>
                  <a:srgbClr val="000000"/>
                </a:solidFill>
                <a:latin typeface="Baskerville"/>
              </a:defRPr>
            </a:pPr>
            <a:r>
              <a:t>On the Black Sea side, Gurian polyphony is the most acrobatic of all Georgian song: above the texture flies the krimanchuli, a high yodel-falsetto of tension and release. In Lanchkhuti, the Turkia family has been central to keeping and teaching the Gurian repertoire.</a:t>
            </a:r>
          </a:p>
        </p:txBody>
      </p:sp>
      <p:cxnSp>
        <p:nvCxnSpPr>
          <p:cNvPr id="9" name="Connector 8"/>
          <p:cNvCxnSpPr/>
          <p:nvPr/>
        </p:nvCxnSpPr>
        <p:spPr>
          <a:xfrm>
            <a:off x="6400800" y="3566160"/>
            <a:ext cx="0" cy="2194560"/>
          </a:xfrm>
          <a:prstGeom prst="line">
            <a:avLst/>
          </a:prstGeom>
          <a:ln w="25400">
            <a:solidFill>
              <a:srgbClr val="D8D2CA"/>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766560" y="3566160"/>
            <a:ext cx="1828800" cy="228600"/>
          </a:xfrm>
          <a:prstGeom prst="rect">
            <a:avLst/>
          </a:prstGeom>
          <a:noFill/>
          <a:effectLst/>
        </p:spPr>
        <p:txBody>
          <a:bodyPr wrap="square">
            <a:spAutoFit/>
          </a:bodyPr>
          <a:lstStyle/>
          <a:p>
            <a:pPr algn="l">
              <a:lnSpc>
                <a:spcPts val="1200"/>
              </a:lnSpc>
              <a:defRPr sz="800" b="0" i="0">
                <a:solidFill>
                  <a:srgbClr val="707070"/>
                </a:solidFill>
                <a:latin typeface="Fraunces"/>
              </a:defRPr>
            </a:pPr>
            <a:r>
              <a:t>OUR PROPOSAL</a:t>
            </a:r>
          </a:p>
        </p:txBody>
      </p:sp>
      <p:sp>
        <p:nvSpPr>
          <p:cNvPr id="11" name="TextBox 10"/>
          <p:cNvSpPr txBox="1"/>
          <p:nvPr/>
        </p:nvSpPr>
        <p:spPr>
          <a:xfrm>
            <a:off x="6766560" y="3794760"/>
            <a:ext cx="4754880" cy="1645920"/>
          </a:xfrm>
          <a:prstGeom prst="rect">
            <a:avLst/>
          </a:prstGeom>
          <a:noFill/>
          <a:effectLst/>
        </p:spPr>
        <p:txBody>
          <a:bodyPr wrap="square">
            <a:spAutoFit/>
          </a:bodyPr>
          <a:lstStyle/>
          <a:p>
            <a:pPr algn="l">
              <a:lnSpc>
                <a:spcPts val="2200"/>
              </a:lnSpc>
              <a:defRPr sz="1400" b="0" i="0">
                <a:solidFill>
                  <a:srgbClr val="000000"/>
                </a:solidFill>
                <a:latin typeface="Baskerville"/>
              </a:defRPr>
            </a:pPr>
            <a:r>
              <a:t>INLAND works a supra table in Guria where a three-part song breaks into the krimanchuli — the voice as a household inheritance, taught father to son across the feast.</a:t>
            </a:r>
          </a:p>
        </p:txBody>
      </p:sp>
      <p:sp>
        <p:nvSpPr>
          <p:cNvPr id="12" name="TextBox 11"/>
          <p:cNvSpPr txBox="1"/>
          <p:nvPr/>
        </p:nvSpPr>
        <p:spPr>
          <a:xfrm>
            <a:off x="731520" y="5989320"/>
            <a:ext cx="6583680" cy="320040"/>
          </a:xfrm>
          <a:prstGeom prst="rect">
            <a:avLst/>
          </a:prstGeom>
          <a:noFill/>
          <a:effectLst/>
        </p:spPr>
        <p:txBody>
          <a:bodyPr wrap="square">
            <a:spAutoFit/>
          </a:bodyPr>
          <a:lstStyle/>
          <a:p>
            <a:pPr algn="l">
              <a:lnSpc>
                <a:spcPts val="1600"/>
              </a:lnSpc>
              <a:defRPr sz="1000" b="0" i="0">
                <a:solidFill>
                  <a:srgbClr val="5C5C5C"/>
                </a:solidFill>
                <a:latin typeface="Fraunces"/>
              </a:defRPr>
            </a:pPr>
            <a:r>
              <a:t>Places: Lanchkhuti · Guria</a:t>
            </a:r>
          </a:p>
        </p:txBody>
      </p:sp>
      <p:sp>
        <p:nvSpPr>
          <p:cNvPr id="13" name="TextBox 12"/>
          <p:cNvSpPr txBox="1"/>
          <p:nvPr/>
        </p:nvSpPr>
        <p:spPr>
          <a:xfrm>
            <a:off x="731520" y="6327648"/>
            <a:ext cx="6583680" cy="274320"/>
          </a:xfrm>
          <a:prstGeom prst="rect">
            <a:avLst/>
          </a:prstGeom>
          <a:noFill/>
          <a:effectLst/>
        </p:spPr>
        <p:txBody>
          <a:bodyPr wrap="square">
            <a:spAutoFit/>
          </a:bodyPr>
          <a:lstStyle/>
          <a:p>
            <a:pPr algn="l">
              <a:lnSpc>
                <a:spcPts val="1400"/>
              </a:lnSpc>
              <a:defRPr sz="900" b="0" i="0">
                <a:solidFill>
                  <a:srgbClr val="857F76"/>
                </a:solidFill>
                <a:latin typeface="Fraunces"/>
              </a:defRPr>
            </a:pPr>
            <a:r>
              <a:t>Sources: UNESCO ICH 00008; chortownia.org; harmonychroniclesmag.com</a:t>
            </a:r>
          </a:p>
        </p:txBody>
      </p:sp>
      <p:sp>
        <p:nvSpPr>
          <p:cNvPr id="14" name="TextBox 13"/>
          <p:cNvSpPr txBox="1"/>
          <p:nvPr/>
        </p:nvSpPr>
        <p:spPr>
          <a:xfrm>
            <a:off x="10831068" y="6263640"/>
            <a:ext cx="598932" cy="274320"/>
          </a:xfrm>
          <a:prstGeom prst="rect">
            <a:avLst/>
          </a:prstGeom>
          <a:noFill/>
          <a:effectLst/>
        </p:spPr>
        <p:txBody>
          <a:bodyPr wrap="none">
            <a:spAutoFit/>
          </a:bodyPr>
          <a:lstStyle/>
          <a:p>
            <a:pPr algn="ctr">
              <a:defRPr sz="900">
                <a:solidFill>
                  <a:srgbClr val="5C5C5C"/>
                </a:solidFill>
                <a:latin typeface="Fraunces"/>
              </a:defRPr>
            </a:pPr>
            <a:r>
              <a:t>MUSIC</a:t>
            </a:r>
          </a:p>
        </p:txBody>
        <a:spPr>
          <a:prstGeom prst="roundRect">
            <a:avLst/>
          </a:prstGeom>
          <a:ln w="6350">
            <a:solidFill>
              <a:srgbClr val="B0A89E"/>
            </a:solidFill>
            <a:prstDash val="solid"/>
          </a:ln>
        </a:spPr>
      </p:sp>
      <p:sp>
        <p:nvSpPr>
          <p:cNvPr id="15" name="TextBox 14"/>
          <p:cNvSpPr txBox="1"/>
          <p:nvPr/>
        </p:nvSpPr>
        <p:spPr>
          <a:xfrm>
            <a:off x="10026396" y="6263640"/>
            <a:ext cx="667512" cy="274320"/>
          </a:xfrm>
          <a:prstGeom prst="rect">
            <a:avLst/>
          </a:prstGeom>
          <a:noFill/>
          <a:effectLst/>
        </p:spPr>
        <p:txBody>
          <a:bodyPr wrap="none">
            <a:spAutoFit/>
          </a:bodyPr>
          <a:lstStyle/>
          <a:p>
            <a:pPr algn="ctr">
              <a:defRPr sz="900">
                <a:solidFill>
                  <a:srgbClr val="5C5C5C"/>
                </a:solidFill>
                <a:latin typeface="Fraunces"/>
              </a:defRPr>
            </a:pPr>
            <a:r>
              <a:t>UNESCO</a:t>
            </a:r>
          </a:p>
        </p:txBody>
        <a:spPr>
          <a:prstGeom prst="roundRect">
            <a:avLst/>
          </a:prstGeom>
          <a:ln w="6350">
            <a:solidFill>
              <a:srgbClr val="B0A89E"/>
            </a:solidFill>
            <a:prstDash val="solid"/>
          </a:ln>
        </a:spPr>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9F4EE"/>
        </a:solidFill>
        <a:effectLst/>
      </p:bgPr>
    </p:bg>
    <p:spTree>
      <p:nvGrpSpPr>
        <p:cNvPr id="1" name=""/>
        <p:cNvGrpSpPr/>
        <p:nvPr/>
      </p:nvGrpSpPr>
      <p:grpSpPr/>
      <p:sp>
        <p:nvSpPr>
          <p:cNvPr id="2" name="TextBox 1"/>
          <p:cNvSpPr txBox="1"/>
          <p:nvPr/>
        </p:nvSpPr>
        <p:spPr>
          <a:xfrm>
            <a:off x="10058400" y="365760"/>
            <a:ext cx="1828800" cy="914400"/>
          </a:xfrm>
          <a:prstGeom prst="rect">
            <a:avLst/>
          </a:prstGeom>
          <a:noFill/>
          <a:effectLst/>
        </p:spPr>
        <p:txBody>
          <a:bodyPr wrap="square">
            <a:spAutoFit/>
          </a:bodyPr>
          <a:lstStyle/>
          <a:p>
            <a:pPr algn="r">
              <a:lnSpc>
                <a:spcPts val="10200"/>
              </a:lnSpc>
              <a:defRPr sz="6400" b="0" i="0">
                <a:solidFill>
                  <a:srgbClr val="400505"/>
                </a:solidFill>
                <a:latin typeface="Baskerville"/>
              </a:defRPr>
            </a:pPr>
            <a:r>
              <a:t>05</a:t>
            </a:r>
          </a:p>
        </p:txBody>
      </p:sp>
      <p:sp>
        <p:nvSpPr>
          <p:cNvPr id="3" name="TextBox 2"/>
          <p:cNvSpPr txBox="1"/>
          <p:nvPr/>
        </p:nvSpPr>
        <p:spPr>
          <a:xfrm>
            <a:off x="731520" y="548640"/>
            <a:ext cx="4572000" cy="365760"/>
          </a:xfrm>
          <a:prstGeom prst="rect">
            <a:avLst/>
          </a:prstGeom>
          <a:noFill/>
          <a:effectLst/>
        </p:spPr>
        <p:txBody>
          <a:bodyPr wrap="square">
            <a:spAutoFit/>
          </a:bodyPr>
          <a:lstStyle/>
          <a:p>
            <a:pPr algn="l">
              <a:lnSpc>
                <a:spcPts val="1700"/>
              </a:lnSpc>
              <a:defRPr sz="1100" b="0" i="0">
                <a:solidFill>
                  <a:srgbClr val="5C5C5C"/>
                </a:solidFill>
                <a:latin typeface="Fraunces"/>
              </a:defRPr>
            </a:pPr>
            <a:r>
              <a:t>ARTS &amp; CULTURE</a:t>
            </a:r>
          </a:p>
        </p:txBody>
      </p:sp>
      <p:sp>
        <p:nvSpPr>
          <p:cNvPr id="4" name="TextBox 3"/>
          <p:cNvSpPr txBox="1"/>
          <p:nvPr/>
        </p:nvSpPr>
        <p:spPr>
          <a:xfrm>
            <a:off x="731520" y="1463040"/>
            <a:ext cx="9144000" cy="1097280"/>
          </a:xfrm>
          <a:prstGeom prst="rect">
            <a:avLst/>
          </a:prstGeom>
          <a:noFill/>
          <a:effectLst/>
        </p:spPr>
        <p:txBody>
          <a:bodyPr wrap="square">
            <a:spAutoFit/>
          </a:bodyPr>
          <a:lstStyle/>
          <a:p>
            <a:pPr algn="l">
              <a:lnSpc>
                <a:spcPts val="6000"/>
              </a:lnSpc>
              <a:defRPr sz="3800" b="0" i="0">
                <a:solidFill>
                  <a:srgbClr val="000000"/>
                </a:solidFill>
                <a:latin typeface="Baskerville"/>
              </a:defRPr>
            </a:pPr>
            <a:r>
              <a:t>The Fire in the Enamel</a:t>
            </a:r>
          </a:p>
        </p:txBody>
      </p:sp>
      <p:sp>
        <p:nvSpPr>
          <p:cNvPr id="5" name="TextBox 4"/>
          <p:cNvSpPr txBox="1"/>
          <p:nvPr/>
        </p:nvSpPr>
        <p:spPr>
          <a:xfrm>
            <a:off x="731520" y="2560320"/>
            <a:ext cx="9144000" cy="731520"/>
          </a:xfrm>
          <a:prstGeom prst="rect">
            <a:avLst/>
          </a:prstGeom>
          <a:noFill/>
          <a:effectLst/>
        </p:spPr>
        <p:txBody>
          <a:bodyPr wrap="square">
            <a:spAutoFit/>
          </a:bodyPr>
          <a:lstStyle/>
          <a:p>
            <a:pPr algn="l">
              <a:lnSpc>
                <a:spcPts val="3800"/>
              </a:lnSpc>
              <a:defRPr sz="2400" b="0" i="1">
                <a:solidFill>
                  <a:srgbClr val="5C5C5C"/>
                </a:solidFill>
                <a:latin typeface="Baskerville"/>
              </a:defRPr>
            </a:pPr>
            <a:r>
              <a:t>The Minankari Revival of Tbilisi</a:t>
            </a:r>
          </a:p>
        </p:txBody>
      </p:sp>
      <p:cxnSp>
        <p:nvCxnSpPr>
          <p:cNvPr id="6" name="Connector 5"/>
          <p:cNvCxnSpPr/>
          <p:nvPr/>
        </p:nvCxnSpPr>
        <p:spPr>
          <a:xfrm>
            <a:off x="731520" y="3383280"/>
            <a:ext cx="10515600" cy="0"/>
          </a:xfrm>
          <a:prstGeom prst="line">
            <a:avLst/>
          </a:prstGeom>
          <a:ln w="9525">
            <a:solidFill>
              <a:srgbClr val="000000"/>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731520" y="3566160"/>
            <a:ext cx="1828800" cy="228600"/>
          </a:xfrm>
          <a:prstGeom prst="rect">
            <a:avLst/>
          </a:prstGeom>
          <a:noFill/>
          <a:effectLst/>
        </p:spPr>
        <p:txBody>
          <a:bodyPr wrap="square">
            <a:spAutoFit/>
          </a:bodyPr>
          <a:lstStyle/>
          <a:p>
            <a:pPr algn="l">
              <a:lnSpc>
                <a:spcPts val="1200"/>
              </a:lnSpc>
              <a:defRPr sz="800" b="0" i="0">
                <a:solidFill>
                  <a:srgbClr val="707070"/>
                </a:solidFill>
                <a:latin typeface="Fraunces"/>
              </a:defRPr>
            </a:pPr>
            <a:r>
              <a:t>THE STORY</a:t>
            </a:r>
          </a:p>
        </p:txBody>
      </p:sp>
      <p:sp>
        <p:nvSpPr>
          <p:cNvPr id="8" name="TextBox 7"/>
          <p:cNvSpPr txBox="1"/>
          <p:nvPr/>
        </p:nvSpPr>
        <p:spPr>
          <a:xfrm>
            <a:off x="731520" y="3794760"/>
            <a:ext cx="5303520" cy="1645920"/>
          </a:xfrm>
          <a:prstGeom prst="rect">
            <a:avLst/>
          </a:prstGeom>
          <a:noFill/>
          <a:effectLst/>
        </p:spPr>
        <p:txBody>
          <a:bodyPr wrap="square">
            <a:spAutoFit/>
          </a:bodyPr>
          <a:lstStyle/>
          <a:p>
            <a:pPr algn="l">
              <a:lnSpc>
                <a:spcPts val="2200"/>
              </a:lnSpc>
              <a:defRPr sz="1400" b="0" i="0">
                <a:solidFill>
                  <a:srgbClr val="000000"/>
                </a:solidFill>
                <a:latin typeface="Baskerville"/>
              </a:defRPr>
            </a:pPr>
            <a:r>
              <a:t>Minankari, Georgian cloisonné enamel, reached its height between the 10th and 15th centuries on icons and crosses, then was abandoned for centuries. Over the last two decades Tbilisi artists have revived it by an almost unchanged hand process, centred on the ‘Ornament’ gallery.</a:t>
            </a:r>
          </a:p>
        </p:txBody>
      </p:sp>
      <p:cxnSp>
        <p:nvCxnSpPr>
          <p:cNvPr id="9" name="Connector 8"/>
          <p:cNvCxnSpPr/>
          <p:nvPr/>
        </p:nvCxnSpPr>
        <p:spPr>
          <a:xfrm>
            <a:off x="6400800" y="3566160"/>
            <a:ext cx="0" cy="2194560"/>
          </a:xfrm>
          <a:prstGeom prst="line">
            <a:avLst/>
          </a:prstGeom>
          <a:ln w="25400">
            <a:solidFill>
              <a:srgbClr val="D8D2CA"/>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766560" y="3566160"/>
            <a:ext cx="1828800" cy="228600"/>
          </a:xfrm>
          <a:prstGeom prst="rect">
            <a:avLst/>
          </a:prstGeom>
          <a:noFill/>
          <a:effectLst/>
        </p:spPr>
        <p:txBody>
          <a:bodyPr wrap="square">
            <a:spAutoFit/>
          </a:bodyPr>
          <a:lstStyle/>
          <a:p>
            <a:pPr algn="l">
              <a:lnSpc>
                <a:spcPts val="1200"/>
              </a:lnSpc>
              <a:defRPr sz="800" b="0" i="0">
                <a:solidFill>
                  <a:srgbClr val="707070"/>
                </a:solidFill>
                <a:latin typeface="Fraunces"/>
              </a:defRPr>
            </a:pPr>
            <a:r>
              <a:t>OUR PROPOSAL</a:t>
            </a:r>
          </a:p>
        </p:txBody>
      </p:sp>
      <p:sp>
        <p:nvSpPr>
          <p:cNvPr id="11" name="TextBox 10"/>
          <p:cNvSpPr txBox="1"/>
          <p:nvPr/>
        </p:nvSpPr>
        <p:spPr>
          <a:xfrm>
            <a:off x="6766560" y="3794760"/>
            <a:ext cx="4754880" cy="1645920"/>
          </a:xfrm>
          <a:prstGeom prst="rect">
            <a:avLst/>
          </a:prstGeom>
          <a:noFill/>
          <a:effectLst/>
        </p:spPr>
        <p:txBody>
          <a:bodyPr wrap="square">
            <a:spAutoFit/>
          </a:bodyPr>
          <a:lstStyle/>
          <a:p>
            <a:pPr algn="l">
              <a:lnSpc>
                <a:spcPts val="2200"/>
              </a:lnSpc>
              <a:defRPr sz="1400" b="0" i="0">
                <a:solidFill>
                  <a:srgbClr val="000000"/>
                </a:solidFill>
                <a:latin typeface="Baskerville"/>
              </a:defRPr>
            </a:pPr>
            <a:r>
              <a:t>INLAND portraits a master — Thea Gurgenidze among them — laying gold wire into cells and firing colour at the bench: a medieval church technique alive in a living hand, taught to an apprentice.</a:t>
            </a:r>
          </a:p>
        </p:txBody>
      </p:sp>
      <p:sp>
        <p:nvSpPr>
          <p:cNvPr id="12" name="TextBox 11"/>
          <p:cNvSpPr txBox="1"/>
          <p:nvPr/>
        </p:nvSpPr>
        <p:spPr>
          <a:xfrm>
            <a:off x="731520" y="5989320"/>
            <a:ext cx="6583680" cy="320040"/>
          </a:xfrm>
          <a:prstGeom prst="rect">
            <a:avLst/>
          </a:prstGeom>
          <a:noFill/>
          <a:effectLst/>
        </p:spPr>
        <p:txBody>
          <a:bodyPr wrap="square">
            <a:spAutoFit/>
          </a:bodyPr>
          <a:lstStyle/>
          <a:p>
            <a:pPr algn="l">
              <a:lnSpc>
                <a:spcPts val="1600"/>
              </a:lnSpc>
              <a:defRPr sz="1000" b="0" i="0">
                <a:solidFill>
                  <a:srgbClr val="5C5C5C"/>
                </a:solidFill>
                <a:latin typeface="Fraunces"/>
              </a:defRPr>
            </a:pPr>
            <a:r>
              <a:t>Places: Tbilisi · the ‘Ornament’ gallery</a:t>
            </a:r>
          </a:p>
        </p:txBody>
      </p:sp>
      <p:sp>
        <p:nvSpPr>
          <p:cNvPr id="13" name="TextBox 12"/>
          <p:cNvSpPr txBox="1"/>
          <p:nvPr/>
        </p:nvSpPr>
        <p:spPr>
          <a:xfrm>
            <a:off x="731520" y="6327648"/>
            <a:ext cx="6583680" cy="274320"/>
          </a:xfrm>
          <a:prstGeom prst="rect">
            <a:avLst/>
          </a:prstGeom>
          <a:noFill/>
          <a:effectLst/>
        </p:spPr>
        <p:txBody>
          <a:bodyPr wrap="square">
            <a:spAutoFit/>
          </a:bodyPr>
          <a:lstStyle/>
          <a:p>
            <a:pPr algn="l">
              <a:lnSpc>
                <a:spcPts val="1400"/>
              </a:lnSpc>
              <a:defRPr sz="900" b="0" i="0">
                <a:solidFill>
                  <a:srgbClr val="857F76"/>
                </a:solidFill>
                <a:latin typeface="Fraunces"/>
              </a:defRPr>
            </a:pPr>
            <a:r>
              <a:t>Sources: NTD; mygeotrip (Minankari; Ornament); georgia.to</a:t>
            </a:r>
          </a:p>
        </p:txBody>
      </p:sp>
      <p:sp>
        <p:nvSpPr>
          <p:cNvPr id="14" name="TextBox 13"/>
          <p:cNvSpPr txBox="1"/>
          <p:nvPr/>
        </p:nvSpPr>
        <p:spPr>
          <a:xfrm>
            <a:off x="10693908" y="6263640"/>
            <a:ext cx="736092" cy="274320"/>
          </a:xfrm>
          <a:prstGeom prst="rect">
            <a:avLst/>
          </a:prstGeom>
          <a:noFill/>
          <a:effectLst/>
        </p:spPr>
        <p:txBody>
          <a:bodyPr wrap="none">
            <a:spAutoFit/>
          </a:bodyPr>
          <a:lstStyle/>
          <a:p>
            <a:pPr algn="ctr">
              <a:defRPr sz="900">
                <a:solidFill>
                  <a:srgbClr val="5C5C5C"/>
                </a:solidFill>
                <a:latin typeface="Fraunces"/>
              </a:defRPr>
            </a:pPr>
            <a:r>
              <a:t>REVIVAL</a:t>
            </a:r>
          </a:p>
        </p:txBody>
        <a:spPr>
          <a:prstGeom prst="roundRect">
            <a:avLst/>
          </a:prstGeom>
          <a:ln w="6350">
            <a:solidFill>
              <a:srgbClr val="B0A89E"/>
            </a:solidFill>
            <a:prstDash val="solid"/>
          </a:ln>
        </a:spPr>
      </p:sp>
      <p:sp>
        <p:nvSpPr>
          <p:cNvPr id="15" name="TextBox 14"/>
          <p:cNvSpPr txBox="1"/>
          <p:nvPr/>
        </p:nvSpPr>
        <p:spPr>
          <a:xfrm>
            <a:off x="9957816" y="6263640"/>
            <a:ext cx="598932" cy="274320"/>
          </a:xfrm>
          <a:prstGeom prst="rect">
            <a:avLst/>
          </a:prstGeom>
          <a:noFill/>
          <a:effectLst/>
        </p:spPr>
        <p:txBody>
          <a:bodyPr wrap="none">
            <a:spAutoFit/>
          </a:bodyPr>
          <a:lstStyle/>
          <a:p>
            <a:pPr algn="ctr">
              <a:defRPr sz="900">
                <a:solidFill>
                  <a:srgbClr val="5C5C5C"/>
                </a:solidFill>
                <a:latin typeface="Fraunces"/>
              </a:defRPr>
            </a:pPr>
            <a:r>
              <a:t>CRAFT</a:t>
            </a:r>
          </a:p>
        </p:txBody>
        <a:spPr>
          <a:prstGeom prst="roundRect">
            <a:avLst/>
          </a:prstGeom>
          <a:ln w="6350">
            <a:solidFill>
              <a:srgbClr val="B0A89E"/>
            </a:solidFill>
            <a:prstDash val="solid"/>
          </a:ln>
        </a:spPr>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9F4EE"/>
        </a:solidFill>
        <a:effectLst/>
      </p:bgPr>
    </p:bg>
    <p:spTree>
      <p:nvGrpSpPr>
        <p:cNvPr id="1" name=""/>
        <p:cNvGrpSpPr/>
        <p:nvPr/>
      </p:nvGrpSpPr>
      <p:grpSpPr/>
      <p:sp>
        <p:nvSpPr>
          <p:cNvPr id="2" name="TextBox 1"/>
          <p:cNvSpPr txBox="1"/>
          <p:nvPr/>
        </p:nvSpPr>
        <p:spPr>
          <a:xfrm>
            <a:off x="10058400" y="365760"/>
            <a:ext cx="1828800" cy="914400"/>
          </a:xfrm>
          <a:prstGeom prst="rect">
            <a:avLst/>
          </a:prstGeom>
          <a:noFill/>
          <a:effectLst/>
        </p:spPr>
        <p:txBody>
          <a:bodyPr wrap="square">
            <a:spAutoFit/>
          </a:bodyPr>
          <a:lstStyle/>
          <a:p>
            <a:pPr algn="r">
              <a:lnSpc>
                <a:spcPts val="10200"/>
              </a:lnSpc>
              <a:defRPr sz="6400" b="0" i="0">
                <a:solidFill>
                  <a:srgbClr val="400505"/>
                </a:solidFill>
                <a:latin typeface="Baskerville"/>
              </a:defRPr>
            </a:pPr>
            <a:r>
              <a:t>06</a:t>
            </a:r>
          </a:p>
        </p:txBody>
      </p:sp>
      <p:sp>
        <p:nvSpPr>
          <p:cNvPr id="3" name="TextBox 2"/>
          <p:cNvSpPr txBox="1"/>
          <p:nvPr/>
        </p:nvSpPr>
        <p:spPr>
          <a:xfrm>
            <a:off x="731520" y="548640"/>
            <a:ext cx="4572000" cy="365760"/>
          </a:xfrm>
          <a:prstGeom prst="rect">
            <a:avLst/>
          </a:prstGeom>
          <a:noFill/>
          <a:effectLst/>
        </p:spPr>
        <p:txBody>
          <a:bodyPr wrap="square">
            <a:spAutoFit/>
          </a:bodyPr>
          <a:lstStyle/>
          <a:p>
            <a:pPr algn="l">
              <a:lnSpc>
                <a:spcPts val="1700"/>
              </a:lnSpc>
              <a:defRPr sz="1100" b="0" i="0">
                <a:solidFill>
                  <a:srgbClr val="5C5C5C"/>
                </a:solidFill>
                <a:latin typeface="Fraunces"/>
              </a:defRPr>
            </a:pPr>
            <a:r>
              <a:t>FOOD</a:t>
            </a:r>
          </a:p>
        </p:txBody>
      </p:sp>
      <p:sp>
        <p:nvSpPr>
          <p:cNvPr id="4" name="TextBox 3"/>
          <p:cNvSpPr txBox="1"/>
          <p:nvPr/>
        </p:nvSpPr>
        <p:spPr>
          <a:xfrm>
            <a:off x="731520" y="1463040"/>
            <a:ext cx="9144000" cy="1097280"/>
          </a:xfrm>
          <a:prstGeom prst="rect">
            <a:avLst/>
          </a:prstGeom>
          <a:noFill/>
          <a:effectLst/>
        </p:spPr>
        <p:txBody>
          <a:bodyPr wrap="square">
            <a:spAutoFit/>
          </a:bodyPr>
          <a:lstStyle/>
          <a:p>
            <a:pPr algn="l">
              <a:lnSpc>
                <a:spcPts val="6000"/>
              </a:lnSpc>
              <a:defRPr sz="3800" b="0" i="0">
                <a:solidFill>
                  <a:srgbClr val="000000"/>
                </a:solidFill>
                <a:latin typeface="Baskerville"/>
              </a:defRPr>
            </a:pPr>
            <a:r>
              <a:t>The Wine Under the Floor</a:t>
            </a:r>
          </a:p>
        </p:txBody>
      </p:sp>
      <p:sp>
        <p:nvSpPr>
          <p:cNvPr id="5" name="TextBox 4"/>
          <p:cNvSpPr txBox="1"/>
          <p:nvPr/>
        </p:nvSpPr>
        <p:spPr>
          <a:xfrm>
            <a:off x="731520" y="2560320"/>
            <a:ext cx="9144000" cy="731520"/>
          </a:xfrm>
          <a:prstGeom prst="rect">
            <a:avLst/>
          </a:prstGeom>
          <a:noFill/>
          <a:effectLst/>
        </p:spPr>
        <p:txBody>
          <a:bodyPr wrap="square">
            <a:spAutoFit/>
          </a:bodyPr>
          <a:lstStyle/>
          <a:p>
            <a:pPr algn="l">
              <a:lnSpc>
                <a:spcPts val="3800"/>
              </a:lnSpc>
              <a:defRPr sz="2400" b="0" i="1">
                <a:solidFill>
                  <a:srgbClr val="5C5C5C"/>
                </a:solidFill>
                <a:latin typeface="Baskerville"/>
              </a:defRPr>
            </a:pPr>
            <a:r>
              <a:t>Qvevri &amp; the Marani at Harvest</a:t>
            </a:r>
          </a:p>
        </p:txBody>
      </p:sp>
      <p:cxnSp>
        <p:nvCxnSpPr>
          <p:cNvPr id="6" name="Connector 5"/>
          <p:cNvCxnSpPr/>
          <p:nvPr/>
        </p:nvCxnSpPr>
        <p:spPr>
          <a:xfrm>
            <a:off x="731520" y="3383280"/>
            <a:ext cx="10515600" cy="0"/>
          </a:xfrm>
          <a:prstGeom prst="line">
            <a:avLst/>
          </a:prstGeom>
          <a:ln w="9525">
            <a:solidFill>
              <a:srgbClr val="000000"/>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731520" y="3566160"/>
            <a:ext cx="1828800" cy="228600"/>
          </a:xfrm>
          <a:prstGeom prst="rect">
            <a:avLst/>
          </a:prstGeom>
          <a:noFill/>
          <a:effectLst/>
        </p:spPr>
        <p:txBody>
          <a:bodyPr wrap="square">
            <a:spAutoFit/>
          </a:bodyPr>
          <a:lstStyle/>
          <a:p>
            <a:pPr algn="l">
              <a:lnSpc>
                <a:spcPts val="1200"/>
              </a:lnSpc>
              <a:defRPr sz="800" b="0" i="0">
                <a:solidFill>
                  <a:srgbClr val="707070"/>
                </a:solidFill>
                <a:latin typeface="Fraunces"/>
              </a:defRPr>
            </a:pPr>
            <a:r>
              <a:t>THE STORY</a:t>
            </a:r>
          </a:p>
        </p:txBody>
      </p:sp>
      <p:sp>
        <p:nvSpPr>
          <p:cNvPr id="8" name="TextBox 7"/>
          <p:cNvSpPr txBox="1"/>
          <p:nvPr/>
        </p:nvSpPr>
        <p:spPr>
          <a:xfrm>
            <a:off x="731520" y="3794760"/>
            <a:ext cx="5303520" cy="1645920"/>
          </a:xfrm>
          <a:prstGeom prst="rect">
            <a:avLst/>
          </a:prstGeom>
          <a:noFill/>
          <a:effectLst/>
        </p:spPr>
        <p:txBody>
          <a:bodyPr wrap="square">
            <a:spAutoFit/>
          </a:bodyPr>
          <a:lstStyle/>
          <a:p>
            <a:pPr algn="l">
              <a:lnSpc>
                <a:spcPts val="2200"/>
              </a:lnSpc>
              <a:defRPr sz="1400" b="0" i="0">
                <a:solidFill>
                  <a:srgbClr val="000000"/>
                </a:solidFill>
                <a:latin typeface="Baskerville"/>
              </a:defRPr>
            </a:pPr>
            <a:r>
              <a:t>Georgia’s 8,000 years of winemaking are lived, not marketed, in the marani — the cellar where egg-shaped qvevri are buried to the neck and the wine ferments on its skins through the cold without machinery. The qvevri themselves are still thrown by a few families at Vardisubani.</a:t>
            </a:r>
          </a:p>
        </p:txBody>
      </p:sp>
      <p:cxnSp>
        <p:nvCxnSpPr>
          <p:cNvPr id="9" name="Connector 8"/>
          <p:cNvCxnSpPr/>
          <p:nvPr/>
        </p:nvCxnSpPr>
        <p:spPr>
          <a:xfrm>
            <a:off x="6400800" y="3566160"/>
            <a:ext cx="0" cy="2194560"/>
          </a:xfrm>
          <a:prstGeom prst="line">
            <a:avLst/>
          </a:prstGeom>
          <a:ln w="25400">
            <a:solidFill>
              <a:srgbClr val="D8D2CA"/>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766560" y="3566160"/>
            <a:ext cx="1828800" cy="228600"/>
          </a:xfrm>
          <a:prstGeom prst="rect">
            <a:avLst/>
          </a:prstGeom>
          <a:noFill/>
          <a:effectLst/>
        </p:spPr>
        <p:txBody>
          <a:bodyPr wrap="square">
            <a:spAutoFit/>
          </a:bodyPr>
          <a:lstStyle/>
          <a:p>
            <a:pPr algn="l">
              <a:lnSpc>
                <a:spcPts val="1200"/>
              </a:lnSpc>
              <a:defRPr sz="800" b="0" i="0">
                <a:solidFill>
                  <a:srgbClr val="707070"/>
                </a:solidFill>
                <a:latin typeface="Fraunces"/>
              </a:defRPr>
            </a:pPr>
            <a:r>
              <a:t>OUR PROPOSAL</a:t>
            </a:r>
          </a:p>
        </p:txBody>
      </p:sp>
      <p:sp>
        <p:nvSpPr>
          <p:cNvPr id="11" name="TextBox 10"/>
          <p:cNvSpPr txBox="1"/>
          <p:nvPr/>
        </p:nvSpPr>
        <p:spPr>
          <a:xfrm>
            <a:off x="6766560" y="3794760"/>
            <a:ext cx="4754880" cy="1645920"/>
          </a:xfrm>
          <a:prstGeom prst="rect">
            <a:avLst/>
          </a:prstGeom>
          <a:noFill/>
          <a:effectLst/>
        </p:spPr>
        <p:txBody>
          <a:bodyPr wrap="square">
            <a:spAutoFit/>
          </a:bodyPr>
          <a:lstStyle/>
          <a:p>
            <a:pPr algn="l">
              <a:lnSpc>
                <a:spcPts val="2200"/>
              </a:lnSpc>
              <a:defRPr sz="1400" b="0" i="0">
                <a:solidFill>
                  <a:srgbClr val="000000"/>
                </a:solidFill>
                <a:latin typeface="Baskerville"/>
              </a:defRPr>
            </a:pPr>
            <a:r>
              <a:t>INLAND follows a Kakhetian family through rtveli, the harvest — the pressing, the qvevri sealed underground, the feast — and the potter at Vardisubani firing a vessel taller than a man.</a:t>
            </a:r>
          </a:p>
        </p:txBody>
      </p:sp>
      <p:sp>
        <p:nvSpPr>
          <p:cNvPr id="12" name="TextBox 11"/>
          <p:cNvSpPr txBox="1"/>
          <p:nvPr/>
        </p:nvSpPr>
        <p:spPr>
          <a:xfrm>
            <a:off x="731520" y="5989320"/>
            <a:ext cx="6583680" cy="320040"/>
          </a:xfrm>
          <a:prstGeom prst="rect">
            <a:avLst/>
          </a:prstGeom>
          <a:noFill/>
          <a:effectLst/>
        </p:spPr>
        <p:txBody>
          <a:bodyPr wrap="square">
            <a:spAutoFit/>
          </a:bodyPr>
          <a:lstStyle/>
          <a:p>
            <a:pPr algn="l">
              <a:lnSpc>
                <a:spcPts val="1600"/>
              </a:lnSpc>
              <a:defRPr sz="1000" b="0" i="0">
                <a:solidFill>
                  <a:srgbClr val="5C5C5C"/>
                </a:solidFill>
                <a:latin typeface="Fraunces"/>
              </a:defRPr>
            </a:pPr>
            <a:r>
              <a:t>Places: Kakheti · Vardisubani · Telavi</a:t>
            </a:r>
          </a:p>
        </p:txBody>
      </p:sp>
      <p:sp>
        <p:nvSpPr>
          <p:cNvPr id="13" name="TextBox 12"/>
          <p:cNvSpPr txBox="1"/>
          <p:nvPr/>
        </p:nvSpPr>
        <p:spPr>
          <a:xfrm>
            <a:off x="731520" y="6327648"/>
            <a:ext cx="6583680" cy="274320"/>
          </a:xfrm>
          <a:prstGeom prst="rect">
            <a:avLst/>
          </a:prstGeom>
          <a:noFill/>
          <a:effectLst/>
        </p:spPr>
        <p:txBody>
          <a:bodyPr wrap="square">
            <a:spAutoFit/>
          </a:bodyPr>
          <a:lstStyle/>
          <a:p>
            <a:pPr algn="l">
              <a:lnSpc>
                <a:spcPts val="1400"/>
              </a:lnSpc>
              <a:defRPr sz="900" b="0" i="0">
                <a:solidFill>
                  <a:srgbClr val="857F76"/>
                </a:solidFill>
                <a:latin typeface="Fraunces"/>
              </a:defRPr>
            </a:pPr>
            <a:r>
              <a:t>Sources: UNESCO ICH 00870; wine.gov.ge; Decanter; winesgeorgia.com</a:t>
            </a:r>
          </a:p>
        </p:txBody>
      </p:sp>
      <p:sp>
        <p:nvSpPr>
          <p:cNvPr id="14" name="TextBox 13"/>
          <p:cNvSpPr txBox="1"/>
          <p:nvPr/>
        </p:nvSpPr>
        <p:spPr>
          <a:xfrm>
            <a:off x="10693908" y="6263640"/>
            <a:ext cx="736092" cy="274320"/>
          </a:xfrm>
          <a:prstGeom prst="rect">
            <a:avLst/>
          </a:prstGeom>
          <a:noFill/>
          <a:effectLst/>
        </p:spPr>
        <p:txBody>
          <a:bodyPr wrap="none">
            <a:spAutoFit/>
          </a:bodyPr>
          <a:lstStyle/>
          <a:p>
            <a:pPr algn="ctr">
              <a:defRPr sz="900">
                <a:solidFill>
                  <a:srgbClr val="5C5C5C"/>
                </a:solidFill>
                <a:latin typeface="Fraunces"/>
              </a:defRPr>
            </a:pPr>
            <a:r>
              <a:t>HARVEST</a:t>
            </a:r>
          </a:p>
        </p:txBody>
        <a:spPr>
          <a:prstGeom prst="roundRect">
            <a:avLst/>
          </a:prstGeom>
          <a:ln w="6350">
            <a:solidFill>
              <a:srgbClr val="B0A89E"/>
            </a:solidFill>
            <a:prstDash val="solid"/>
          </a:ln>
        </a:spPr>
      </p:sp>
      <p:sp>
        <p:nvSpPr>
          <p:cNvPr id="15" name="TextBox 14"/>
          <p:cNvSpPr txBox="1"/>
          <p:nvPr/>
        </p:nvSpPr>
        <p:spPr>
          <a:xfrm>
            <a:off x="9889236" y="6263640"/>
            <a:ext cx="667512" cy="274320"/>
          </a:xfrm>
          <a:prstGeom prst="rect">
            <a:avLst/>
          </a:prstGeom>
          <a:noFill/>
          <a:effectLst/>
        </p:spPr>
        <p:txBody>
          <a:bodyPr wrap="none">
            <a:spAutoFit/>
          </a:bodyPr>
          <a:lstStyle/>
          <a:p>
            <a:pPr algn="ctr">
              <a:defRPr sz="900">
                <a:solidFill>
                  <a:srgbClr val="5C5C5C"/>
                </a:solidFill>
                <a:latin typeface="Fraunces"/>
              </a:defRPr>
            </a:pPr>
            <a:r>
              <a:t>UNESCO</a:t>
            </a:r>
          </a:p>
        </p:txBody>
        <a:spPr>
          <a:prstGeom prst="roundRect">
            <a:avLst/>
          </a:prstGeom>
          <a:ln w="6350">
            <a:solidFill>
              <a:srgbClr val="B0A89E"/>
            </a:solidFill>
            <a:prstDash val="solid"/>
          </a:ln>
        </a:spPr>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9F4EE"/>
        </a:solidFill>
        <a:effectLst/>
      </p:bgPr>
    </p:bg>
    <p:spTree>
      <p:nvGrpSpPr>
        <p:cNvPr id="1" name=""/>
        <p:cNvGrpSpPr/>
        <p:nvPr/>
      </p:nvGrpSpPr>
      <p:grpSpPr/>
      <p:sp>
        <p:nvSpPr>
          <p:cNvPr id="2" name="TextBox 1"/>
          <p:cNvSpPr txBox="1"/>
          <p:nvPr/>
        </p:nvSpPr>
        <p:spPr>
          <a:xfrm>
            <a:off x="10058400" y="365760"/>
            <a:ext cx="1828800" cy="914400"/>
          </a:xfrm>
          <a:prstGeom prst="rect">
            <a:avLst/>
          </a:prstGeom>
          <a:noFill/>
          <a:effectLst/>
        </p:spPr>
        <p:txBody>
          <a:bodyPr wrap="square">
            <a:spAutoFit/>
          </a:bodyPr>
          <a:lstStyle/>
          <a:p>
            <a:pPr algn="r">
              <a:lnSpc>
                <a:spcPts val="10200"/>
              </a:lnSpc>
              <a:defRPr sz="6400" b="0" i="0">
                <a:solidFill>
                  <a:srgbClr val="400505"/>
                </a:solidFill>
                <a:latin typeface="Baskerville"/>
              </a:defRPr>
            </a:pPr>
            <a:r>
              <a:t>07</a:t>
            </a:r>
          </a:p>
        </p:txBody>
      </p:sp>
      <p:sp>
        <p:nvSpPr>
          <p:cNvPr id="3" name="TextBox 2"/>
          <p:cNvSpPr txBox="1"/>
          <p:nvPr/>
        </p:nvSpPr>
        <p:spPr>
          <a:xfrm>
            <a:off x="731520" y="548640"/>
            <a:ext cx="4572000" cy="365760"/>
          </a:xfrm>
          <a:prstGeom prst="rect">
            <a:avLst/>
          </a:prstGeom>
          <a:noFill/>
          <a:effectLst/>
        </p:spPr>
        <p:txBody>
          <a:bodyPr wrap="square">
            <a:spAutoFit/>
          </a:bodyPr>
          <a:lstStyle/>
          <a:p>
            <a:pPr algn="l">
              <a:lnSpc>
                <a:spcPts val="1700"/>
              </a:lnSpc>
              <a:defRPr sz="1100" b="0" i="0">
                <a:solidFill>
                  <a:srgbClr val="5C5C5C"/>
                </a:solidFill>
                <a:latin typeface="Fraunces"/>
              </a:defRPr>
            </a:pPr>
            <a:r>
              <a:t>FOOD</a:t>
            </a:r>
          </a:p>
        </p:txBody>
      </p:sp>
      <p:sp>
        <p:nvSpPr>
          <p:cNvPr id="4" name="TextBox 3"/>
          <p:cNvSpPr txBox="1"/>
          <p:nvPr/>
        </p:nvSpPr>
        <p:spPr>
          <a:xfrm>
            <a:off x="731520" y="1463040"/>
            <a:ext cx="9144000" cy="1097280"/>
          </a:xfrm>
          <a:prstGeom prst="rect">
            <a:avLst/>
          </a:prstGeom>
          <a:noFill/>
          <a:effectLst/>
        </p:spPr>
        <p:txBody>
          <a:bodyPr wrap="square">
            <a:spAutoFit/>
          </a:bodyPr>
          <a:lstStyle/>
          <a:p>
            <a:pPr algn="l">
              <a:lnSpc>
                <a:spcPts val="6000"/>
              </a:lnSpc>
              <a:defRPr sz="3800" b="0" i="0">
                <a:solidFill>
                  <a:srgbClr val="000000"/>
                </a:solidFill>
                <a:latin typeface="Baskerville"/>
              </a:defRPr>
            </a:pPr>
            <a:r>
              <a:t>The Cheese in the Skin</a:t>
            </a:r>
          </a:p>
        </p:txBody>
      </p:sp>
      <p:sp>
        <p:nvSpPr>
          <p:cNvPr id="5" name="TextBox 4"/>
          <p:cNvSpPr txBox="1"/>
          <p:nvPr/>
        </p:nvSpPr>
        <p:spPr>
          <a:xfrm>
            <a:off x="731520" y="2560320"/>
            <a:ext cx="9144000" cy="731520"/>
          </a:xfrm>
          <a:prstGeom prst="rect">
            <a:avLst/>
          </a:prstGeom>
          <a:noFill/>
          <a:effectLst/>
        </p:spPr>
        <p:txBody>
          <a:bodyPr wrap="square">
            <a:spAutoFit/>
          </a:bodyPr>
          <a:lstStyle/>
          <a:p>
            <a:pPr algn="l">
              <a:lnSpc>
                <a:spcPts val="3800"/>
              </a:lnSpc>
              <a:defRPr sz="2400" b="0" i="1">
                <a:solidFill>
                  <a:srgbClr val="5C5C5C"/>
                </a:solidFill>
                <a:latin typeface="Baskerville"/>
              </a:defRPr>
            </a:pPr>
            <a:r>
              <a:t>Tushetian Guda on the Summer Mountain</a:t>
            </a:r>
          </a:p>
        </p:txBody>
      </p:sp>
      <p:cxnSp>
        <p:nvCxnSpPr>
          <p:cNvPr id="6" name="Connector 5"/>
          <p:cNvCxnSpPr/>
          <p:nvPr/>
        </p:nvCxnSpPr>
        <p:spPr>
          <a:xfrm>
            <a:off x="731520" y="3383280"/>
            <a:ext cx="10515600" cy="0"/>
          </a:xfrm>
          <a:prstGeom prst="line">
            <a:avLst/>
          </a:prstGeom>
          <a:ln w="9525">
            <a:solidFill>
              <a:srgbClr val="000000"/>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731520" y="3566160"/>
            <a:ext cx="1828800" cy="228600"/>
          </a:xfrm>
          <a:prstGeom prst="rect">
            <a:avLst/>
          </a:prstGeom>
          <a:noFill/>
          <a:effectLst/>
        </p:spPr>
        <p:txBody>
          <a:bodyPr wrap="square">
            <a:spAutoFit/>
          </a:bodyPr>
          <a:lstStyle/>
          <a:p>
            <a:pPr algn="l">
              <a:lnSpc>
                <a:spcPts val="1200"/>
              </a:lnSpc>
              <a:defRPr sz="800" b="0" i="0">
                <a:solidFill>
                  <a:srgbClr val="707070"/>
                </a:solidFill>
                <a:latin typeface="Fraunces"/>
              </a:defRPr>
            </a:pPr>
            <a:r>
              <a:t>THE STORY</a:t>
            </a:r>
          </a:p>
        </p:txBody>
      </p:sp>
      <p:sp>
        <p:nvSpPr>
          <p:cNvPr id="8" name="TextBox 7"/>
          <p:cNvSpPr txBox="1"/>
          <p:nvPr/>
        </p:nvSpPr>
        <p:spPr>
          <a:xfrm>
            <a:off x="731520" y="3794760"/>
            <a:ext cx="5303520" cy="1645920"/>
          </a:xfrm>
          <a:prstGeom prst="rect">
            <a:avLst/>
          </a:prstGeom>
          <a:noFill/>
          <a:effectLst/>
        </p:spPr>
        <p:txBody>
          <a:bodyPr wrap="square">
            <a:spAutoFit/>
          </a:bodyPr>
          <a:lstStyle/>
          <a:p>
            <a:pPr algn="l">
              <a:lnSpc>
                <a:spcPts val="2200"/>
              </a:lnSpc>
              <a:defRPr sz="1400" b="0" i="0">
                <a:solidFill>
                  <a:srgbClr val="000000"/>
                </a:solidFill>
                <a:latin typeface="Baskerville"/>
              </a:defRPr>
            </a:pPr>
            <a:r>
              <a:t>Tushetian guda is made by herders during the summer transhumance from whole raw milk, matured inside a guda — a whole sheepskin sack — and covered with the felted nabadi burka so it takes the salt evenly. The women run the dairy and the wool; the Alaznistavi cooperative has revived the craft.</a:t>
            </a:r>
          </a:p>
        </p:txBody>
      </p:sp>
      <p:cxnSp>
        <p:nvCxnSpPr>
          <p:cNvPr id="9" name="Connector 8"/>
          <p:cNvCxnSpPr/>
          <p:nvPr/>
        </p:nvCxnSpPr>
        <p:spPr>
          <a:xfrm>
            <a:off x="6400800" y="3566160"/>
            <a:ext cx="0" cy="2194560"/>
          </a:xfrm>
          <a:prstGeom prst="line">
            <a:avLst/>
          </a:prstGeom>
          <a:ln w="25400">
            <a:solidFill>
              <a:srgbClr val="D8D2CA"/>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766560" y="3566160"/>
            <a:ext cx="1828800" cy="228600"/>
          </a:xfrm>
          <a:prstGeom prst="rect">
            <a:avLst/>
          </a:prstGeom>
          <a:noFill/>
          <a:effectLst/>
        </p:spPr>
        <p:txBody>
          <a:bodyPr wrap="square">
            <a:spAutoFit/>
          </a:bodyPr>
          <a:lstStyle/>
          <a:p>
            <a:pPr algn="l">
              <a:lnSpc>
                <a:spcPts val="1200"/>
              </a:lnSpc>
              <a:defRPr sz="800" b="0" i="0">
                <a:solidFill>
                  <a:srgbClr val="707070"/>
                </a:solidFill>
                <a:latin typeface="Fraunces"/>
              </a:defRPr>
            </a:pPr>
            <a:r>
              <a:t>OUR PROPOSAL</a:t>
            </a:r>
          </a:p>
        </p:txBody>
      </p:sp>
      <p:sp>
        <p:nvSpPr>
          <p:cNvPr id="11" name="TextBox 10"/>
          <p:cNvSpPr txBox="1"/>
          <p:nvPr/>
        </p:nvSpPr>
        <p:spPr>
          <a:xfrm>
            <a:off x="6766560" y="3794760"/>
            <a:ext cx="4754880" cy="1645920"/>
          </a:xfrm>
          <a:prstGeom prst="rect">
            <a:avLst/>
          </a:prstGeom>
          <a:noFill/>
          <a:effectLst/>
        </p:spPr>
        <p:txBody>
          <a:bodyPr wrap="square">
            <a:spAutoFit/>
          </a:bodyPr>
          <a:lstStyle/>
          <a:p>
            <a:pPr algn="l">
              <a:lnSpc>
                <a:spcPts val="2200"/>
              </a:lnSpc>
              <a:defRPr sz="1400" b="0" i="0">
                <a:solidFill>
                  <a:srgbClr val="000000"/>
                </a:solidFill>
                <a:latin typeface="Baskerville"/>
              </a:defRPr>
            </a:pPr>
            <a:r>
              <a:t>INLAND documents a summer dairy hut — milk into skin, the nabadi over the curing room, the pardagi felt carpets — naming a guda maker with the Alaznistavi women.</a:t>
            </a:r>
          </a:p>
        </p:txBody>
      </p:sp>
      <p:sp>
        <p:nvSpPr>
          <p:cNvPr id="12" name="TextBox 11"/>
          <p:cNvSpPr txBox="1"/>
          <p:nvPr/>
        </p:nvSpPr>
        <p:spPr>
          <a:xfrm>
            <a:off x="731520" y="5989320"/>
            <a:ext cx="6583680" cy="320040"/>
          </a:xfrm>
          <a:prstGeom prst="rect">
            <a:avLst/>
          </a:prstGeom>
          <a:noFill/>
          <a:effectLst/>
        </p:spPr>
        <p:txBody>
          <a:bodyPr wrap="square">
            <a:spAutoFit/>
          </a:bodyPr>
          <a:lstStyle/>
          <a:p>
            <a:pPr algn="l">
              <a:lnSpc>
                <a:spcPts val="1600"/>
              </a:lnSpc>
              <a:defRPr sz="1000" b="0" i="0">
                <a:solidFill>
                  <a:srgbClr val="5C5C5C"/>
                </a:solidFill>
                <a:latin typeface="Fraunces"/>
              </a:defRPr>
            </a:pPr>
            <a:r>
              <a:t>Places: Tusheti · Alaznistavi cooperative</a:t>
            </a:r>
          </a:p>
        </p:txBody>
      </p:sp>
      <p:sp>
        <p:nvSpPr>
          <p:cNvPr id="13" name="TextBox 12"/>
          <p:cNvSpPr txBox="1"/>
          <p:nvPr/>
        </p:nvSpPr>
        <p:spPr>
          <a:xfrm>
            <a:off x="731520" y="6327648"/>
            <a:ext cx="6583680" cy="274320"/>
          </a:xfrm>
          <a:prstGeom prst="rect">
            <a:avLst/>
          </a:prstGeom>
          <a:noFill/>
          <a:effectLst/>
        </p:spPr>
        <p:txBody>
          <a:bodyPr wrap="square">
            <a:spAutoFit/>
          </a:bodyPr>
          <a:lstStyle/>
          <a:p>
            <a:pPr algn="l">
              <a:lnSpc>
                <a:spcPts val="1400"/>
              </a:lnSpc>
              <a:defRPr sz="900" b="0" i="0">
                <a:solidFill>
                  <a:srgbClr val="857F76"/>
                </a:solidFill>
                <a:latin typeface="Fraunces"/>
              </a:defRPr>
            </a:pPr>
            <a:r>
              <a:t>Sources: EU4Georgia (Alaznistavi); Milk Trekker; Wikipedia (Tushetians)</a:t>
            </a:r>
          </a:p>
        </p:txBody>
      </p:sp>
      <p:sp>
        <p:nvSpPr>
          <p:cNvPr id="14" name="TextBox 13"/>
          <p:cNvSpPr txBox="1"/>
          <p:nvPr/>
        </p:nvSpPr>
        <p:spPr>
          <a:xfrm>
            <a:off x="10831068" y="6263640"/>
            <a:ext cx="598932" cy="274320"/>
          </a:xfrm>
          <a:prstGeom prst="rect">
            <a:avLst/>
          </a:prstGeom>
          <a:noFill/>
          <a:effectLst/>
        </p:spPr>
        <p:txBody>
          <a:bodyPr wrap="none">
            <a:spAutoFit/>
          </a:bodyPr>
          <a:lstStyle/>
          <a:p>
            <a:pPr algn="ctr">
              <a:defRPr sz="900">
                <a:solidFill>
                  <a:srgbClr val="5C5C5C"/>
                </a:solidFill>
                <a:latin typeface="Fraunces"/>
              </a:defRPr>
            </a:pPr>
            <a:r>
              <a:t>WOMEN</a:t>
            </a:r>
          </a:p>
        </p:txBody>
        <a:spPr>
          <a:prstGeom prst="roundRect">
            <a:avLst/>
          </a:prstGeom>
          <a:ln w="6350">
            <a:solidFill>
              <a:srgbClr val="B0A89E"/>
            </a:solidFill>
            <a:prstDash val="solid"/>
          </a:ln>
        </a:spPr>
      </p:sp>
      <p:sp>
        <p:nvSpPr>
          <p:cNvPr id="15" name="TextBox 14"/>
          <p:cNvSpPr txBox="1"/>
          <p:nvPr/>
        </p:nvSpPr>
        <p:spPr>
          <a:xfrm>
            <a:off x="9889236" y="6263640"/>
            <a:ext cx="804672" cy="274320"/>
          </a:xfrm>
          <a:prstGeom prst="rect">
            <a:avLst/>
          </a:prstGeom>
          <a:noFill/>
          <a:effectLst/>
        </p:spPr>
        <p:txBody>
          <a:bodyPr wrap="none">
            <a:spAutoFit/>
          </a:bodyPr>
          <a:lstStyle/>
          <a:p>
            <a:pPr algn="ctr">
              <a:defRPr sz="900">
                <a:solidFill>
                  <a:srgbClr val="5C5C5C"/>
                </a:solidFill>
                <a:latin typeface="Fraunces"/>
              </a:defRPr>
            </a:pPr>
            <a:r>
              <a:t>PASTORAL</a:t>
            </a:r>
          </a:p>
        </p:txBody>
        <a:spPr>
          <a:prstGeom prst="roundRect">
            <a:avLst/>
          </a:prstGeom>
          <a:ln w="6350">
            <a:solidFill>
              <a:srgbClr val="B0A89E"/>
            </a:solidFill>
            <a:prstDash val="solid"/>
          </a:ln>
        </a:spPr>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9F4EE"/>
        </a:solidFill>
        <a:effectLst/>
      </p:bgPr>
    </p:bg>
    <p:spTree>
      <p:nvGrpSpPr>
        <p:cNvPr id="1" name=""/>
        <p:cNvGrpSpPr/>
        <p:nvPr/>
      </p:nvGrpSpPr>
      <p:grpSpPr/>
      <p:sp>
        <p:nvSpPr>
          <p:cNvPr id="2" name="TextBox 1"/>
          <p:cNvSpPr txBox="1"/>
          <p:nvPr/>
        </p:nvSpPr>
        <p:spPr>
          <a:xfrm>
            <a:off x="10058400" y="365760"/>
            <a:ext cx="1828800" cy="914400"/>
          </a:xfrm>
          <a:prstGeom prst="rect">
            <a:avLst/>
          </a:prstGeom>
          <a:noFill/>
          <a:effectLst/>
        </p:spPr>
        <p:txBody>
          <a:bodyPr wrap="square">
            <a:spAutoFit/>
          </a:bodyPr>
          <a:lstStyle/>
          <a:p>
            <a:pPr algn="r">
              <a:lnSpc>
                <a:spcPts val="10200"/>
              </a:lnSpc>
              <a:defRPr sz="6400" b="0" i="0">
                <a:solidFill>
                  <a:srgbClr val="400505"/>
                </a:solidFill>
                <a:latin typeface="Baskerville"/>
              </a:defRPr>
            </a:pPr>
            <a:r>
              <a:t>08</a:t>
            </a:r>
          </a:p>
        </p:txBody>
      </p:sp>
      <p:sp>
        <p:nvSpPr>
          <p:cNvPr id="3" name="TextBox 2"/>
          <p:cNvSpPr txBox="1"/>
          <p:nvPr/>
        </p:nvSpPr>
        <p:spPr>
          <a:xfrm>
            <a:off x="731520" y="548640"/>
            <a:ext cx="4572000" cy="365760"/>
          </a:xfrm>
          <a:prstGeom prst="rect">
            <a:avLst/>
          </a:prstGeom>
          <a:noFill/>
          <a:effectLst/>
        </p:spPr>
        <p:txBody>
          <a:bodyPr wrap="square">
            <a:spAutoFit/>
          </a:bodyPr>
          <a:lstStyle/>
          <a:p>
            <a:pPr algn="l">
              <a:lnSpc>
                <a:spcPts val="1700"/>
              </a:lnSpc>
              <a:defRPr sz="1100" b="0" i="0">
                <a:solidFill>
                  <a:srgbClr val="5C5C5C"/>
                </a:solidFill>
                <a:latin typeface="Fraunces"/>
              </a:defRPr>
            </a:pPr>
            <a:r>
              <a:t>MYTH &amp; RELIGION</a:t>
            </a:r>
          </a:p>
        </p:txBody>
      </p:sp>
      <p:sp>
        <p:nvSpPr>
          <p:cNvPr id="4" name="TextBox 3"/>
          <p:cNvSpPr txBox="1"/>
          <p:nvPr/>
        </p:nvSpPr>
        <p:spPr>
          <a:xfrm>
            <a:off x="731520" y="1463040"/>
            <a:ext cx="9144000" cy="1097280"/>
          </a:xfrm>
          <a:prstGeom prst="rect">
            <a:avLst/>
          </a:prstGeom>
          <a:noFill/>
          <a:effectLst/>
        </p:spPr>
        <p:txBody>
          <a:bodyPr wrap="square">
            <a:spAutoFit/>
          </a:bodyPr>
          <a:lstStyle/>
          <a:p>
            <a:pPr algn="l">
              <a:lnSpc>
                <a:spcPts val="6000"/>
              </a:lnSpc>
              <a:defRPr sz="3800" b="0" i="0">
                <a:solidFill>
                  <a:srgbClr val="000000"/>
                </a:solidFill>
                <a:latin typeface="Baskerville"/>
              </a:defRPr>
            </a:pPr>
            <a:r>
              <a:t>The Mountain’s Own Faith</a:t>
            </a:r>
          </a:p>
        </p:txBody>
      </p:sp>
      <p:sp>
        <p:nvSpPr>
          <p:cNvPr id="5" name="TextBox 4"/>
          <p:cNvSpPr txBox="1"/>
          <p:nvPr/>
        </p:nvSpPr>
        <p:spPr>
          <a:xfrm>
            <a:off x="731520" y="2560320"/>
            <a:ext cx="9144000" cy="731520"/>
          </a:xfrm>
          <a:prstGeom prst="rect">
            <a:avLst/>
          </a:prstGeom>
          <a:noFill/>
          <a:effectLst/>
        </p:spPr>
        <p:txBody>
          <a:bodyPr wrap="square">
            <a:spAutoFit/>
          </a:bodyPr>
          <a:lstStyle/>
          <a:p>
            <a:pPr algn="l">
              <a:lnSpc>
                <a:spcPts val="3800"/>
              </a:lnSpc>
              <a:defRPr sz="2400" b="0" i="1">
                <a:solidFill>
                  <a:srgbClr val="5C5C5C"/>
                </a:solidFill>
                <a:latin typeface="Baskerville"/>
              </a:defRPr>
            </a:pPr>
            <a:r>
              <a:t>The Shrine Cult of Khevsureti</a:t>
            </a:r>
          </a:p>
        </p:txBody>
      </p:sp>
      <p:cxnSp>
        <p:nvCxnSpPr>
          <p:cNvPr id="6" name="Connector 5"/>
          <p:cNvCxnSpPr/>
          <p:nvPr/>
        </p:nvCxnSpPr>
        <p:spPr>
          <a:xfrm>
            <a:off x="731520" y="3383280"/>
            <a:ext cx="10515600" cy="0"/>
          </a:xfrm>
          <a:prstGeom prst="line">
            <a:avLst/>
          </a:prstGeom>
          <a:ln w="9525">
            <a:solidFill>
              <a:srgbClr val="000000"/>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731520" y="3566160"/>
            <a:ext cx="1828800" cy="228600"/>
          </a:xfrm>
          <a:prstGeom prst="rect">
            <a:avLst/>
          </a:prstGeom>
          <a:noFill/>
          <a:effectLst/>
        </p:spPr>
        <p:txBody>
          <a:bodyPr wrap="square">
            <a:spAutoFit/>
          </a:bodyPr>
          <a:lstStyle/>
          <a:p>
            <a:pPr algn="l">
              <a:lnSpc>
                <a:spcPts val="1200"/>
              </a:lnSpc>
              <a:defRPr sz="800" b="0" i="0">
                <a:solidFill>
                  <a:srgbClr val="707070"/>
                </a:solidFill>
                <a:latin typeface="Fraunces"/>
              </a:defRPr>
            </a:pPr>
            <a:r>
              <a:t>THE STORY</a:t>
            </a:r>
          </a:p>
        </p:txBody>
      </p:sp>
      <p:sp>
        <p:nvSpPr>
          <p:cNvPr id="8" name="TextBox 7"/>
          <p:cNvSpPr txBox="1"/>
          <p:nvPr/>
        </p:nvSpPr>
        <p:spPr>
          <a:xfrm>
            <a:off x="731520" y="3794760"/>
            <a:ext cx="5303520" cy="1645920"/>
          </a:xfrm>
          <a:prstGeom prst="rect">
            <a:avLst/>
          </a:prstGeom>
          <a:noFill/>
          <a:effectLst/>
        </p:spPr>
        <p:txBody>
          <a:bodyPr wrap="square">
            <a:spAutoFit/>
          </a:bodyPr>
          <a:lstStyle/>
          <a:p>
            <a:pPr algn="l">
              <a:lnSpc>
                <a:spcPts val="2200"/>
              </a:lnSpc>
              <a:defRPr sz="1400" b="0" i="0">
                <a:solidFill>
                  <a:srgbClr val="000000"/>
                </a:solidFill>
                <a:latin typeface="Baskerville"/>
              </a:defRPr>
            </a:pPr>
            <a:r>
              <a:t>In Khevsureti people worship at jvari / khati — stone shrines two metres tall, hung with ibex horns and a bell — in a syncretism where, behind the Christian names and candles, the rite is essentially pre-Christian, served by an elected khevisberi, a dasturi, and a ‘hostess of the shrine.’</a:t>
            </a:r>
          </a:p>
        </p:txBody>
      </p:sp>
      <p:cxnSp>
        <p:nvCxnSpPr>
          <p:cNvPr id="9" name="Connector 8"/>
          <p:cNvCxnSpPr/>
          <p:nvPr/>
        </p:nvCxnSpPr>
        <p:spPr>
          <a:xfrm>
            <a:off x="6400800" y="3566160"/>
            <a:ext cx="0" cy="2194560"/>
          </a:xfrm>
          <a:prstGeom prst="line">
            <a:avLst/>
          </a:prstGeom>
          <a:ln w="25400">
            <a:solidFill>
              <a:srgbClr val="D8D2CA"/>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766560" y="3566160"/>
            <a:ext cx="1828800" cy="228600"/>
          </a:xfrm>
          <a:prstGeom prst="rect">
            <a:avLst/>
          </a:prstGeom>
          <a:noFill/>
          <a:effectLst/>
        </p:spPr>
        <p:txBody>
          <a:bodyPr wrap="square">
            <a:spAutoFit/>
          </a:bodyPr>
          <a:lstStyle/>
          <a:p>
            <a:pPr algn="l">
              <a:lnSpc>
                <a:spcPts val="1200"/>
              </a:lnSpc>
              <a:defRPr sz="800" b="0" i="0">
                <a:solidFill>
                  <a:srgbClr val="707070"/>
                </a:solidFill>
                <a:latin typeface="Fraunces"/>
              </a:defRPr>
            </a:pPr>
            <a:r>
              <a:t>OUR PROPOSAL</a:t>
            </a:r>
          </a:p>
        </p:txBody>
      </p:sp>
      <p:sp>
        <p:nvSpPr>
          <p:cNvPr id="11" name="TextBox 10"/>
          <p:cNvSpPr txBox="1"/>
          <p:nvPr/>
        </p:nvSpPr>
        <p:spPr>
          <a:xfrm>
            <a:off x="6766560" y="3794760"/>
            <a:ext cx="4754880" cy="1645920"/>
          </a:xfrm>
          <a:prstGeom prst="rect">
            <a:avLst/>
          </a:prstGeom>
          <a:noFill/>
          <a:effectLst/>
        </p:spPr>
        <p:txBody>
          <a:bodyPr wrap="square">
            <a:spAutoFit/>
          </a:bodyPr>
          <a:lstStyle/>
          <a:p>
            <a:pPr algn="l">
              <a:lnSpc>
                <a:spcPts val="2200"/>
              </a:lnSpc>
              <a:defRPr sz="1400" b="0" i="0">
                <a:solidFill>
                  <a:srgbClr val="000000"/>
                </a:solidFill>
                <a:latin typeface="Baskerville"/>
              </a:defRPr>
            </a:pPr>
            <a:r>
              <a:t>INLAND works Atengenoba, the great festival 100 days after Easter: the khevisberi at the horned shrine, the beer brewed on the spot, the offering — at the fortress villages of Shatili and Mutso. Consent-led.</a:t>
            </a:r>
          </a:p>
        </p:txBody>
      </p:sp>
      <p:sp>
        <p:nvSpPr>
          <p:cNvPr id="12" name="TextBox 11"/>
          <p:cNvSpPr txBox="1"/>
          <p:nvPr/>
        </p:nvSpPr>
        <p:spPr>
          <a:xfrm>
            <a:off x="731520" y="5989320"/>
            <a:ext cx="6583680" cy="320040"/>
          </a:xfrm>
          <a:prstGeom prst="rect">
            <a:avLst/>
          </a:prstGeom>
          <a:noFill/>
          <a:effectLst/>
        </p:spPr>
        <p:txBody>
          <a:bodyPr wrap="square">
            <a:spAutoFit/>
          </a:bodyPr>
          <a:lstStyle/>
          <a:p>
            <a:pPr algn="l">
              <a:lnSpc>
                <a:spcPts val="1600"/>
              </a:lnSpc>
              <a:defRPr sz="1000" b="0" i="0">
                <a:solidFill>
                  <a:srgbClr val="5C5C5C"/>
                </a:solidFill>
                <a:latin typeface="Fraunces"/>
              </a:defRPr>
            </a:pPr>
            <a:r>
              <a:t>Places: Khevsureti · Shatili · Mutso</a:t>
            </a:r>
          </a:p>
        </p:txBody>
      </p:sp>
      <p:sp>
        <p:nvSpPr>
          <p:cNvPr id="13" name="TextBox 12"/>
          <p:cNvSpPr txBox="1"/>
          <p:nvPr/>
        </p:nvSpPr>
        <p:spPr>
          <a:xfrm>
            <a:off x="731520" y="6327648"/>
            <a:ext cx="6583680" cy="274320"/>
          </a:xfrm>
          <a:prstGeom prst="rect">
            <a:avLst/>
          </a:prstGeom>
          <a:noFill/>
          <a:effectLst/>
        </p:spPr>
        <p:txBody>
          <a:bodyPr wrap="square">
            <a:spAutoFit/>
          </a:bodyPr>
          <a:lstStyle/>
          <a:p>
            <a:pPr algn="l">
              <a:lnSpc>
                <a:spcPts val="1400"/>
              </a:lnSpc>
              <a:defRPr sz="900" b="0" i="0">
                <a:solidFill>
                  <a:srgbClr val="857F76"/>
                </a:solidFill>
                <a:latin typeface="Fraunces"/>
              </a:defRPr>
            </a:pPr>
            <a:r>
              <a:t>Sources: Wikipedia (Khevsureti); academia.edu (Khatis Diasakhlisi); khconsult</a:t>
            </a:r>
          </a:p>
        </p:txBody>
      </p:sp>
      <p:sp>
        <p:nvSpPr>
          <p:cNvPr id="14" name="TextBox 13"/>
          <p:cNvSpPr txBox="1"/>
          <p:nvPr/>
        </p:nvSpPr>
        <p:spPr>
          <a:xfrm>
            <a:off x="10282428" y="6263640"/>
            <a:ext cx="1147572" cy="274320"/>
          </a:xfrm>
          <a:prstGeom prst="rect">
            <a:avLst/>
          </a:prstGeom>
          <a:noFill/>
          <a:effectLst/>
        </p:spPr>
        <p:txBody>
          <a:bodyPr wrap="none">
            <a:spAutoFit/>
          </a:bodyPr>
          <a:lstStyle/>
          <a:p>
            <a:pPr algn="ctr">
              <a:defRPr sz="900">
                <a:solidFill>
                  <a:srgbClr val="5C5C5C"/>
                </a:solidFill>
                <a:latin typeface="Fraunces"/>
              </a:defRPr>
            </a:pPr>
            <a:r>
              <a:t>PRE-CHRISTIAN</a:t>
            </a:r>
          </a:p>
        </p:txBody>
        <a:spPr>
          <a:prstGeom prst="roundRect">
            <a:avLst/>
          </a:prstGeom>
          <a:ln w="6350">
            <a:solidFill>
              <a:srgbClr val="B0A89E"/>
            </a:solidFill>
            <a:prstDash val="solid"/>
          </a:ln>
        </a:spPr>
      </p:sp>
      <p:sp>
        <p:nvSpPr>
          <p:cNvPr id="15" name="TextBox 14"/>
          <p:cNvSpPr txBox="1"/>
          <p:nvPr/>
        </p:nvSpPr>
        <p:spPr>
          <a:xfrm>
            <a:off x="9477756" y="6263640"/>
            <a:ext cx="667512" cy="274320"/>
          </a:xfrm>
          <a:prstGeom prst="rect">
            <a:avLst/>
          </a:prstGeom>
          <a:noFill/>
          <a:effectLst/>
        </p:spPr>
        <p:txBody>
          <a:bodyPr wrap="none">
            <a:spAutoFit/>
          </a:bodyPr>
          <a:lstStyle/>
          <a:p>
            <a:pPr algn="ctr">
              <a:defRPr sz="900">
                <a:solidFill>
                  <a:srgbClr val="5C5C5C"/>
                </a:solidFill>
                <a:latin typeface="Fraunces"/>
              </a:defRPr>
            </a:pPr>
            <a:r>
              <a:t>RITUAL</a:t>
            </a:r>
          </a:p>
        </p:txBody>
        <a:spPr>
          <a:prstGeom prst="roundRect">
            <a:avLst/>
          </a:prstGeom>
          <a:ln w="6350">
            <a:solidFill>
              <a:srgbClr val="B0A89E"/>
            </a:solidFill>
            <a:prstDash val="solid"/>
          </a:ln>
        </a:spPr>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9F4EE"/>
        </a:solidFill>
        <a:effectLst/>
      </p:bgPr>
    </p:bg>
    <p:spTree>
      <p:nvGrpSpPr>
        <p:cNvPr id="1" name=""/>
        <p:cNvGrpSpPr/>
        <p:nvPr/>
      </p:nvGrpSpPr>
      <p:grpSpPr/>
      <p:sp>
        <p:nvSpPr>
          <p:cNvPr id="2" name="TextBox 1"/>
          <p:cNvSpPr txBox="1"/>
          <p:nvPr/>
        </p:nvSpPr>
        <p:spPr>
          <a:xfrm>
            <a:off x="10058400" y="365760"/>
            <a:ext cx="1828800" cy="914400"/>
          </a:xfrm>
          <a:prstGeom prst="rect">
            <a:avLst/>
          </a:prstGeom>
          <a:noFill/>
          <a:effectLst/>
        </p:spPr>
        <p:txBody>
          <a:bodyPr wrap="square">
            <a:spAutoFit/>
          </a:bodyPr>
          <a:lstStyle/>
          <a:p>
            <a:pPr algn="r">
              <a:lnSpc>
                <a:spcPts val="10200"/>
              </a:lnSpc>
              <a:defRPr sz="6400" b="0" i="0">
                <a:solidFill>
                  <a:srgbClr val="400505"/>
                </a:solidFill>
                <a:latin typeface="Baskerville"/>
              </a:defRPr>
            </a:pPr>
            <a:r>
              <a:t>09</a:t>
            </a:r>
          </a:p>
        </p:txBody>
      </p:sp>
      <p:sp>
        <p:nvSpPr>
          <p:cNvPr id="3" name="TextBox 2"/>
          <p:cNvSpPr txBox="1"/>
          <p:nvPr/>
        </p:nvSpPr>
        <p:spPr>
          <a:xfrm>
            <a:off x="731520" y="548640"/>
            <a:ext cx="4572000" cy="365760"/>
          </a:xfrm>
          <a:prstGeom prst="rect">
            <a:avLst/>
          </a:prstGeom>
          <a:noFill/>
          <a:effectLst/>
        </p:spPr>
        <p:txBody>
          <a:bodyPr wrap="square">
            <a:spAutoFit/>
          </a:bodyPr>
          <a:lstStyle/>
          <a:p>
            <a:pPr algn="l">
              <a:lnSpc>
                <a:spcPts val="1700"/>
              </a:lnSpc>
              <a:defRPr sz="1100" b="0" i="0">
                <a:solidFill>
                  <a:srgbClr val="5C5C5C"/>
                </a:solidFill>
                <a:latin typeface="Fraunces"/>
              </a:defRPr>
            </a:pPr>
            <a:r>
              <a:t>MYTH &amp; RELIGION</a:t>
            </a:r>
          </a:p>
        </p:txBody>
      </p:sp>
      <p:sp>
        <p:nvSpPr>
          <p:cNvPr id="4" name="TextBox 3"/>
          <p:cNvSpPr txBox="1"/>
          <p:nvPr/>
        </p:nvSpPr>
        <p:spPr>
          <a:xfrm>
            <a:off x="731520" y="1463040"/>
            <a:ext cx="9144000" cy="1097280"/>
          </a:xfrm>
          <a:prstGeom prst="rect">
            <a:avLst/>
          </a:prstGeom>
          <a:noFill/>
          <a:effectLst/>
        </p:spPr>
        <p:txBody>
          <a:bodyPr wrap="square">
            <a:spAutoFit/>
          </a:bodyPr>
          <a:lstStyle/>
          <a:p>
            <a:pPr algn="l">
              <a:lnSpc>
                <a:spcPts val="6000"/>
              </a:lnSpc>
              <a:defRPr sz="3800" b="0" i="0">
                <a:solidFill>
                  <a:srgbClr val="000000"/>
                </a:solidFill>
                <a:latin typeface="Baskerville"/>
              </a:defRPr>
            </a:pPr>
            <a:r>
              <a:t>The Women Who Sing the Zikr</a:t>
            </a:r>
          </a:p>
        </p:txBody>
      </p:sp>
      <p:sp>
        <p:nvSpPr>
          <p:cNvPr id="5" name="TextBox 4"/>
          <p:cNvSpPr txBox="1"/>
          <p:nvPr/>
        </p:nvSpPr>
        <p:spPr>
          <a:xfrm>
            <a:off x="731520" y="2560320"/>
            <a:ext cx="9144000" cy="731520"/>
          </a:xfrm>
          <a:prstGeom prst="rect">
            <a:avLst/>
          </a:prstGeom>
          <a:noFill/>
          <a:effectLst/>
        </p:spPr>
        <p:txBody>
          <a:bodyPr wrap="square">
            <a:spAutoFit/>
          </a:bodyPr>
          <a:lstStyle/>
          <a:p>
            <a:pPr algn="l">
              <a:lnSpc>
                <a:spcPts val="3800"/>
              </a:lnSpc>
              <a:defRPr sz="2400" b="0" i="1">
                <a:solidFill>
                  <a:srgbClr val="5C5C5C"/>
                </a:solidFill>
                <a:latin typeface="Baskerville"/>
              </a:defRPr>
            </a:pPr>
            <a:r>
              <a:t>The Kist Sufi Circle of Pankisi</a:t>
            </a:r>
          </a:p>
        </p:txBody>
      </p:sp>
      <p:cxnSp>
        <p:nvCxnSpPr>
          <p:cNvPr id="6" name="Connector 5"/>
          <p:cNvCxnSpPr/>
          <p:nvPr/>
        </p:nvCxnSpPr>
        <p:spPr>
          <a:xfrm>
            <a:off x="731520" y="3383280"/>
            <a:ext cx="10515600" cy="0"/>
          </a:xfrm>
          <a:prstGeom prst="line">
            <a:avLst/>
          </a:prstGeom>
          <a:ln w="9525">
            <a:solidFill>
              <a:srgbClr val="000000"/>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731520" y="3566160"/>
            <a:ext cx="1828800" cy="228600"/>
          </a:xfrm>
          <a:prstGeom prst="rect">
            <a:avLst/>
          </a:prstGeom>
          <a:noFill/>
          <a:effectLst/>
        </p:spPr>
        <p:txBody>
          <a:bodyPr wrap="square">
            <a:spAutoFit/>
          </a:bodyPr>
          <a:lstStyle/>
          <a:p>
            <a:pPr algn="l">
              <a:lnSpc>
                <a:spcPts val="1200"/>
              </a:lnSpc>
              <a:defRPr sz="800" b="0" i="0">
                <a:solidFill>
                  <a:srgbClr val="707070"/>
                </a:solidFill>
                <a:latin typeface="Fraunces"/>
              </a:defRPr>
            </a:pPr>
            <a:r>
              <a:t>THE STORY</a:t>
            </a:r>
          </a:p>
        </p:txBody>
      </p:sp>
      <p:sp>
        <p:nvSpPr>
          <p:cNvPr id="8" name="TextBox 7"/>
          <p:cNvSpPr txBox="1"/>
          <p:nvPr/>
        </p:nvSpPr>
        <p:spPr>
          <a:xfrm>
            <a:off x="731520" y="3794760"/>
            <a:ext cx="5303520" cy="1645920"/>
          </a:xfrm>
          <a:prstGeom prst="rect">
            <a:avLst/>
          </a:prstGeom>
          <a:noFill/>
          <a:effectLst/>
        </p:spPr>
        <p:txBody>
          <a:bodyPr wrap="square">
            <a:spAutoFit/>
          </a:bodyPr>
          <a:lstStyle/>
          <a:p>
            <a:pPr algn="l">
              <a:lnSpc>
                <a:spcPts val="2200"/>
              </a:lnSpc>
              <a:defRPr sz="1400" b="0" i="0">
                <a:solidFill>
                  <a:srgbClr val="000000"/>
                </a:solidFill>
                <a:latin typeface="Baskerville"/>
              </a:defRPr>
            </a:pPr>
            <a:r>
              <a:t>The Kist of Pankisi descend from Chechens who crossed the mountains in the 1800s and follow the pacifist Sufi path of Kunta-Hajji. Pankisi is the only place in the South Caucasus where women lead the zikr in the mosque — every Friday at the Old Mosque in Duisi — and the elders fear it will fall silent.</a:t>
            </a:r>
          </a:p>
        </p:txBody>
      </p:sp>
      <p:cxnSp>
        <p:nvCxnSpPr>
          <p:cNvPr id="9" name="Connector 8"/>
          <p:cNvCxnSpPr/>
          <p:nvPr/>
        </p:nvCxnSpPr>
        <p:spPr>
          <a:xfrm>
            <a:off x="6400800" y="3566160"/>
            <a:ext cx="0" cy="2194560"/>
          </a:xfrm>
          <a:prstGeom prst="line">
            <a:avLst/>
          </a:prstGeom>
          <a:ln w="25400">
            <a:solidFill>
              <a:srgbClr val="D8D2CA"/>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766560" y="3566160"/>
            <a:ext cx="1828800" cy="228600"/>
          </a:xfrm>
          <a:prstGeom prst="rect">
            <a:avLst/>
          </a:prstGeom>
          <a:noFill/>
          <a:effectLst/>
        </p:spPr>
        <p:txBody>
          <a:bodyPr wrap="square">
            <a:spAutoFit/>
          </a:bodyPr>
          <a:lstStyle/>
          <a:p>
            <a:pPr algn="l">
              <a:lnSpc>
                <a:spcPts val="1200"/>
              </a:lnSpc>
              <a:defRPr sz="800" b="0" i="0">
                <a:solidFill>
                  <a:srgbClr val="707070"/>
                </a:solidFill>
                <a:latin typeface="Fraunces"/>
              </a:defRPr>
            </a:pPr>
            <a:r>
              <a:t>OUR PROPOSAL</a:t>
            </a:r>
          </a:p>
        </p:txBody>
      </p:sp>
      <p:sp>
        <p:nvSpPr>
          <p:cNvPr id="11" name="TextBox 10"/>
          <p:cNvSpPr txBox="1"/>
          <p:nvPr/>
        </p:nvSpPr>
        <p:spPr>
          <a:xfrm>
            <a:off x="6766560" y="3794760"/>
            <a:ext cx="4754880" cy="1645920"/>
          </a:xfrm>
          <a:prstGeom prst="rect">
            <a:avLst/>
          </a:prstGeom>
          <a:noFill/>
          <a:effectLst/>
        </p:spPr>
        <p:txBody>
          <a:bodyPr wrap="square">
            <a:spAutoFit/>
          </a:bodyPr>
          <a:lstStyle/>
          <a:p>
            <a:pPr algn="l">
              <a:lnSpc>
                <a:spcPts val="2200"/>
              </a:lnSpc>
              <a:defRPr sz="1400" b="0" i="0">
                <a:solidFill>
                  <a:srgbClr val="000000"/>
                </a:solidFill>
                <a:latin typeface="Baskerville"/>
              </a:defRPr>
            </a:pPr>
            <a:r>
              <a:t>INLAND photographs the Friday women’s circle with consent — the turning chant, the nazms in the Kist tongue, the call for ‘peace in the Caucasus’ — with the Aznash Laaman singers. Ritual, not spectacle; identities protected where asked.</a:t>
            </a:r>
          </a:p>
        </p:txBody>
      </p:sp>
      <p:sp>
        <p:nvSpPr>
          <p:cNvPr id="12" name="TextBox 11"/>
          <p:cNvSpPr txBox="1"/>
          <p:nvPr/>
        </p:nvSpPr>
        <p:spPr>
          <a:xfrm>
            <a:off x="731520" y="5989320"/>
            <a:ext cx="6583680" cy="320040"/>
          </a:xfrm>
          <a:prstGeom prst="rect">
            <a:avLst/>
          </a:prstGeom>
          <a:noFill/>
          <a:effectLst/>
        </p:spPr>
        <p:txBody>
          <a:bodyPr wrap="square">
            <a:spAutoFit/>
          </a:bodyPr>
          <a:lstStyle/>
          <a:p>
            <a:pPr algn="l">
              <a:lnSpc>
                <a:spcPts val="1600"/>
              </a:lnSpc>
              <a:defRPr sz="1000" b="0" i="0">
                <a:solidFill>
                  <a:srgbClr val="5C5C5C"/>
                </a:solidFill>
                <a:latin typeface="Fraunces"/>
              </a:defRPr>
            </a:pPr>
            <a:r>
              <a:t>Places: Duisi · Pankisi Gorge</a:t>
            </a:r>
          </a:p>
        </p:txBody>
      </p:sp>
      <p:sp>
        <p:nvSpPr>
          <p:cNvPr id="13" name="TextBox 12"/>
          <p:cNvSpPr txBox="1"/>
          <p:nvPr/>
        </p:nvSpPr>
        <p:spPr>
          <a:xfrm>
            <a:off x="731520" y="6327648"/>
            <a:ext cx="6583680" cy="274320"/>
          </a:xfrm>
          <a:prstGeom prst="rect">
            <a:avLst/>
          </a:prstGeom>
          <a:noFill/>
          <a:effectLst/>
        </p:spPr>
        <p:txBody>
          <a:bodyPr wrap="square">
            <a:spAutoFit/>
          </a:bodyPr>
          <a:lstStyle/>
          <a:p>
            <a:pPr algn="l">
              <a:lnSpc>
                <a:spcPts val="1400"/>
              </a:lnSpc>
              <a:defRPr sz="900" b="0" i="0">
                <a:solidFill>
                  <a:srgbClr val="857F76"/>
                </a:solidFill>
                <a:latin typeface="Fraunces"/>
              </a:defRPr>
            </a:pPr>
            <a:r>
              <a:t>Sources: OC Media; Al Jazeera America; pankisivalley.com</a:t>
            </a:r>
          </a:p>
        </p:txBody>
      </p:sp>
      <p:sp>
        <p:nvSpPr>
          <p:cNvPr id="14" name="TextBox 13"/>
          <p:cNvSpPr txBox="1"/>
          <p:nvPr/>
        </p:nvSpPr>
        <p:spPr>
          <a:xfrm>
            <a:off x="10488168" y="6263640"/>
            <a:ext cx="941832" cy="274320"/>
          </a:xfrm>
          <a:prstGeom prst="rect">
            <a:avLst/>
          </a:prstGeom>
          <a:noFill/>
          <a:effectLst/>
        </p:spPr>
        <p:txBody>
          <a:bodyPr wrap="none">
            <a:spAutoFit/>
          </a:bodyPr>
          <a:lstStyle/>
          <a:p>
            <a:pPr algn="ctr">
              <a:defRPr sz="900">
                <a:solidFill>
                  <a:srgbClr val="5C5C5C"/>
                </a:solidFill>
                <a:latin typeface="Fraunces"/>
              </a:defRPr>
            </a:pPr>
            <a:r>
              <a:t>ENDANGERED</a:t>
            </a:r>
          </a:p>
        </p:txBody>
        <a:spPr>
          <a:prstGeom prst="roundRect">
            <a:avLst/>
          </a:prstGeom>
          <a:ln w="6350">
            <a:solidFill>
              <a:srgbClr val="B0A89E"/>
            </a:solidFill>
            <a:prstDash val="solid"/>
          </a:ln>
        </a:spPr>
      </p:sp>
      <p:sp>
        <p:nvSpPr>
          <p:cNvPr id="15" name="TextBox 14"/>
          <p:cNvSpPr txBox="1"/>
          <p:nvPr/>
        </p:nvSpPr>
        <p:spPr>
          <a:xfrm>
            <a:off x="9820656" y="6263640"/>
            <a:ext cx="530352" cy="274320"/>
          </a:xfrm>
          <a:prstGeom prst="rect">
            <a:avLst/>
          </a:prstGeom>
          <a:noFill/>
          <a:effectLst/>
        </p:spPr>
        <p:txBody>
          <a:bodyPr wrap="none">
            <a:spAutoFit/>
          </a:bodyPr>
          <a:lstStyle/>
          <a:p>
            <a:pPr algn="ctr">
              <a:defRPr sz="900">
                <a:solidFill>
                  <a:srgbClr val="5C5C5C"/>
                </a:solidFill>
                <a:latin typeface="Fraunces"/>
              </a:defRPr>
            </a:pPr>
            <a:r>
              <a:t>SUFI</a:t>
            </a:r>
          </a:p>
        </p:txBody>
        <a:spPr>
          <a:prstGeom prst="roundRect">
            <a:avLst/>
          </a:prstGeom>
          <a:ln w="6350">
            <a:solidFill>
              <a:srgbClr val="B0A89E"/>
            </a:solidFill>
            <a:prstDash val="solid"/>
          </a:ln>
        </a:spPr>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9F4EE"/>
        </a:solidFill>
        <a:effectLst/>
      </p:bgPr>
    </p:bg>
    <p:spTree>
      <p:nvGrpSpPr>
        <p:cNvPr id="1" name=""/>
        <p:cNvGrpSpPr/>
        <p:nvPr/>
      </p:nvGrpSpPr>
      <p:grpSpPr/>
      <p:sp>
        <p:nvSpPr>
          <p:cNvPr id="2" name="TextBox 1"/>
          <p:cNvSpPr txBox="1"/>
          <p:nvPr/>
        </p:nvSpPr>
        <p:spPr>
          <a:xfrm>
            <a:off x="10058400" y="365760"/>
            <a:ext cx="1828800" cy="914400"/>
          </a:xfrm>
          <a:prstGeom prst="rect">
            <a:avLst/>
          </a:prstGeom>
          <a:noFill/>
          <a:effectLst/>
        </p:spPr>
        <p:txBody>
          <a:bodyPr wrap="square">
            <a:spAutoFit/>
          </a:bodyPr>
          <a:lstStyle/>
          <a:p>
            <a:pPr algn="r">
              <a:lnSpc>
                <a:spcPts val="10200"/>
              </a:lnSpc>
              <a:defRPr sz="6400" b="0" i="0">
                <a:solidFill>
                  <a:srgbClr val="400505"/>
                </a:solidFill>
                <a:latin typeface="Baskerville"/>
              </a:defRPr>
            </a:pPr>
            <a:r>
              <a:t>10</a:t>
            </a:r>
          </a:p>
        </p:txBody>
      </p:sp>
      <p:sp>
        <p:nvSpPr>
          <p:cNvPr id="3" name="TextBox 2"/>
          <p:cNvSpPr txBox="1"/>
          <p:nvPr/>
        </p:nvSpPr>
        <p:spPr>
          <a:xfrm>
            <a:off x="731520" y="548640"/>
            <a:ext cx="4572000" cy="365760"/>
          </a:xfrm>
          <a:prstGeom prst="rect">
            <a:avLst/>
          </a:prstGeom>
          <a:noFill/>
          <a:effectLst/>
        </p:spPr>
        <p:txBody>
          <a:bodyPr wrap="square">
            <a:spAutoFit/>
          </a:bodyPr>
          <a:lstStyle/>
          <a:p>
            <a:pPr algn="l">
              <a:lnSpc>
                <a:spcPts val="1700"/>
              </a:lnSpc>
              <a:defRPr sz="1100" b="0" i="0">
                <a:solidFill>
                  <a:srgbClr val="5C5C5C"/>
                </a:solidFill>
                <a:latin typeface="Fraunces"/>
              </a:defRPr>
            </a:pPr>
            <a:r>
              <a:t>GEOPOLITICS</a:t>
            </a:r>
          </a:p>
        </p:txBody>
      </p:sp>
      <p:sp>
        <p:nvSpPr>
          <p:cNvPr id="4" name="TextBox 3"/>
          <p:cNvSpPr txBox="1"/>
          <p:nvPr/>
        </p:nvSpPr>
        <p:spPr>
          <a:xfrm>
            <a:off x="731520" y="1463040"/>
            <a:ext cx="9144000" cy="1097280"/>
          </a:xfrm>
          <a:prstGeom prst="rect">
            <a:avLst/>
          </a:prstGeom>
          <a:noFill/>
          <a:effectLst/>
        </p:spPr>
        <p:txBody>
          <a:bodyPr wrap="square">
            <a:spAutoFit/>
          </a:bodyPr>
          <a:lstStyle/>
          <a:p>
            <a:pPr algn="l">
              <a:lnSpc>
                <a:spcPts val="6000"/>
              </a:lnSpc>
              <a:defRPr sz="3800" b="0" i="0">
                <a:solidFill>
                  <a:srgbClr val="000000"/>
                </a:solidFill>
                <a:latin typeface="Baskerville"/>
              </a:defRPr>
            </a:pPr>
            <a:r>
              <a:t>The Saint in the Desert</a:t>
            </a:r>
          </a:p>
        </p:txBody>
      </p:sp>
      <p:sp>
        <p:nvSpPr>
          <p:cNvPr id="5" name="TextBox 4"/>
          <p:cNvSpPr txBox="1"/>
          <p:nvPr/>
        </p:nvSpPr>
        <p:spPr>
          <a:xfrm>
            <a:off x="731520" y="2560320"/>
            <a:ext cx="9144000" cy="731520"/>
          </a:xfrm>
          <a:prstGeom prst="rect">
            <a:avLst/>
          </a:prstGeom>
          <a:noFill/>
          <a:effectLst/>
        </p:spPr>
        <p:txBody>
          <a:bodyPr wrap="square">
            <a:spAutoFit/>
          </a:bodyPr>
          <a:lstStyle/>
          <a:p>
            <a:pPr algn="l">
              <a:lnSpc>
                <a:spcPts val="3800"/>
              </a:lnSpc>
              <a:defRPr sz="2400" b="0" i="1">
                <a:solidFill>
                  <a:srgbClr val="5C5C5C"/>
                </a:solidFill>
                <a:latin typeface="Baskerville"/>
              </a:defRPr>
            </a:pPr>
            <a:r>
              <a:t>David Gareja on the Disputed Line</a:t>
            </a:r>
          </a:p>
        </p:txBody>
      </p:sp>
      <p:cxnSp>
        <p:nvCxnSpPr>
          <p:cNvPr id="6" name="Connector 5"/>
          <p:cNvCxnSpPr/>
          <p:nvPr/>
        </p:nvCxnSpPr>
        <p:spPr>
          <a:xfrm>
            <a:off x="731520" y="3383280"/>
            <a:ext cx="10515600" cy="0"/>
          </a:xfrm>
          <a:prstGeom prst="line">
            <a:avLst/>
          </a:prstGeom>
          <a:ln w="9525">
            <a:solidFill>
              <a:srgbClr val="000000"/>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731520" y="3566160"/>
            <a:ext cx="1828800" cy="228600"/>
          </a:xfrm>
          <a:prstGeom prst="rect">
            <a:avLst/>
          </a:prstGeom>
          <a:noFill/>
          <a:effectLst/>
        </p:spPr>
        <p:txBody>
          <a:bodyPr wrap="square">
            <a:spAutoFit/>
          </a:bodyPr>
          <a:lstStyle/>
          <a:p>
            <a:pPr algn="l">
              <a:lnSpc>
                <a:spcPts val="1200"/>
              </a:lnSpc>
              <a:defRPr sz="800" b="0" i="0">
                <a:solidFill>
                  <a:srgbClr val="707070"/>
                </a:solidFill>
                <a:latin typeface="Fraunces"/>
              </a:defRPr>
            </a:pPr>
            <a:r>
              <a:t>THE STORY</a:t>
            </a:r>
          </a:p>
        </p:txBody>
      </p:sp>
      <p:sp>
        <p:nvSpPr>
          <p:cNvPr id="8" name="TextBox 7"/>
          <p:cNvSpPr txBox="1"/>
          <p:nvPr/>
        </p:nvSpPr>
        <p:spPr>
          <a:xfrm>
            <a:off x="731520" y="3794760"/>
            <a:ext cx="5303520" cy="1645920"/>
          </a:xfrm>
          <a:prstGeom prst="rect">
            <a:avLst/>
          </a:prstGeom>
          <a:noFill/>
          <a:effectLst/>
        </p:spPr>
        <p:txBody>
          <a:bodyPr wrap="square">
            <a:spAutoFit/>
          </a:bodyPr>
          <a:lstStyle/>
          <a:p>
            <a:pPr algn="l">
              <a:lnSpc>
                <a:spcPts val="2200"/>
              </a:lnSpc>
              <a:defRPr sz="1400" b="0" i="0">
                <a:solidFill>
                  <a:srgbClr val="000000"/>
                </a:solidFill>
                <a:latin typeface="Baskerville"/>
              </a:defRPr>
            </a:pPr>
            <a:r>
              <a:t>David Gareja is a complex of 19 medieval cave monasteries — some 5,000 cells cut into the Kakheti semi-desert in the 6th century, with 8th–13th-century frescoes including a rare portrait of Queen Tamar. The Soviet-drawn Georgia–Azerbaijan border runs straight through it.</a:t>
            </a:r>
          </a:p>
        </p:txBody>
      </p:sp>
      <p:cxnSp>
        <p:nvCxnSpPr>
          <p:cNvPr id="9" name="Connector 8"/>
          <p:cNvCxnSpPr/>
          <p:nvPr/>
        </p:nvCxnSpPr>
        <p:spPr>
          <a:xfrm>
            <a:off x="6400800" y="3566160"/>
            <a:ext cx="0" cy="2194560"/>
          </a:xfrm>
          <a:prstGeom prst="line">
            <a:avLst/>
          </a:prstGeom>
          <a:ln w="25400">
            <a:solidFill>
              <a:srgbClr val="D8D2CA"/>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766560" y="3566160"/>
            <a:ext cx="1828800" cy="228600"/>
          </a:xfrm>
          <a:prstGeom prst="rect">
            <a:avLst/>
          </a:prstGeom>
          <a:noFill/>
          <a:effectLst/>
        </p:spPr>
        <p:txBody>
          <a:bodyPr wrap="square">
            <a:spAutoFit/>
          </a:bodyPr>
          <a:lstStyle/>
          <a:p>
            <a:pPr algn="l">
              <a:lnSpc>
                <a:spcPts val="1200"/>
              </a:lnSpc>
              <a:defRPr sz="800" b="0" i="0">
                <a:solidFill>
                  <a:srgbClr val="707070"/>
                </a:solidFill>
                <a:latin typeface="Fraunces"/>
              </a:defRPr>
            </a:pPr>
            <a:r>
              <a:t>OUR PROPOSAL</a:t>
            </a:r>
          </a:p>
        </p:txBody>
      </p:sp>
      <p:sp>
        <p:nvSpPr>
          <p:cNvPr id="11" name="TextBox 10"/>
          <p:cNvSpPr txBox="1"/>
          <p:nvPr/>
        </p:nvSpPr>
        <p:spPr>
          <a:xfrm>
            <a:off x="6766560" y="3794760"/>
            <a:ext cx="4754880" cy="1645920"/>
          </a:xfrm>
          <a:prstGeom prst="rect">
            <a:avLst/>
          </a:prstGeom>
          <a:noFill/>
          <a:effectLst/>
        </p:spPr>
        <p:txBody>
          <a:bodyPr wrap="square">
            <a:spAutoFit/>
          </a:bodyPr>
          <a:lstStyle/>
          <a:p>
            <a:pPr algn="l">
              <a:lnSpc>
                <a:spcPts val="2200"/>
              </a:lnSpc>
              <a:defRPr sz="1400" b="0" i="0">
                <a:solidFill>
                  <a:srgbClr val="000000"/>
                </a:solidFill>
                <a:latin typeface="Baskerville"/>
              </a:defRPr>
            </a:pPr>
            <a:r>
              <a:t>INLAND frames monastic life in the rock against the quiet frontier dispute — a monk on the desert ridge where the boundary meets the painted caves. Tension, not attack; verify border access first.</a:t>
            </a:r>
          </a:p>
        </p:txBody>
      </p:sp>
      <p:sp>
        <p:nvSpPr>
          <p:cNvPr id="12" name="TextBox 11"/>
          <p:cNvSpPr txBox="1"/>
          <p:nvPr/>
        </p:nvSpPr>
        <p:spPr>
          <a:xfrm>
            <a:off x="731520" y="5989320"/>
            <a:ext cx="6583680" cy="320040"/>
          </a:xfrm>
          <a:prstGeom prst="rect">
            <a:avLst/>
          </a:prstGeom>
          <a:noFill/>
          <a:effectLst/>
        </p:spPr>
        <p:txBody>
          <a:bodyPr wrap="square">
            <a:spAutoFit/>
          </a:bodyPr>
          <a:lstStyle/>
          <a:p>
            <a:pPr algn="l">
              <a:lnSpc>
                <a:spcPts val="1600"/>
              </a:lnSpc>
              <a:defRPr sz="1000" b="0" i="0">
                <a:solidFill>
                  <a:srgbClr val="5C5C5C"/>
                </a:solidFill>
                <a:latin typeface="Fraunces"/>
              </a:defRPr>
            </a:pPr>
            <a:r>
              <a:t>Places: David Gareja · Udabno · Kakheti</a:t>
            </a:r>
          </a:p>
        </p:txBody>
      </p:sp>
      <p:sp>
        <p:nvSpPr>
          <p:cNvPr id="13" name="TextBox 12"/>
          <p:cNvSpPr txBox="1"/>
          <p:nvPr/>
        </p:nvSpPr>
        <p:spPr>
          <a:xfrm>
            <a:off x="731520" y="6327648"/>
            <a:ext cx="6583680" cy="274320"/>
          </a:xfrm>
          <a:prstGeom prst="rect">
            <a:avLst/>
          </a:prstGeom>
          <a:noFill/>
          <a:effectLst/>
        </p:spPr>
        <p:txBody>
          <a:bodyPr wrap="square">
            <a:spAutoFit/>
          </a:bodyPr>
          <a:lstStyle/>
          <a:p>
            <a:pPr algn="l">
              <a:lnSpc>
                <a:spcPts val="1400"/>
              </a:lnSpc>
              <a:defRPr sz="900" b="0" i="0">
                <a:solidFill>
                  <a:srgbClr val="857F76"/>
                </a:solidFill>
                <a:latin typeface="Fraunces"/>
              </a:defRPr>
            </a:pPr>
            <a:r>
              <a:t>Sources: UNESCO tentative 5224; Advantour; Atlas Obscura; wander-lush.org</a:t>
            </a:r>
          </a:p>
        </p:txBody>
      </p:sp>
      <p:sp>
        <p:nvSpPr>
          <p:cNvPr id="14" name="TextBox 13"/>
          <p:cNvSpPr txBox="1"/>
          <p:nvPr/>
        </p:nvSpPr>
        <p:spPr>
          <a:xfrm>
            <a:off x="10625328" y="6263640"/>
            <a:ext cx="804672" cy="274320"/>
          </a:xfrm>
          <a:prstGeom prst="rect">
            <a:avLst/>
          </a:prstGeom>
          <a:noFill/>
          <a:effectLst/>
        </p:spPr>
        <p:txBody>
          <a:bodyPr wrap="none">
            <a:spAutoFit/>
          </a:bodyPr>
          <a:lstStyle/>
          <a:p>
            <a:pPr algn="ctr">
              <a:defRPr sz="900">
                <a:solidFill>
                  <a:srgbClr val="5C5C5C"/>
                </a:solidFill>
                <a:latin typeface="Fraunces"/>
              </a:defRPr>
            </a:pPr>
            <a:r>
              <a:t>MONASTIC</a:t>
            </a:r>
          </a:p>
        </p:txBody>
        <a:spPr>
          <a:prstGeom prst="roundRect">
            <a:avLst/>
          </a:prstGeom>
          <a:ln w="6350">
            <a:solidFill>
              <a:srgbClr val="B0A89E"/>
            </a:solidFill>
            <a:prstDash val="solid"/>
          </a:ln>
        </a:spPr>
      </p:sp>
      <p:sp>
        <p:nvSpPr>
          <p:cNvPr id="15" name="TextBox 14"/>
          <p:cNvSpPr txBox="1"/>
          <p:nvPr/>
        </p:nvSpPr>
        <p:spPr>
          <a:xfrm>
            <a:off x="9546336" y="6263640"/>
            <a:ext cx="941832" cy="274320"/>
          </a:xfrm>
          <a:prstGeom prst="rect">
            <a:avLst/>
          </a:prstGeom>
          <a:noFill/>
          <a:effectLst/>
        </p:spPr>
        <p:txBody>
          <a:bodyPr wrap="none">
            <a:spAutoFit/>
          </a:bodyPr>
          <a:lstStyle/>
          <a:p>
            <a:pPr algn="ctr">
              <a:defRPr sz="900">
                <a:solidFill>
                  <a:srgbClr val="5C5C5C"/>
                </a:solidFill>
                <a:latin typeface="Fraunces"/>
              </a:defRPr>
            </a:pPr>
            <a:r>
              <a:t>BORDERLAND</a:t>
            </a:r>
          </a:p>
        </p:txBody>
        <a:spPr>
          <a:prstGeom prst="roundRect">
            <a:avLst/>
          </a:prstGeom>
          <a:ln w="6350">
            <a:solidFill>
              <a:srgbClr val="B0A89E"/>
            </a:solidFill>
            <a:prstDash val="solid"/>
          </a:ln>
        </a:spPr>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9F4EE"/>
        </a:solidFill>
        <a:effectLst/>
      </p:bgPr>
    </p:bg>
    <p:spTree>
      <p:nvGrpSpPr>
        <p:cNvPr id="1" name=""/>
        <p:cNvGrpSpPr/>
        <p:nvPr/>
      </p:nvGrpSpPr>
      <p:grpSpPr/>
      <p:sp>
        <p:nvSpPr>
          <p:cNvPr id="2" name="TextBox 1"/>
          <p:cNvSpPr txBox="1"/>
          <p:nvPr/>
        </p:nvSpPr>
        <p:spPr>
          <a:xfrm>
            <a:off x="10058400" y="365760"/>
            <a:ext cx="1828800" cy="914400"/>
          </a:xfrm>
          <a:prstGeom prst="rect">
            <a:avLst/>
          </a:prstGeom>
          <a:noFill/>
          <a:effectLst/>
        </p:spPr>
        <p:txBody>
          <a:bodyPr wrap="square">
            <a:spAutoFit/>
          </a:bodyPr>
          <a:lstStyle/>
          <a:p>
            <a:pPr algn="r">
              <a:lnSpc>
                <a:spcPts val="10200"/>
              </a:lnSpc>
              <a:defRPr sz="6400" b="0" i="0">
                <a:solidFill>
                  <a:srgbClr val="400505"/>
                </a:solidFill>
                <a:latin typeface="Baskerville"/>
              </a:defRPr>
            </a:pPr>
            <a:r>
              <a:t>11</a:t>
            </a:r>
          </a:p>
        </p:txBody>
      </p:sp>
      <p:sp>
        <p:nvSpPr>
          <p:cNvPr id="3" name="TextBox 2"/>
          <p:cNvSpPr txBox="1"/>
          <p:nvPr/>
        </p:nvSpPr>
        <p:spPr>
          <a:xfrm>
            <a:off x="731520" y="548640"/>
            <a:ext cx="4572000" cy="365760"/>
          </a:xfrm>
          <a:prstGeom prst="rect">
            <a:avLst/>
          </a:prstGeom>
          <a:noFill/>
          <a:effectLst/>
        </p:spPr>
        <p:txBody>
          <a:bodyPr wrap="square">
            <a:spAutoFit/>
          </a:bodyPr>
          <a:lstStyle/>
          <a:p>
            <a:pPr algn="l">
              <a:lnSpc>
                <a:spcPts val="1700"/>
              </a:lnSpc>
              <a:defRPr sz="1100" b="0" i="0">
                <a:solidFill>
                  <a:srgbClr val="5C5C5C"/>
                </a:solidFill>
                <a:latin typeface="Fraunces"/>
              </a:defRPr>
            </a:pPr>
            <a:r>
              <a:t>LOCAL COMMUNITIES</a:t>
            </a:r>
          </a:p>
        </p:txBody>
      </p:sp>
      <p:sp>
        <p:nvSpPr>
          <p:cNvPr id="4" name="TextBox 3"/>
          <p:cNvSpPr txBox="1"/>
          <p:nvPr/>
        </p:nvSpPr>
        <p:spPr>
          <a:xfrm>
            <a:off x="731520" y="1463040"/>
            <a:ext cx="9144000" cy="1097280"/>
          </a:xfrm>
          <a:prstGeom prst="rect">
            <a:avLst/>
          </a:prstGeom>
          <a:noFill/>
          <a:effectLst/>
        </p:spPr>
        <p:txBody>
          <a:bodyPr wrap="square">
            <a:spAutoFit/>
          </a:bodyPr>
          <a:lstStyle/>
          <a:p>
            <a:pPr algn="l">
              <a:lnSpc>
                <a:spcPts val="6000"/>
              </a:lnSpc>
              <a:defRPr sz="3800" b="0" i="0">
                <a:solidFill>
                  <a:srgbClr val="000000"/>
                </a:solidFill>
                <a:latin typeface="Baskerville"/>
              </a:defRPr>
            </a:pPr>
            <a:r>
              <a:t>The Granary Language</a:t>
            </a:r>
          </a:p>
        </p:txBody>
      </p:sp>
      <p:sp>
        <p:nvSpPr>
          <p:cNvPr id="5" name="TextBox 4"/>
          <p:cNvSpPr txBox="1"/>
          <p:nvPr/>
        </p:nvSpPr>
        <p:spPr>
          <a:xfrm>
            <a:off x="731520" y="2560320"/>
            <a:ext cx="9144000" cy="731520"/>
          </a:xfrm>
          <a:prstGeom prst="rect">
            <a:avLst/>
          </a:prstGeom>
          <a:noFill/>
          <a:effectLst/>
        </p:spPr>
        <p:txBody>
          <a:bodyPr wrap="square">
            <a:spAutoFit/>
          </a:bodyPr>
          <a:lstStyle/>
          <a:p>
            <a:pPr algn="l">
              <a:lnSpc>
                <a:spcPts val="3800"/>
              </a:lnSpc>
              <a:defRPr sz="2400" b="0" i="1">
                <a:solidFill>
                  <a:srgbClr val="5C5C5C"/>
                </a:solidFill>
                <a:latin typeface="Baskerville"/>
              </a:defRPr>
            </a:pPr>
            <a:r>
              <a:t>Svan, Dying at Home, Sung by the Young</a:t>
            </a:r>
          </a:p>
        </p:txBody>
      </p:sp>
      <p:cxnSp>
        <p:nvCxnSpPr>
          <p:cNvPr id="6" name="Connector 5"/>
          <p:cNvCxnSpPr/>
          <p:nvPr/>
        </p:nvCxnSpPr>
        <p:spPr>
          <a:xfrm>
            <a:off x="731520" y="3383280"/>
            <a:ext cx="10515600" cy="0"/>
          </a:xfrm>
          <a:prstGeom prst="line">
            <a:avLst/>
          </a:prstGeom>
          <a:ln w="9525">
            <a:solidFill>
              <a:srgbClr val="000000"/>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731520" y="3566160"/>
            <a:ext cx="1828800" cy="228600"/>
          </a:xfrm>
          <a:prstGeom prst="rect">
            <a:avLst/>
          </a:prstGeom>
          <a:noFill/>
          <a:effectLst/>
        </p:spPr>
        <p:txBody>
          <a:bodyPr wrap="square">
            <a:spAutoFit/>
          </a:bodyPr>
          <a:lstStyle/>
          <a:p>
            <a:pPr algn="l">
              <a:lnSpc>
                <a:spcPts val="1200"/>
              </a:lnSpc>
              <a:defRPr sz="800" b="0" i="0">
                <a:solidFill>
                  <a:srgbClr val="707070"/>
                </a:solidFill>
                <a:latin typeface="Fraunces"/>
              </a:defRPr>
            </a:pPr>
            <a:r>
              <a:t>THE STORY</a:t>
            </a:r>
          </a:p>
        </p:txBody>
      </p:sp>
      <p:sp>
        <p:nvSpPr>
          <p:cNvPr id="8" name="TextBox 7"/>
          <p:cNvSpPr txBox="1"/>
          <p:nvPr/>
        </p:nvSpPr>
        <p:spPr>
          <a:xfrm>
            <a:off x="731520" y="3794760"/>
            <a:ext cx="5303520" cy="1645920"/>
          </a:xfrm>
          <a:prstGeom prst="rect">
            <a:avLst/>
          </a:prstGeom>
          <a:noFill/>
          <a:effectLst/>
        </p:spPr>
        <p:txBody>
          <a:bodyPr wrap="square">
            <a:spAutoFit/>
          </a:bodyPr>
          <a:lstStyle/>
          <a:p>
            <a:pPr algn="l">
              <a:lnSpc>
                <a:spcPts val="2200"/>
              </a:lnSpc>
              <a:defRPr sz="1400" b="0" i="0">
                <a:solidFill>
                  <a:srgbClr val="000000"/>
                </a:solidFill>
                <a:latin typeface="Baskerville"/>
              </a:defRPr>
            </a:pPr>
            <a:r>
              <a:t>Svan — an unwritten Kartvelian language perhaps three millennia diverged from Georgian — is endangered, spoken by a shrinking number of elders, even as Svan music enjoys a youth-led revival driven from Mestia. The songs return to young mouths while the everyday language thins.</a:t>
            </a:r>
          </a:p>
        </p:txBody>
      </p:sp>
      <p:cxnSp>
        <p:nvCxnSpPr>
          <p:cNvPr id="9" name="Connector 8"/>
          <p:cNvCxnSpPr/>
          <p:nvPr/>
        </p:nvCxnSpPr>
        <p:spPr>
          <a:xfrm>
            <a:off x="6400800" y="3566160"/>
            <a:ext cx="0" cy="2194560"/>
          </a:xfrm>
          <a:prstGeom prst="line">
            <a:avLst/>
          </a:prstGeom>
          <a:ln w="25400">
            <a:solidFill>
              <a:srgbClr val="D8D2CA"/>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766560" y="3566160"/>
            <a:ext cx="1828800" cy="228600"/>
          </a:xfrm>
          <a:prstGeom prst="rect">
            <a:avLst/>
          </a:prstGeom>
          <a:noFill/>
          <a:effectLst/>
        </p:spPr>
        <p:txBody>
          <a:bodyPr wrap="square">
            <a:spAutoFit/>
          </a:bodyPr>
          <a:lstStyle/>
          <a:p>
            <a:pPr algn="l">
              <a:lnSpc>
                <a:spcPts val="1200"/>
              </a:lnSpc>
              <a:defRPr sz="800" b="0" i="0">
                <a:solidFill>
                  <a:srgbClr val="707070"/>
                </a:solidFill>
                <a:latin typeface="Fraunces"/>
              </a:defRPr>
            </a:pPr>
            <a:r>
              <a:t>OUR PROPOSAL</a:t>
            </a:r>
          </a:p>
        </p:txBody>
      </p:sp>
      <p:sp>
        <p:nvSpPr>
          <p:cNvPr id="11" name="TextBox 10"/>
          <p:cNvSpPr txBox="1"/>
          <p:nvPr/>
        </p:nvSpPr>
        <p:spPr>
          <a:xfrm>
            <a:off x="6766560" y="3794760"/>
            <a:ext cx="4754880" cy="1645920"/>
          </a:xfrm>
          <a:prstGeom prst="rect">
            <a:avLst/>
          </a:prstGeom>
          <a:noFill/>
          <a:effectLst/>
        </p:spPr>
        <p:txBody>
          <a:bodyPr wrap="square">
            <a:spAutoFit/>
          </a:bodyPr>
          <a:lstStyle/>
          <a:p>
            <a:pPr algn="l">
              <a:lnSpc>
                <a:spcPts val="2200"/>
              </a:lnSpc>
              <a:defRPr sz="1400" b="0" i="0">
                <a:solidFill>
                  <a:srgbClr val="000000"/>
                </a:solidFill>
                <a:latin typeface="Baskerville"/>
              </a:defRPr>
            </a:pPr>
            <a:r>
              <a:t>INLAND follows young singers of the Lileo ensemble in Mestia — a rehearsal where teenagers sing hymns in a tongue fewer of them speak at home — the old words kept like seed-grain.</a:t>
            </a:r>
          </a:p>
        </p:txBody>
      </p:sp>
      <p:sp>
        <p:nvSpPr>
          <p:cNvPr id="12" name="TextBox 11"/>
          <p:cNvSpPr txBox="1"/>
          <p:nvPr/>
        </p:nvSpPr>
        <p:spPr>
          <a:xfrm>
            <a:off x="731520" y="5989320"/>
            <a:ext cx="6583680" cy="320040"/>
          </a:xfrm>
          <a:prstGeom prst="rect">
            <a:avLst/>
          </a:prstGeom>
          <a:noFill/>
          <a:effectLst/>
        </p:spPr>
        <p:txBody>
          <a:bodyPr wrap="square">
            <a:spAutoFit/>
          </a:bodyPr>
          <a:lstStyle/>
          <a:p>
            <a:pPr algn="l">
              <a:lnSpc>
                <a:spcPts val="1600"/>
              </a:lnSpc>
              <a:defRPr sz="1000" b="0" i="0">
                <a:solidFill>
                  <a:srgbClr val="5C5C5C"/>
                </a:solidFill>
                <a:latin typeface="Fraunces"/>
              </a:defRPr>
            </a:pPr>
            <a:r>
              <a:t>Places: Mestia · Ushguli · Svaneti</a:t>
            </a:r>
          </a:p>
        </p:txBody>
      </p:sp>
      <p:sp>
        <p:nvSpPr>
          <p:cNvPr id="13" name="TextBox 12"/>
          <p:cNvSpPr txBox="1"/>
          <p:nvPr/>
        </p:nvSpPr>
        <p:spPr>
          <a:xfrm>
            <a:off x="731520" y="6327648"/>
            <a:ext cx="6583680" cy="274320"/>
          </a:xfrm>
          <a:prstGeom prst="rect">
            <a:avLst/>
          </a:prstGeom>
          <a:noFill/>
          <a:effectLst/>
        </p:spPr>
        <p:txBody>
          <a:bodyPr wrap="square">
            <a:spAutoFit/>
          </a:bodyPr>
          <a:lstStyle/>
          <a:p>
            <a:pPr algn="l">
              <a:lnSpc>
                <a:spcPts val="1400"/>
              </a:lnSpc>
              <a:defRPr sz="900" b="0" i="0">
                <a:solidFill>
                  <a:srgbClr val="857F76"/>
                </a:solidFill>
                <a:latin typeface="Fraunces"/>
              </a:defRPr>
            </a:pPr>
            <a:r>
              <a:t>Sources: Chai Khana; georgianchant.org; UNESCO Atlas of endangered languages</a:t>
            </a:r>
          </a:p>
        </p:txBody>
      </p:sp>
      <p:sp>
        <p:nvSpPr>
          <p:cNvPr id="14" name="TextBox 13"/>
          <p:cNvSpPr txBox="1"/>
          <p:nvPr/>
        </p:nvSpPr>
        <p:spPr>
          <a:xfrm>
            <a:off x="10831068" y="6263640"/>
            <a:ext cx="598932" cy="274320"/>
          </a:xfrm>
          <a:prstGeom prst="rect">
            <a:avLst/>
          </a:prstGeom>
          <a:noFill/>
          <a:effectLst/>
        </p:spPr>
        <p:txBody>
          <a:bodyPr wrap="none">
            <a:spAutoFit/>
          </a:bodyPr>
          <a:lstStyle/>
          <a:p>
            <a:pPr algn="ctr">
              <a:defRPr sz="900">
                <a:solidFill>
                  <a:srgbClr val="5C5C5C"/>
                </a:solidFill>
                <a:latin typeface="Fraunces"/>
              </a:defRPr>
            </a:pPr>
            <a:r>
              <a:t>YOUTH</a:t>
            </a:r>
          </a:p>
        </p:txBody>
        <a:spPr>
          <a:prstGeom prst="roundRect">
            <a:avLst/>
          </a:prstGeom>
          <a:ln w="6350">
            <a:solidFill>
              <a:srgbClr val="B0A89E"/>
            </a:solidFill>
            <a:prstDash val="solid"/>
          </a:ln>
        </a:spPr>
      </p:sp>
      <p:sp>
        <p:nvSpPr>
          <p:cNvPr id="15" name="TextBox 14"/>
          <p:cNvSpPr txBox="1"/>
          <p:nvPr/>
        </p:nvSpPr>
        <p:spPr>
          <a:xfrm>
            <a:off x="9889236" y="6263640"/>
            <a:ext cx="804672" cy="274320"/>
          </a:xfrm>
          <a:prstGeom prst="rect">
            <a:avLst/>
          </a:prstGeom>
          <a:noFill/>
          <a:effectLst/>
        </p:spPr>
        <p:txBody>
          <a:bodyPr wrap="none">
            <a:spAutoFit/>
          </a:bodyPr>
          <a:lstStyle/>
          <a:p>
            <a:pPr algn="ctr">
              <a:defRPr sz="900">
                <a:solidFill>
                  <a:srgbClr val="5C5C5C"/>
                </a:solidFill>
                <a:latin typeface="Fraunces"/>
              </a:defRPr>
            </a:pPr>
            <a:r>
              <a:t>LANGUAGE</a:t>
            </a:r>
          </a:p>
        </p:txBody>
        <a:spPr>
          <a:prstGeom prst="roundRect">
            <a:avLst/>
          </a:prstGeom>
          <a:ln w="6350">
            <a:solidFill>
              <a:srgbClr val="B0A89E"/>
            </a:solidFill>
            <a:prstDash val="solid"/>
          </a:ln>
        </a:spPr>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9F4EE"/>
        </a:solidFill>
        <a:effectLst/>
      </p:bgPr>
    </p:bg>
    <p:spTree>
      <p:nvGrpSpPr>
        <p:cNvPr id="1" name=""/>
        <p:cNvGrpSpPr/>
        <p:nvPr/>
      </p:nvGrpSpPr>
      <p:grpSpPr/>
      <p:sp>
        <p:nvSpPr>
          <p:cNvPr id="2" name="TextBox 1"/>
          <p:cNvSpPr txBox="1"/>
          <p:nvPr/>
        </p:nvSpPr>
        <p:spPr>
          <a:xfrm>
            <a:off x="10058400" y="365760"/>
            <a:ext cx="1828800" cy="914400"/>
          </a:xfrm>
          <a:prstGeom prst="rect">
            <a:avLst/>
          </a:prstGeom>
          <a:noFill/>
          <a:effectLst/>
        </p:spPr>
        <p:txBody>
          <a:bodyPr wrap="square">
            <a:spAutoFit/>
          </a:bodyPr>
          <a:lstStyle/>
          <a:p>
            <a:pPr algn="r">
              <a:lnSpc>
                <a:spcPts val="10200"/>
              </a:lnSpc>
              <a:defRPr sz="6400" b="0" i="0">
                <a:solidFill>
                  <a:srgbClr val="400505"/>
                </a:solidFill>
                <a:latin typeface="Baskerville"/>
              </a:defRPr>
            </a:pPr>
            <a:r>
              <a:t>12</a:t>
            </a:r>
          </a:p>
        </p:txBody>
      </p:sp>
      <p:sp>
        <p:nvSpPr>
          <p:cNvPr id="3" name="TextBox 2"/>
          <p:cNvSpPr txBox="1"/>
          <p:nvPr/>
        </p:nvSpPr>
        <p:spPr>
          <a:xfrm>
            <a:off x="731520" y="548640"/>
            <a:ext cx="4572000" cy="365760"/>
          </a:xfrm>
          <a:prstGeom prst="rect">
            <a:avLst/>
          </a:prstGeom>
          <a:noFill/>
          <a:effectLst/>
        </p:spPr>
        <p:txBody>
          <a:bodyPr wrap="square">
            <a:spAutoFit/>
          </a:bodyPr>
          <a:lstStyle/>
          <a:p>
            <a:pPr algn="l">
              <a:lnSpc>
                <a:spcPts val="1700"/>
              </a:lnSpc>
              <a:defRPr sz="1100" b="0" i="0">
                <a:solidFill>
                  <a:srgbClr val="5C5C5C"/>
                </a:solidFill>
                <a:latin typeface="Fraunces"/>
              </a:defRPr>
            </a:pPr>
            <a:r>
              <a:t>LOCAL COMMUNITIES</a:t>
            </a:r>
          </a:p>
        </p:txBody>
      </p:sp>
      <p:sp>
        <p:nvSpPr>
          <p:cNvPr id="4" name="TextBox 3"/>
          <p:cNvSpPr txBox="1"/>
          <p:nvPr/>
        </p:nvSpPr>
        <p:spPr>
          <a:xfrm>
            <a:off x="731520" y="1463040"/>
            <a:ext cx="9144000" cy="1097280"/>
          </a:xfrm>
          <a:prstGeom prst="rect">
            <a:avLst/>
          </a:prstGeom>
          <a:noFill/>
          <a:effectLst/>
        </p:spPr>
        <p:txBody>
          <a:bodyPr wrap="square">
            <a:spAutoFit/>
          </a:bodyPr>
          <a:lstStyle/>
          <a:p>
            <a:pPr algn="l">
              <a:lnSpc>
                <a:spcPts val="6000"/>
              </a:lnSpc>
              <a:defRPr sz="3800" b="0" i="0">
                <a:solidFill>
                  <a:srgbClr val="000000"/>
                </a:solidFill>
                <a:latin typeface="Baskerville"/>
              </a:defRPr>
            </a:pPr>
            <a:r>
              <a:t>2,600 Years of Welcome</a:t>
            </a:r>
          </a:p>
        </p:txBody>
      </p:sp>
      <p:sp>
        <p:nvSpPr>
          <p:cNvPr id="5" name="TextBox 4"/>
          <p:cNvSpPr txBox="1"/>
          <p:nvPr/>
        </p:nvSpPr>
        <p:spPr>
          <a:xfrm>
            <a:off x="731520" y="2560320"/>
            <a:ext cx="9144000" cy="731520"/>
          </a:xfrm>
          <a:prstGeom prst="rect">
            <a:avLst/>
          </a:prstGeom>
          <a:noFill/>
          <a:effectLst/>
        </p:spPr>
        <p:txBody>
          <a:bodyPr wrap="square">
            <a:spAutoFit/>
          </a:bodyPr>
          <a:lstStyle/>
          <a:p>
            <a:pPr algn="l">
              <a:lnSpc>
                <a:spcPts val="3800"/>
              </a:lnSpc>
              <a:defRPr sz="2400" b="0" i="1">
                <a:solidFill>
                  <a:srgbClr val="5C5C5C"/>
                </a:solidFill>
                <a:latin typeface="Baskerville"/>
              </a:defRPr>
            </a:pPr>
            <a:r>
              <a:t>The Last Worshippers of Oni &amp; Kutaisi</a:t>
            </a:r>
          </a:p>
        </p:txBody>
      </p:sp>
      <p:cxnSp>
        <p:nvCxnSpPr>
          <p:cNvPr id="6" name="Connector 5"/>
          <p:cNvCxnSpPr/>
          <p:nvPr/>
        </p:nvCxnSpPr>
        <p:spPr>
          <a:xfrm>
            <a:off x="731520" y="3383280"/>
            <a:ext cx="10515600" cy="0"/>
          </a:xfrm>
          <a:prstGeom prst="line">
            <a:avLst/>
          </a:prstGeom>
          <a:ln w="9525">
            <a:solidFill>
              <a:srgbClr val="000000"/>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731520" y="3566160"/>
            <a:ext cx="1828800" cy="228600"/>
          </a:xfrm>
          <a:prstGeom prst="rect">
            <a:avLst/>
          </a:prstGeom>
          <a:noFill/>
          <a:effectLst/>
        </p:spPr>
        <p:txBody>
          <a:bodyPr wrap="square">
            <a:spAutoFit/>
          </a:bodyPr>
          <a:lstStyle/>
          <a:p>
            <a:pPr algn="l">
              <a:lnSpc>
                <a:spcPts val="1200"/>
              </a:lnSpc>
              <a:defRPr sz="800" b="0" i="0">
                <a:solidFill>
                  <a:srgbClr val="707070"/>
                </a:solidFill>
                <a:latin typeface="Fraunces"/>
              </a:defRPr>
            </a:pPr>
            <a:r>
              <a:t>THE STORY</a:t>
            </a:r>
          </a:p>
        </p:txBody>
      </p:sp>
      <p:sp>
        <p:nvSpPr>
          <p:cNvPr id="8" name="TextBox 7"/>
          <p:cNvSpPr txBox="1"/>
          <p:nvPr/>
        </p:nvSpPr>
        <p:spPr>
          <a:xfrm>
            <a:off x="731520" y="3794760"/>
            <a:ext cx="5303520" cy="1645920"/>
          </a:xfrm>
          <a:prstGeom prst="rect">
            <a:avLst/>
          </a:prstGeom>
          <a:noFill/>
          <a:effectLst/>
        </p:spPr>
        <p:txBody>
          <a:bodyPr wrap="square">
            <a:spAutoFit/>
          </a:bodyPr>
          <a:lstStyle/>
          <a:p>
            <a:pPr algn="l">
              <a:lnSpc>
                <a:spcPts val="2200"/>
              </a:lnSpc>
              <a:defRPr sz="1400" b="0" i="0">
                <a:solidFill>
                  <a:srgbClr val="000000"/>
                </a:solidFill>
                <a:latin typeface="Baskerville"/>
              </a:defRPr>
            </a:pPr>
            <a:r>
              <a:t>Jews have lived in Georgia for some 26 centuries, in what is often called the one country where they were never persecuted as Jews. The Oni synagogue (1895) once held over a thousand; today fewer than 20 worship there. Kutaisi’s Jewish quarter, once 30,000 strong, counts fewer than a hundred families.</a:t>
            </a:r>
          </a:p>
        </p:txBody>
      </p:sp>
      <p:cxnSp>
        <p:nvCxnSpPr>
          <p:cNvPr id="9" name="Connector 8"/>
          <p:cNvCxnSpPr/>
          <p:nvPr/>
        </p:nvCxnSpPr>
        <p:spPr>
          <a:xfrm>
            <a:off x="6400800" y="3566160"/>
            <a:ext cx="0" cy="2194560"/>
          </a:xfrm>
          <a:prstGeom prst="line">
            <a:avLst/>
          </a:prstGeom>
          <a:ln w="25400">
            <a:solidFill>
              <a:srgbClr val="D8D2CA"/>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766560" y="3566160"/>
            <a:ext cx="1828800" cy="228600"/>
          </a:xfrm>
          <a:prstGeom prst="rect">
            <a:avLst/>
          </a:prstGeom>
          <a:noFill/>
          <a:effectLst/>
        </p:spPr>
        <p:txBody>
          <a:bodyPr wrap="square">
            <a:spAutoFit/>
          </a:bodyPr>
          <a:lstStyle/>
          <a:p>
            <a:pPr algn="l">
              <a:lnSpc>
                <a:spcPts val="1200"/>
              </a:lnSpc>
              <a:defRPr sz="800" b="0" i="0">
                <a:solidFill>
                  <a:srgbClr val="707070"/>
                </a:solidFill>
                <a:latin typeface="Fraunces"/>
              </a:defRPr>
            </a:pPr>
            <a:r>
              <a:t>OUR PROPOSAL</a:t>
            </a:r>
          </a:p>
        </p:txBody>
      </p:sp>
      <p:sp>
        <p:nvSpPr>
          <p:cNvPr id="11" name="TextBox 10"/>
          <p:cNvSpPr txBox="1"/>
          <p:nvPr/>
        </p:nvSpPr>
        <p:spPr>
          <a:xfrm>
            <a:off x="6766560" y="3794760"/>
            <a:ext cx="4754880" cy="1645920"/>
          </a:xfrm>
          <a:prstGeom prst="rect">
            <a:avLst/>
          </a:prstGeom>
          <a:noFill/>
          <a:effectLst/>
        </p:spPr>
        <p:txBody>
          <a:bodyPr wrap="square">
            <a:spAutoFit/>
          </a:bodyPr>
          <a:lstStyle/>
          <a:p>
            <a:pPr algn="l">
              <a:lnSpc>
                <a:spcPts val="2200"/>
              </a:lnSpc>
              <a:defRPr sz="1400" b="0" i="0">
                <a:solidFill>
                  <a:srgbClr val="000000"/>
                </a:solidFill>
                <a:latin typeface="Baskerville"/>
              </a:defRPr>
            </a:pPr>
            <a:r>
              <a:t>INLAND documents a Sabbath where the minyan is barely made, in a synagogue built for a thousand — the keepers of one of the world’s oldest diasporas, with discretion.</a:t>
            </a:r>
          </a:p>
        </p:txBody>
      </p:sp>
      <p:sp>
        <p:nvSpPr>
          <p:cNvPr id="12" name="TextBox 11"/>
          <p:cNvSpPr txBox="1"/>
          <p:nvPr/>
        </p:nvSpPr>
        <p:spPr>
          <a:xfrm>
            <a:off x="731520" y="5989320"/>
            <a:ext cx="6583680" cy="320040"/>
          </a:xfrm>
          <a:prstGeom prst="rect">
            <a:avLst/>
          </a:prstGeom>
          <a:noFill/>
          <a:effectLst/>
        </p:spPr>
        <p:txBody>
          <a:bodyPr wrap="square">
            <a:spAutoFit/>
          </a:bodyPr>
          <a:lstStyle/>
          <a:p>
            <a:pPr algn="l">
              <a:lnSpc>
                <a:spcPts val="1600"/>
              </a:lnSpc>
              <a:defRPr sz="1000" b="0" i="0">
                <a:solidFill>
                  <a:srgbClr val="5C5C5C"/>
                </a:solidFill>
                <a:latin typeface="Fraunces"/>
              </a:defRPr>
            </a:pPr>
            <a:r>
              <a:t>Places: Oni (Racha) · Kutaisi</a:t>
            </a:r>
          </a:p>
        </p:txBody>
      </p:sp>
      <p:sp>
        <p:nvSpPr>
          <p:cNvPr id="13" name="TextBox 12"/>
          <p:cNvSpPr txBox="1"/>
          <p:nvPr/>
        </p:nvSpPr>
        <p:spPr>
          <a:xfrm>
            <a:off x="731520" y="6327648"/>
            <a:ext cx="6583680" cy="274320"/>
          </a:xfrm>
          <a:prstGeom prst="rect">
            <a:avLst/>
          </a:prstGeom>
          <a:noFill/>
          <a:effectLst/>
        </p:spPr>
        <p:txBody>
          <a:bodyPr wrap="square">
            <a:spAutoFit/>
          </a:bodyPr>
          <a:lstStyle/>
          <a:p>
            <a:pPr algn="l">
              <a:lnSpc>
                <a:spcPts val="1400"/>
              </a:lnSpc>
              <a:defRPr sz="900" b="0" i="0">
                <a:solidFill>
                  <a:srgbClr val="857F76"/>
                </a:solidFill>
                <a:latin typeface="Fraunces"/>
              </a:defRPr>
            </a:pPr>
            <a:r>
              <a:t>Sources: Wikipedia (Oni; Kutaisi synagogues); Gil Travel; jguideeurope.org</a:t>
            </a:r>
          </a:p>
        </p:txBody>
      </p:sp>
      <p:sp>
        <p:nvSpPr>
          <p:cNvPr id="14" name="TextBox 13"/>
          <p:cNvSpPr txBox="1"/>
          <p:nvPr/>
        </p:nvSpPr>
        <p:spPr>
          <a:xfrm>
            <a:off x="10488168" y="6263640"/>
            <a:ext cx="941832" cy="274320"/>
          </a:xfrm>
          <a:prstGeom prst="rect">
            <a:avLst/>
          </a:prstGeom>
          <a:noFill/>
          <a:effectLst/>
        </p:spPr>
        <p:txBody>
          <a:bodyPr wrap="none">
            <a:spAutoFit/>
          </a:bodyPr>
          <a:lstStyle/>
          <a:p>
            <a:pPr algn="ctr">
              <a:defRPr sz="900">
                <a:solidFill>
                  <a:srgbClr val="5C5C5C"/>
                </a:solidFill>
                <a:latin typeface="Fraunces"/>
              </a:defRPr>
            </a:pPr>
            <a:r>
              <a:t>ENDANGERED</a:t>
            </a:r>
          </a:p>
        </p:txBody>
        <a:spPr>
          <a:prstGeom prst="roundRect">
            <a:avLst/>
          </a:prstGeom>
          <a:ln w="6350">
            <a:solidFill>
              <a:srgbClr val="B0A89E"/>
            </a:solidFill>
            <a:prstDash val="solid"/>
          </a:ln>
        </a:spPr>
      </p:sp>
      <p:sp>
        <p:nvSpPr>
          <p:cNvPr id="15" name="TextBox 14"/>
          <p:cNvSpPr txBox="1"/>
          <p:nvPr/>
        </p:nvSpPr>
        <p:spPr>
          <a:xfrm>
            <a:off x="9546336" y="6263640"/>
            <a:ext cx="804672" cy="274320"/>
          </a:xfrm>
          <a:prstGeom prst="rect">
            <a:avLst/>
          </a:prstGeom>
          <a:noFill/>
          <a:effectLst/>
        </p:spPr>
        <p:txBody>
          <a:bodyPr wrap="none">
            <a:spAutoFit/>
          </a:bodyPr>
          <a:lstStyle/>
          <a:p>
            <a:pPr algn="ctr">
              <a:defRPr sz="900">
                <a:solidFill>
                  <a:srgbClr val="5C5C5C"/>
                </a:solidFill>
                <a:latin typeface="Fraunces"/>
              </a:defRPr>
            </a:pPr>
            <a:r>
              <a:t>DIASPORA</a:t>
            </a:r>
          </a:p>
        </p:txBody>
        <a:spPr>
          <a:prstGeom prst="roundRect">
            <a:avLst/>
          </a:prstGeom>
          <a:ln w="6350">
            <a:solidFill>
              <a:srgbClr val="B0A89E"/>
            </a:solidFill>
            <a:prstDash val="solid"/>
          </a:ln>
        </a:spPr>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E0E0E"/>
        </a:solidFill>
        <a:effectLst/>
      </p:bgPr>
    </p:bg>
    <p:spTree>
      <p:nvGrpSpPr>
        <p:cNvPr id="1" name=""/>
        <p:cNvGrpSpPr/>
        <p:nvPr/>
      </p:nvGrpSpPr>
      <p:grpSpPr/>
      <p:sp>
        <p:nvSpPr>
          <p:cNvPr id="2" name="TextBox 1"/>
          <p:cNvSpPr txBox="1"/>
          <p:nvPr/>
        </p:nvSpPr>
        <p:spPr>
          <a:xfrm>
            <a:off x="914400" y="1828800"/>
            <a:ext cx="10332720" cy="365760"/>
          </a:xfrm>
          <a:prstGeom prst="rect">
            <a:avLst/>
          </a:prstGeom>
          <a:noFill/>
          <a:effectLst/>
        </p:spPr>
        <p:txBody>
          <a:bodyPr wrap="square">
            <a:spAutoFit/>
          </a:bodyPr>
          <a:lstStyle/>
          <a:p>
            <a:pPr algn="ctr">
              <a:lnSpc>
                <a:spcPts val="1700"/>
              </a:lnSpc>
              <a:defRPr sz="1100" b="0" i="0">
                <a:solidFill>
                  <a:srgbClr val="999999"/>
                </a:solidFill>
                <a:latin typeface="Fraunces"/>
              </a:defRPr>
            </a:pPr>
            <a:r>
              <a:t>OUR SUGGESTION</a:t>
            </a:r>
          </a:p>
        </p:txBody>
      </p:sp>
      <p:sp>
        <p:nvSpPr>
          <p:cNvPr id="3" name="TextBox 2"/>
          <p:cNvSpPr txBox="1"/>
          <p:nvPr/>
        </p:nvSpPr>
        <p:spPr>
          <a:xfrm>
            <a:off x="914400" y="2560320"/>
            <a:ext cx="10332720" cy="1097280"/>
          </a:xfrm>
          <a:prstGeom prst="rect">
            <a:avLst/>
          </a:prstGeom>
          <a:noFill/>
          <a:effectLst/>
        </p:spPr>
        <p:txBody>
          <a:bodyPr wrap="square">
            <a:spAutoFit/>
          </a:bodyPr>
          <a:lstStyle/>
          <a:p>
            <a:pPr algn="ctr">
              <a:lnSpc>
                <a:spcPts val="8300"/>
              </a:lnSpc>
              <a:defRPr sz="5200" b="0" i="0">
                <a:solidFill>
                  <a:srgbClr val="FFFFFF"/>
                </a:solidFill>
                <a:latin typeface="Baskerville"/>
              </a:defRPr>
            </a:pPr>
            <a:r>
              <a:t>Production Clusters</a:t>
            </a:r>
          </a:p>
        </p:txBody>
      </p:sp>
      <p:cxnSp>
        <p:nvCxnSpPr>
          <p:cNvPr id="4" name="Connector 3"/>
          <p:cNvCxnSpPr/>
          <p:nvPr/>
        </p:nvCxnSpPr>
        <p:spPr>
          <a:xfrm>
            <a:off x="5303520" y="3840480"/>
            <a:ext cx="1554480" cy="0"/>
          </a:xfrm>
          <a:prstGeom prst="line">
            <a:avLst/>
          </a:prstGeom>
          <a:ln w="9525">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2286000" y="4206240"/>
            <a:ext cx="7589520" cy="1097280"/>
          </a:xfrm>
          <a:prstGeom prst="rect">
            <a:avLst/>
          </a:prstGeom>
          <a:noFill/>
          <a:effectLst/>
        </p:spPr>
        <p:txBody>
          <a:bodyPr wrap="square">
            <a:spAutoFit/>
          </a:bodyPr>
          <a:lstStyle/>
          <a:p>
            <a:pPr algn="ctr">
              <a:lnSpc>
                <a:spcPts val="2800"/>
              </a:lnSpc>
              <a:defRPr sz="1800" b="0" i="0">
                <a:solidFill>
                  <a:srgbClr val="999999"/>
                </a:solidFill>
                <a:latin typeface="Baskerville"/>
              </a:defRPr>
            </a:pPr>
            <a:r>
              <a:t>From the twelve storylines we propose three field clusters — each grouping stories that share geography and season into one deployable embed across Georgia’s highlands and plain.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9F4EE"/>
        </a:solidFill>
        <a:effectLst/>
      </p:bgPr>
    </p:bg>
    <p:spTree>
      <p:nvGrpSpPr>
        <p:cNvPr id="1" name=""/>
        <p:cNvGrpSpPr/>
        <p:nvPr/>
      </p:nvGrpSpPr>
      <p:grpSpPr/>
      <p:sp>
        <p:nvSpPr>
          <p:cNvPr id="2" name="TextBox 1"/>
          <p:cNvSpPr txBox="1"/>
          <p:nvPr/>
        </p:nvSpPr>
        <p:spPr>
          <a:xfrm>
            <a:off x="731520" y="457200"/>
            <a:ext cx="3657600" cy="365760"/>
          </a:xfrm>
          <a:prstGeom prst="rect">
            <a:avLst/>
          </a:prstGeom>
          <a:noFill/>
          <a:effectLst/>
        </p:spPr>
        <p:txBody>
          <a:bodyPr wrap="square">
            <a:spAutoFit/>
          </a:bodyPr>
          <a:lstStyle/>
          <a:p>
            <a:pPr algn="l">
              <a:lnSpc>
                <a:spcPts val="1700"/>
              </a:lnSpc>
              <a:defRPr sz="1100" b="0" i="0">
                <a:solidFill>
                  <a:srgbClr val="5C5C5C"/>
                </a:solidFill>
                <a:latin typeface="Fraunces"/>
              </a:defRPr>
            </a:pPr>
            <a:r>
              <a:t>THREE CLUSTERS</a:t>
            </a:r>
          </a:p>
        </p:txBody>
      </p:sp>
      <p:sp>
        <p:nvSpPr>
          <p:cNvPr id="3" name="TextBox 2"/>
          <p:cNvSpPr txBox="1"/>
          <p:nvPr/>
        </p:nvSpPr>
        <p:spPr>
          <a:xfrm>
            <a:off x="731520" y="1188720"/>
            <a:ext cx="7315200" cy="914400"/>
          </a:xfrm>
          <a:prstGeom prst="rect">
            <a:avLst/>
          </a:prstGeom>
          <a:noFill/>
          <a:effectLst/>
        </p:spPr>
        <p:txBody>
          <a:bodyPr wrap="square">
            <a:spAutoFit/>
          </a:bodyPr>
          <a:lstStyle/>
          <a:p>
            <a:pPr algn="l">
              <a:lnSpc>
                <a:spcPts val="6400"/>
              </a:lnSpc>
              <a:defRPr sz="4000" b="0" i="0">
                <a:solidFill>
                  <a:srgbClr val="000000"/>
                </a:solidFill>
                <a:latin typeface="Baskerville"/>
              </a:defRPr>
            </a:pPr>
            <a:r>
              <a:t>Production Clusters</a:t>
            </a:r>
          </a:p>
        </p:txBody>
      </p:sp>
      <p:cxnSp>
        <p:nvCxnSpPr>
          <p:cNvPr id="4" name="Connector 3"/>
          <p:cNvCxnSpPr/>
          <p:nvPr/>
        </p:nvCxnSpPr>
        <p:spPr>
          <a:xfrm>
            <a:off x="731520" y="2286000"/>
            <a:ext cx="10515600" cy="0"/>
          </a:xfrm>
          <a:prstGeom prst="line">
            <a:avLst/>
          </a:prstGeom>
          <a:ln w="9525">
            <a:solidFill>
              <a:srgbClr val="000000"/>
            </a:solidFill>
          </a:ln>
          <a:effectLst/>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731520" y="2651760"/>
            <a:ext cx="3383280" cy="0"/>
          </a:xfrm>
          <a:prstGeom prst="line">
            <a:avLst/>
          </a:prstGeom>
          <a:ln w="38100">
            <a:solidFill>
              <a:srgbClr val="1B4965"/>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31520" y="2788920"/>
            <a:ext cx="3383280" cy="457200"/>
          </a:xfrm>
          <a:prstGeom prst="rect">
            <a:avLst/>
          </a:prstGeom>
          <a:noFill/>
          <a:effectLst/>
        </p:spPr>
        <p:txBody>
          <a:bodyPr wrap="square">
            <a:spAutoFit/>
          </a:bodyPr>
          <a:lstStyle/>
          <a:p>
            <a:pPr algn="l">
              <a:lnSpc>
                <a:spcPts val="3500"/>
              </a:lnSpc>
              <a:defRPr sz="2200" b="0" i="0">
                <a:solidFill>
                  <a:srgbClr val="1B4965"/>
                </a:solidFill>
                <a:latin typeface="Baskerville"/>
              </a:defRPr>
            </a:pPr>
            <a:r>
              <a:t>The Eastern Highlands</a:t>
            </a:r>
          </a:p>
        </p:txBody>
      </p:sp>
      <p:sp>
        <p:nvSpPr>
          <p:cNvPr id="7" name="TextBox 6"/>
          <p:cNvSpPr txBox="1"/>
          <p:nvPr/>
        </p:nvSpPr>
        <p:spPr>
          <a:xfrm>
            <a:off x="731520" y="3218688"/>
            <a:ext cx="3383280" cy="274320"/>
          </a:xfrm>
          <a:prstGeom prst="rect">
            <a:avLst/>
          </a:prstGeom>
          <a:noFill/>
          <a:effectLst/>
        </p:spPr>
        <p:txBody>
          <a:bodyPr wrap="square">
            <a:spAutoFit/>
          </a:bodyPr>
          <a:lstStyle/>
          <a:p>
            <a:pPr algn="l">
              <a:lnSpc>
                <a:spcPts val="1400"/>
              </a:lnSpc>
              <a:defRPr sz="900" b="0" i="0">
                <a:solidFill>
                  <a:srgbClr val="5C5C5C"/>
                </a:solidFill>
                <a:latin typeface="Fraunces"/>
              </a:defRPr>
            </a:pPr>
            <a:r>
              <a:t>Stories 01 + 07 + 08 + 09</a:t>
            </a:r>
          </a:p>
        </p:txBody>
      </p:sp>
      <p:sp>
        <p:nvSpPr>
          <p:cNvPr id="8" name="TextBox 7"/>
          <p:cNvSpPr txBox="1"/>
          <p:nvPr/>
        </p:nvSpPr>
        <p:spPr>
          <a:xfrm>
            <a:off x="731520" y="3520439"/>
            <a:ext cx="3383280" cy="1554480"/>
          </a:xfrm>
          <a:prstGeom prst="rect">
            <a:avLst/>
          </a:prstGeom>
          <a:noFill/>
          <a:effectLst/>
        </p:spPr>
        <p:txBody>
          <a:bodyPr wrap="square">
            <a:spAutoFit/>
          </a:bodyPr>
          <a:lstStyle/>
          <a:p>
            <a:pPr algn="l">
              <a:lnSpc>
                <a:spcPts val="1800"/>
              </a:lnSpc>
              <a:defRPr sz="1300" b="0" i="0">
                <a:solidFill>
                  <a:srgbClr val="000000"/>
                </a:solidFill>
                <a:latin typeface="Baskerville"/>
              </a:defRPr>
            </a:pPr>
            <a:r>
              <a:t>From a Kakheti base: the Abano-Pass transhumance and Tushetian guda cheese, the shrine cult of Khevsureti at Atengenoba, and the women’s Sufi zikr of Pankisi. One eastern deployment across the high summer.</a:t>
            </a:r>
          </a:p>
        </p:txBody>
      </p:sp>
      <p:sp>
        <p:nvSpPr>
          <p:cNvPr id="9" name="TextBox 8"/>
          <p:cNvSpPr txBox="1"/>
          <p:nvPr/>
        </p:nvSpPr>
        <p:spPr>
          <a:xfrm>
            <a:off x="731520" y="5303520"/>
            <a:ext cx="3383280" cy="914400"/>
          </a:xfrm>
          <a:prstGeom prst="rect">
            <a:avLst/>
          </a:prstGeom>
          <a:noFill/>
          <a:effectLst/>
        </p:spPr>
        <p:txBody>
          <a:bodyPr wrap="square">
            <a:spAutoFit/>
          </a:bodyPr>
          <a:lstStyle/>
          <a:p>
            <a:pPr algn="l">
              <a:lnSpc>
                <a:spcPts val="1200"/>
              </a:lnSpc>
              <a:defRPr sz="800" b="0" i="0">
                <a:solidFill>
                  <a:srgbClr val="857F76"/>
                </a:solidFill>
                <a:latin typeface="Fraunces"/>
              </a:defRPr>
            </a:pPr>
            <a:r>
              <a:t>Geography: Kakheti (Telavi/Akhmeta) → Tusheti → Khevsureti → Pankisi (Duisi)</a:t>
            </a:r>
            <a:br/>
            <a:r>
              <a:t>Season: Transhumance May &amp; Sept; Atengenoba ~mid-Jul; guda Jun–Sep; zikr Fri</a:t>
            </a:r>
            <a:br/>
            <a:r>
              <a:t>4 stories, 1 eastern base</a:t>
            </a:r>
          </a:p>
        </p:txBody>
      </p:sp>
      <p:cxnSp>
        <p:nvCxnSpPr>
          <p:cNvPr id="10" name="Connector 9"/>
          <p:cNvCxnSpPr/>
          <p:nvPr/>
        </p:nvCxnSpPr>
        <p:spPr>
          <a:xfrm>
            <a:off x="4434840" y="2651760"/>
            <a:ext cx="3383280" cy="0"/>
          </a:xfrm>
          <a:prstGeom prst="line">
            <a:avLst/>
          </a:prstGeom>
          <a:ln w="38100">
            <a:solidFill>
              <a:srgbClr val="3A5A40"/>
            </a:solidFill>
          </a:ln>
          <a:effectLst/>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434840" y="2788920"/>
            <a:ext cx="3383280" cy="457200"/>
          </a:xfrm>
          <a:prstGeom prst="rect">
            <a:avLst/>
          </a:prstGeom>
          <a:noFill/>
          <a:effectLst/>
        </p:spPr>
        <p:txBody>
          <a:bodyPr wrap="square">
            <a:spAutoFit/>
          </a:bodyPr>
          <a:lstStyle/>
          <a:p>
            <a:pPr algn="l">
              <a:lnSpc>
                <a:spcPts val="3500"/>
              </a:lnSpc>
              <a:defRPr sz="2200" b="0" i="0">
                <a:solidFill>
                  <a:srgbClr val="3A5A40"/>
                </a:solidFill>
                <a:latin typeface="Baskerville"/>
              </a:defRPr>
            </a:pPr>
            <a:r>
              <a:t>The Western Voices</a:t>
            </a:r>
          </a:p>
        </p:txBody>
      </p:sp>
      <p:sp>
        <p:nvSpPr>
          <p:cNvPr id="12" name="TextBox 11"/>
          <p:cNvSpPr txBox="1"/>
          <p:nvPr/>
        </p:nvSpPr>
        <p:spPr>
          <a:xfrm>
            <a:off x="4434840" y="3218688"/>
            <a:ext cx="3383280" cy="274320"/>
          </a:xfrm>
          <a:prstGeom prst="rect">
            <a:avLst/>
          </a:prstGeom>
          <a:noFill/>
          <a:effectLst/>
        </p:spPr>
        <p:txBody>
          <a:bodyPr wrap="square">
            <a:spAutoFit/>
          </a:bodyPr>
          <a:lstStyle/>
          <a:p>
            <a:pPr algn="l">
              <a:lnSpc>
                <a:spcPts val="1400"/>
              </a:lnSpc>
              <a:defRPr sz="900" b="0" i="0">
                <a:solidFill>
                  <a:srgbClr val="5C5C5C"/>
                </a:solidFill>
                <a:latin typeface="Fraunces"/>
              </a:defRPr>
            </a:pPr>
            <a:r>
              <a:t>Stories 02 + 03 + 04 + 11 + 12</a:t>
            </a:r>
          </a:p>
        </p:txBody>
      </p:sp>
      <p:sp>
        <p:nvSpPr>
          <p:cNvPr id="13" name="TextBox 12"/>
          <p:cNvSpPr txBox="1"/>
          <p:nvPr/>
        </p:nvSpPr>
        <p:spPr>
          <a:xfrm>
            <a:off x="4434840" y="3520439"/>
            <a:ext cx="3383280" cy="1554480"/>
          </a:xfrm>
          <a:prstGeom prst="rect">
            <a:avLst/>
          </a:prstGeom>
          <a:noFill/>
          <a:effectLst/>
        </p:spPr>
        <p:txBody>
          <a:bodyPr wrap="square">
            <a:spAutoFit/>
          </a:bodyPr>
          <a:lstStyle/>
          <a:p>
            <a:pPr algn="l">
              <a:lnSpc>
                <a:spcPts val="1800"/>
              </a:lnSpc>
              <a:defRPr sz="1300" b="0" i="0">
                <a:solidFill>
                  <a:srgbClr val="000000"/>
                </a:solidFill>
                <a:latin typeface="Baskerville"/>
              </a:defRPr>
            </a:pPr>
            <a:r>
              <a:t>The west and the high north-west: the tower families and animist sun-hymns of Svaneti, the endangered Svan language sung by the young, the Gurian krimanchuli of Lanchkhuti, and the last Jewish worshippers of Oni and Kutaisi.</a:t>
            </a:r>
          </a:p>
        </p:txBody>
      </p:sp>
      <p:sp>
        <p:nvSpPr>
          <p:cNvPr id="14" name="TextBox 13"/>
          <p:cNvSpPr txBox="1"/>
          <p:nvPr/>
        </p:nvSpPr>
        <p:spPr>
          <a:xfrm>
            <a:off x="4434840" y="5303520"/>
            <a:ext cx="3383280" cy="914400"/>
          </a:xfrm>
          <a:prstGeom prst="rect">
            <a:avLst/>
          </a:prstGeom>
          <a:noFill/>
          <a:effectLst/>
        </p:spPr>
        <p:txBody>
          <a:bodyPr wrap="square">
            <a:spAutoFit/>
          </a:bodyPr>
          <a:lstStyle/>
          <a:p>
            <a:pPr algn="l">
              <a:lnSpc>
                <a:spcPts val="1200"/>
              </a:lnSpc>
              <a:defRPr sz="800" b="0" i="0">
                <a:solidFill>
                  <a:srgbClr val="857F76"/>
                </a:solidFill>
                <a:latin typeface="Fraunces"/>
              </a:defRPr>
            </a:pPr>
            <a:r>
              <a:t>Geography: Mestia/Ushguli (Svaneti) → Lanchkhuti (Guria) → Oni (Racha) → Kutaisi</a:t>
            </a:r>
            <a:br/>
            <a:r>
              <a:t>Season: Svaneti late spring–autumn; rehearsals &amp; Sabbaths year-round</a:t>
            </a:r>
            <a:br/>
            <a:r>
              <a:t>5 stories, 1 western loop</a:t>
            </a:r>
          </a:p>
        </p:txBody>
      </p:sp>
      <p:cxnSp>
        <p:nvCxnSpPr>
          <p:cNvPr id="15" name="Connector 14"/>
          <p:cNvCxnSpPr/>
          <p:nvPr/>
        </p:nvCxnSpPr>
        <p:spPr>
          <a:xfrm>
            <a:off x="8138160" y="2651760"/>
            <a:ext cx="3383280" cy="0"/>
          </a:xfrm>
          <a:prstGeom prst="line">
            <a:avLst/>
          </a:prstGeom>
          <a:ln w="38100">
            <a:solidFill>
              <a:srgbClr val="5B2C6F"/>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8138160" y="2788920"/>
            <a:ext cx="3383280" cy="457200"/>
          </a:xfrm>
          <a:prstGeom prst="rect">
            <a:avLst/>
          </a:prstGeom>
          <a:noFill/>
          <a:effectLst/>
        </p:spPr>
        <p:txBody>
          <a:bodyPr wrap="square">
            <a:spAutoFit/>
          </a:bodyPr>
          <a:lstStyle/>
          <a:p>
            <a:pPr algn="l">
              <a:lnSpc>
                <a:spcPts val="3500"/>
              </a:lnSpc>
              <a:defRPr sz="2200" b="0" i="0">
                <a:solidFill>
                  <a:srgbClr val="5B2C6F"/>
                </a:solidFill>
                <a:latin typeface="Baskerville"/>
              </a:defRPr>
            </a:pPr>
            <a:r>
              <a:t>The Plain &amp; the Desert</a:t>
            </a:r>
          </a:p>
        </p:txBody>
      </p:sp>
      <p:sp>
        <p:nvSpPr>
          <p:cNvPr id="17" name="TextBox 16"/>
          <p:cNvSpPr txBox="1"/>
          <p:nvPr/>
        </p:nvSpPr>
        <p:spPr>
          <a:xfrm>
            <a:off x="8138160" y="3218688"/>
            <a:ext cx="3383280" cy="274320"/>
          </a:xfrm>
          <a:prstGeom prst="rect">
            <a:avLst/>
          </a:prstGeom>
          <a:noFill/>
          <a:effectLst/>
        </p:spPr>
        <p:txBody>
          <a:bodyPr wrap="square">
            <a:spAutoFit/>
          </a:bodyPr>
          <a:lstStyle/>
          <a:p>
            <a:pPr algn="l">
              <a:lnSpc>
                <a:spcPts val="1400"/>
              </a:lnSpc>
              <a:defRPr sz="900" b="0" i="0">
                <a:solidFill>
                  <a:srgbClr val="5C5C5C"/>
                </a:solidFill>
                <a:latin typeface="Fraunces"/>
              </a:defRPr>
            </a:pPr>
            <a:r>
              <a:t>Stories 05 + 06 + 10</a:t>
            </a:r>
          </a:p>
        </p:txBody>
      </p:sp>
      <p:sp>
        <p:nvSpPr>
          <p:cNvPr id="18" name="TextBox 17"/>
          <p:cNvSpPr txBox="1"/>
          <p:nvPr/>
        </p:nvSpPr>
        <p:spPr>
          <a:xfrm>
            <a:off x="8138160" y="3520439"/>
            <a:ext cx="3383280" cy="1554480"/>
          </a:xfrm>
          <a:prstGeom prst="rect">
            <a:avLst/>
          </a:prstGeom>
          <a:noFill/>
          <a:effectLst/>
        </p:spPr>
        <p:txBody>
          <a:bodyPr wrap="square">
            <a:spAutoFit/>
          </a:bodyPr>
          <a:lstStyle/>
          <a:p>
            <a:pPr algn="l">
              <a:lnSpc>
                <a:spcPts val="1800"/>
              </a:lnSpc>
              <a:defRPr sz="1300" b="0" i="0">
                <a:solidFill>
                  <a:srgbClr val="000000"/>
                </a:solidFill>
                <a:latin typeface="Baskerville"/>
              </a:defRPr>
            </a:pPr>
            <a:r>
              <a:t>Tbilisi and the Kakhetian plain: the minankari enamel revival, the qvevri marani at harvest, and the cave monastery of David Gareja on the disputed desert line. Anchored on rtveli, the autumn harvest.</a:t>
            </a:r>
          </a:p>
        </p:txBody>
      </p:sp>
      <p:sp>
        <p:nvSpPr>
          <p:cNvPr id="19" name="TextBox 18"/>
          <p:cNvSpPr txBox="1"/>
          <p:nvPr/>
        </p:nvSpPr>
        <p:spPr>
          <a:xfrm>
            <a:off x="8138160" y="5303520"/>
            <a:ext cx="3383280" cy="914400"/>
          </a:xfrm>
          <a:prstGeom prst="rect">
            <a:avLst/>
          </a:prstGeom>
          <a:noFill/>
          <a:effectLst/>
        </p:spPr>
        <p:txBody>
          <a:bodyPr wrap="square">
            <a:spAutoFit/>
          </a:bodyPr>
          <a:lstStyle/>
          <a:p>
            <a:pPr algn="l">
              <a:lnSpc>
                <a:spcPts val="1200"/>
              </a:lnSpc>
              <a:defRPr sz="800" b="0" i="0">
                <a:solidFill>
                  <a:srgbClr val="857F76"/>
                </a:solidFill>
                <a:latin typeface="Fraunces"/>
              </a:defRPr>
            </a:pPr>
            <a:r>
              <a:t>Geography: Tbilisi → Kakheti (Vardisubani/Telavi) → David Gareja (Udabno)</a:t>
            </a:r>
            <a:br/>
            <a:r>
              <a:t>Season: Rtveli late Sep; enamel year-round; Gareja spring/autumn light</a:t>
            </a:r>
            <a:br/>
            <a:r>
              <a:t>3 stories, autumn window</a:t>
            </a:r>
          </a:p>
        </p:txBody>
      </p:sp>
      <p:sp>
        <p:nvSpPr>
          <p:cNvPr id="20" name="TextBox 19"/>
          <p:cNvSpPr txBox="1"/>
          <p:nvPr/>
        </p:nvSpPr>
        <p:spPr>
          <a:xfrm>
            <a:off x="731520" y="6126480"/>
            <a:ext cx="10698480" cy="548640"/>
          </a:xfrm>
          <a:prstGeom prst="rect">
            <a:avLst/>
          </a:prstGeom>
          <a:noFill/>
          <a:effectLst/>
        </p:spPr>
        <p:txBody>
          <a:bodyPr wrap="square">
            <a:spAutoFit/>
          </a:bodyPr>
          <a:lstStyle/>
          <a:p>
            <a:pPr algn="l">
              <a:lnSpc>
                <a:spcPts val="1400"/>
              </a:lnSpc>
              <a:defRPr sz="900" b="0" i="0">
                <a:solidFill>
                  <a:srgbClr val="857F76"/>
                </a:solidFill>
                <a:latin typeface="Fraunces"/>
              </a:defRPr>
            </a:pPr>
            <a:r>
              <a:t>Signature: The Road in May (the Abano Pass crossing) runs across the project; the supra and Georgian polyphony bind the clusters as its social thread.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9F4EE"/>
        </a:solidFill>
        <a:effectLst/>
      </p:bgPr>
    </p:bg>
    <p:spTree>
      <p:nvGrpSpPr>
        <p:cNvPr id="1" name=""/>
        <p:cNvGrpSpPr/>
        <p:nvPr/>
      </p:nvGrpSpPr>
      <p:grpSpPr/>
      <p:sp>
        <p:nvSpPr>
          <p:cNvPr id="2" name="TextBox 1"/>
          <p:cNvSpPr txBox="1"/>
          <p:nvPr/>
        </p:nvSpPr>
        <p:spPr>
          <a:xfrm>
            <a:off x="731520" y="457200"/>
            <a:ext cx="3657600" cy="365760"/>
          </a:xfrm>
          <a:prstGeom prst="rect">
            <a:avLst/>
          </a:prstGeom>
          <a:noFill/>
          <a:effectLst/>
        </p:spPr>
        <p:txBody>
          <a:bodyPr wrap="square">
            <a:spAutoFit/>
          </a:bodyPr>
          <a:lstStyle/>
          <a:p>
            <a:pPr algn="l">
              <a:lnSpc>
                <a:spcPts val="1700"/>
              </a:lnSpc>
              <a:defRPr sz="1100" b="0" i="0">
                <a:solidFill>
                  <a:srgbClr val="5C5C5C"/>
                </a:solidFill>
                <a:latin typeface="Fraunces"/>
              </a:defRPr>
            </a:pPr>
            <a:r>
              <a:t>THE APPLICATION</a:t>
            </a:r>
          </a:p>
        </p:txBody>
      </p:sp>
      <p:sp>
        <p:nvSpPr>
          <p:cNvPr id="3" name="TextBox 2"/>
          <p:cNvSpPr txBox="1"/>
          <p:nvPr/>
        </p:nvSpPr>
        <p:spPr>
          <a:xfrm>
            <a:off x="731520" y="1188720"/>
            <a:ext cx="10058400" cy="914400"/>
          </a:xfrm>
          <a:prstGeom prst="rect">
            <a:avLst/>
          </a:prstGeom>
          <a:noFill/>
          <a:effectLst/>
        </p:spPr>
        <p:txBody>
          <a:bodyPr wrap="square">
            <a:spAutoFit/>
          </a:bodyPr>
          <a:lstStyle/>
          <a:p>
            <a:pPr algn="l">
              <a:lnSpc>
                <a:spcPts val="5700"/>
              </a:lnSpc>
              <a:defRPr sz="3600" b="0" i="0">
                <a:solidFill>
                  <a:srgbClr val="000000"/>
                </a:solidFill>
                <a:latin typeface="Baskerville"/>
              </a:defRPr>
            </a:pPr>
            <a:r>
              <a:t>A Humanistic Project, in Smith’s Tradition</a:t>
            </a:r>
          </a:p>
        </p:txBody>
      </p:sp>
      <p:cxnSp>
        <p:nvCxnSpPr>
          <p:cNvPr id="4" name="Connector 3"/>
          <p:cNvCxnSpPr/>
          <p:nvPr/>
        </p:nvCxnSpPr>
        <p:spPr>
          <a:xfrm>
            <a:off x="731520" y="2286000"/>
            <a:ext cx="10515600" cy="0"/>
          </a:xfrm>
          <a:prstGeom prst="line">
            <a:avLst/>
          </a:prstGeom>
          <a:ln w="9525">
            <a:solidFill>
              <a:srgbClr val="000000"/>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31520" y="2651760"/>
            <a:ext cx="2743200" cy="365760"/>
          </a:xfrm>
          <a:prstGeom prst="rect">
            <a:avLst/>
          </a:prstGeom>
          <a:noFill/>
          <a:effectLst/>
        </p:spPr>
        <p:txBody>
          <a:bodyPr wrap="square">
            <a:spAutoFit/>
          </a:bodyPr>
          <a:lstStyle/>
          <a:p>
            <a:pPr algn="l">
              <a:lnSpc>
                <a:spcPts val="1900"/>
              </a:lnSpc>
              <a:defRPr sz="1200" b="1" i="0">
                <a:solidFill>
                  <a:srgbClr val="400505"/>
                </a:solidFill>
                <a:latin typeface="Fraunces"/>
              </a:defRPr>
            </a:pPr>
            <a:r>
              <a:t>The applicant</a:t>
            </a:r>
          </a:p>
        </p:txBody>
      </p:sp>
      <p:sp>
        <p:nvSpPr>
          <p:cNvPr id="6" name="TextBox 5"/>
          <p:cNvSpPr txBox="1"/>
          <p:nvPr/>
        </p:nvSpPr>
        <p:spPr>
          <a:xfrm>
            <a:off x="3657600" y="2633472"/>
            <a:ext cx="7863840" cy="914400"/>
          </a:xfrm>
          <a:prstGeom prst="rect">
            <a:avLst/>
          </a:prstGeom>
          <a:noFill/>
          <a:effectLst/>
        </p:spPr>
        <p:txBody>
          <a:bodyPr wrap="square">
            <a:spAutoFit/>
          </a:bodyPr>
          <a:lstStyle/>
          <a:p>
            <a:pPr algn="l">
              <a:lnSpc>
                <a:spcPts val="1800"/>
              </a:lnSpc>
              <a:defRPr sz="1300" b="0" i="0">
                <a:solidFill>
                  <a:srgbClr val="000000"/>
                </a:solidFill>
                <a:latin typeface="Baskerville"/>
              </a:defRPr>
            </a:pPr>
            <a:r>
              <a:t>An INLAND-commissioned documentary photographer is the named applicant; INLAND is the editorial home that researches, embeds and publishes the work.</a:t>
            </a:r>
          </a:p>
        </p:txBody>
      </p:sp>
      <p:sp>
        <p:nvSpPr>
          <p:cNvPr id="7" name="TextBox 6"/>
          <p:cNvSpPr txBox="1"/>
          <p:nvPr/>
        </p:nvSpPr>
        <p:spPr>
          <a:xfrm>
            <a:off x="731520" y="3611880"/>
            <a:ext cx="2743200" cy="365760"/>
          </a:xfrm>
          <a:prstGeom prst="rect">
            <a:avLst/>
          </a:prstGeom>
          <a:noFill/>
          <a:effectLst/>
        </p:spPr>
        <p:txBody>
          <a:bodyPr wrap="square">
            <a:spAutoFit/>
          </a:bodyPr>
          <a:lstStyle/>
          <a:p>
            <a:pPr algn="l">
              <a:lnSpc>
                <a:spcPts val="1900"/>
              </a:lnSpc>
              <a:defRPr sz="1200" b="1" i="0">
                <a:solidFill>
                  <a:srgbClr val="400505"/>
                </a:solidFill>
                <a:latin typeface="Fraunces"/>
              </a:defRPr>
            </a:pPr>
            <a:r>
              <a:t>Past work</a:t>
            </a:r>
          </a:p>
        </p:txBody>
      </p:sp>
      <p:sp>
        <p:nvSpPr>
          <p:cNvPr id="8" name="TextBox 7"/>
          <p:cNvSpPr txBox="1"/>
          <p:nvPr/>
        </p:nvSpPr>
        <p:spPr>
          <a:xfrm>
            <a:off x="3657600" y="3593592"/>
            <a:ext cx="7863840" cy="914400"/>
          </a:xfrm>
          <a:prstGeom prst="rect">
            <a:avLst/>
          </a:prstGeom>
          <a:noFill/>
          <a:effectLst/>
        </p:spPr>
        <p:txBody>
          <a:bodyPr wrap="square">
            <a:spAutoFit/>
          </a:bodyPr>
          <a:lstStyle/>
          <a:p>
            <a:pPr algn="l">
              <a:lnSpc>
                <a:spcPts val="1800"/>
              </a:lnSpc>
              <a:defRPr sz="1300" b="0" i="0">
                <a:solidFill>
                  <a:srgbClr val="000000"/>
                </a:solidFill>
                <a:latin typeface="Baskerville"/>
              </a:defRPr>
            </a:pPr>
            <a:r>
              <a:t>INLAND’s Georgia edition (Issue 02, 2024) is the prior cohesive body of work — long-form, humanistic, custodian-led — that this project carries deeper.</a:t>
            </a:r>
          </a:p>
        </p:txBody>
      </p:sp>
      <p:sp>
        <p:nvSpPr>
          <p:cNvPr id="9" name="TextBox 8"/>
          <p:cNvSpPr txBox="1"/>
          <p:nvPr/>
        </p:nvSpPr>
        <p:spPr>
          <a:xfrm>
            <a:off x="731520" y="4572000"/>
            <a:ext cx="2743200" cy="365760"/>
          </a:xfrm>
          <a:prstGeom prst="rect">
            <a:avLst/>
          </a:prstGeom>
          <a:noFill/>
          <a:effectLst/>
        </p:spPr>
        <p:txBody>
          <a:bodyPr wrap="square">
            <a:spAutoFit/>
          </a:bodyPr>
          <a:lstStyle/>
          <a:p>
            <a:pPr algn="l">
              <a:lnSpc>
                <a:spcPts val="1900"/>
              </a:lnSpc>
              <a:defRPr sz="1200" b="1" i="0">
                <a:solidFill>
                  <a:srgbClr val="400505"/>
                </a:solidFill>
                <a:latin typeface="Fraunces"/>
              </a:defRPr>
            </a:pPr>
            <a:r>
              <a:t>Proposed project</a:t>
            </a:r>
          </a:p>
        </p:txBody>
      </p:sp>
      <p:sp>
        <p:nvSpPr>
          <p:cNvPr id="10" name="TextBox 9"/>
          <p:cNvSpPr txBox="1"/>
          <p:nvPr/>
        </p:nvSpPr>
        <p:spPr>
          <a:xfrm>
            <a:off x="3657600" y="4553712"/>
            <a:ext cx="7863840" cy="914400"/>
          </a:xfrm>
          <a:prstGeom prst="rect">
            <a:avLst/>
          </a:prstGeom>
          <a:noFill/>
          <a:effectLst/>
        </p:spPr>
        <p:txBody>
          <a:bodyPr wrap="square">
            <a:spAutoFit/>
          </a:bodyPr>
          <a:lstStyle/>
          <a:p>
            <a:pPr algn="l">
              <a:lnSpc>
                <a:spcPts val="1800"/>
              </a:lnSpc>
              <a:defRPr sz="1300" b="0" i="0">
                <a:solidFill>
                  <a:srgbClr val="000000"/>
                </a:solidFill>
                <a:latin typeface="Baskerville"/>
              </a:defRPr>
            </a:pPr>
            <a:r>
              <a:t>‘The Quiet Country’: a year among Georgia’s highland custodians — shepherds, tower families, shrine-priests, the Pankisi zikr women, winemakers — up to 40 images.</a:t>
            </a:r>
          </a:p>
        </p:txBody>
      </p:sp>
      <p:sp>
        <p:nvSpPr>
          <p:cNvPr id="11" name="TextBox 10"/>
          <p:cNvSpPr txBox="1"/>
          <p:nvPr/>
        </p:nvSpPr>
        <p:spPr>
          <a:xfrm>
            <a:off x="731520" y="5532120"/>
            <a:ext cx="2743200" cy="365760"/>
          </a:xfrm>
          <a:prstGeom prst="rect">
            <a:avLst/>
          </a:prstGeom>
          <a:noFill/>
          <a:effectLst/>
        </p:spPr>
        <p:txBody>
          <a:bodyPr wrap="square">
            <a:spAutoFit/>
          </a:bodyPr>
          <a:lstStyle/>
          <a:p>
            <a:pPr algn="l">
              <a:lnSpc>
                <a:spcPts val="1900"/>
              </a:lnSpc>
              <a:defRPr sz="1200" b="1" i="0">
                <a:solidFill>
                  <a:srgbClr val="400505"/>
                </a:solidFill>
                <a:latin typeface="Fraunces"/>
              </a:defRPr>
            </a:pPr>
            <a:r>
              <a:t>Why Smith</a:t>
            </a:r>
          </a:p>
        </p:txBody>
      </p:sp>
      <p:sp>
        <p:nvSpPr>
          <p:cNvPr id="12" name="TextBox 11"/>
          <p:cNvSpPr txBox="1"/>
          <p:nvPr/>
        </p:nvSpPr>
        <p:spPr>
          <a:xfrm>
            <a:off x="3657600" y="5513832"/>
            <a:ext cx="7863840" cy="914400"/>
          </a:xfrm>
          <a:prstGeom prst="rect">
            <a:avLst/>
          </a:prstGeom>
          <a:noFill/>
          <a:effectLst/>
        </p:spPr>
        <p:txBody>
          <a:bodyPr wrap="square">
            <a:spAutoFit/>
          </a:bodyPr>
          <a:lstStyle/>
          <a:p>
            <a:pPr algn="l">
              <a:lnSpc>
                <a:spcPts val="1800"/>
              </a:lnSpc>
              <a:defRPr sz="1300" b="0" i="0">
                <a:solidFill>
                  <a:srgbClr val="000000"/>
                </a:solidFill>
                <a:latin typeface="Baskerville"/>
              </a:defRPr>
            </a:pPr>
            <a:r>
              <a:t>Concerned, compassionate documentary about the human condition; continuity over crisis, dignity over spectacle. The grant underwrites the extended field embedding.</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E0E0E"/>
        </a:solidFill>
        <a:effectLst/>
      </p:bgPr>
    </p:bg>
    <p:spTree>
      <p:nvGrpSpPr>
        <p:cNvPr id="1" name=""/>
        <p:cNvGrpSpPr/>
        <p:nvPr/>
      </p:nvGrpSpPr>
      <p:grpSpPr/>
      <p:sp>
        <p:nvSpPr>
          <p:cNvPr id="2" name="TextBox 1"/>
          <p:cNvSpPr txBox="1"/>
          <p:nvPr/>
        </p:nvSpPr>
        <p:spPr>
          <a:xfrm>
            <a:off x="914400" y="2011680"/>
            <a:ext cx="10332720" cy="1371600"/>
          </a:xfrm>
          <a:prstGeom prst="rect">
            <a:avLst/>
          </a:prstGeom>
          <a:noFill/>
          <a:effectLst/>
        </p:spPr>
        <p:txBody>
          <a:bodyPr wrap="square">
            <a:spAutoFit/>
          </a:bodyPr>
          <a:lstStyle/>
          <a:p>
            <a:pPr algn="ctr">
              <a:lnSpc>
                <a:spcPts val="8300"/>
              </a:lnSpc>
              <a:defRPr sz="5200" b="0" i="0">
                <a:solidFill>
                  <a:srgbClr val="FFFFFF"/>
                </a:solidFill>
                <a:latin typeface="Baskerville"/>
              </a:defRPr>
            </a:pPr>
            <a:r>
              <a:t>12 Storylines.</a:t>
            </a:r>
            <a:br/>
            <a:r>
              <a:t>One Quiet Country.</a:t>
            </a:r>
          </a:p>
        </p:txBody>
      </p:sp>
      <p:cxnSp>
        <p:nvCxnSpPr>
          <p:cNvPr id="3" name="Connector 2"/>
          <p:cNvCxnSpPr/>
          <p:nvPr/>
        </p:nvCxnSpPr>
        <p:spPr>
          <a:xfrm>
            <a:off x="5303520" y="3840480"/>
            <a:ext cx="1554480" cy="0"/>
          </a:xfrm>
          <a:prstGeom prst="line">
            <a:avLst/>
          </a:prstGeom>
          <a:ln w="9525">
            <a:solidFill>
              <a:srgbClr val="FFFFFF"/>
            </a:solidFill>
          </a:ln>
          <a:effectLst/>
        </p:spPr>
        <p:style>
          <a:lnRef idx="2">
            <a:schemeClr val="accent1"/>
          </a:lnRef>
          <a:fillRef idx="0">
            <a:schemeClr val="accent1"/>
          </a:fillRef>
          <a:effectRef idx="1">
            <a:schemeClr val="accent1"/>
          </a:effectRef>
          <a:fontRef idx="minor">
            <a:schemeClr val="tx1"/>
          </a:fontRef>
        </p:style>
      </p:cxnSp>
      <p:pic>
        <p:nvPicPr>
          <p:cNvPr id="4" name="Picture 3" descr="inland-logo-white.png"/>
          <p:cNvPicPr>
            <a:picLocks noChangeAspect="1"/>
          </p:cNvPicPr>
          <p:nvPr/>
        </p:nvPicPr>
        <p:blipFill>
          <a:blip r:embed="rId2"/>
          <a:stretch>
            <a:fillRect/>
          </a:stretch>
        </p:blipFill>
        <p:spPr>
          <a:xfrm>
            <a:off x="5181447" y="4572000"/>
            <a:ext cx="1828800" cy="384048"/>
          </a:xfrm>
          <a:prstGeom prst="rect">
            <a:avLst/>
          </a:prstGeom>
          <a:effectLst/>
        </p:spPr>
      </p:pic>
      <p:sp>
        <p:nvSpPr>
          <p:cNvPr id="5" name="TextBox 4"/>
          <p:cNvSpPr txBox="1"/>
          <p:nvPr/>
        </p:nvSpPr>
        <p:spPr>
          <a:xfrm>
            <a:off x="914400" y="5120640"/>
            <a:ext cx="10332720" cy="365760"/>
          </a:xfrm>
          <a:prstGeom prst="rect">
            <a:avLst/>
          </a:prstGeom>
          <a:noFill/>
          <a:effectLst/>
        </p:spPr>
        <p:txBody>
          <a:bodyPr wrap="square">
            <a:spAutoFit/>
          </a:bodyPr>
          <a:lstStyle/>
          <a:p>
            <a:pPr algn="ctr">
              <a:lnSpc>
                <a:spcPts val="2000"/>
              </a:lnSpc>
              <a:defRPr sz="1300" b="0" i="0">
                <a:solidFill>
                  <a:srgbClr val="999999"/>
                </a:solidFill>
                <a:latin typeface="Fraunces"/>
              </a:defRPr>
            </a:pPr>
            <a:r>
              <a:t>A humanistic documentary project by INLAND, in the tradition of W. Eugene Smith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