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4E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nland-logo-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5647" y="1645920"/>
            <a:ext cx="3200400" cy="672084"/>
          </a:xfrm>
          <a:prstGeom prst="rect">
            <a:avLst/>
          </a:prstGeom>
          <a:effectLst/>
        </p:spPr>
      </p:pic>
      <p:sp>
        <p:nvSpPr>
          <p:cNvPr id="3" name="TextBox 2"/>
          <p:cNvSpPr txBox="1"/>
          <p:nvPr/>
        </p:nvSpPr>
        <p:spPr>
          <a:xfrm>
            <a:off x="914400" y="2651760"/>
            <a:ext cx="10332720" cy="128016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ctr">
              <a:lnSpc>
                <a:spcPts val="11500"/>
              </a:lnSpc>
              <a:defRPr sz="7200" b="0" i="0">
                <a:solidFill>
                  <a:srgbClr val="000000"/>
                </a:solidFill>
                <a:latin typeface="Baskerville"/>
              </a:defRPr>
            </a:pPr>
            <a:r>
              <a:t>Angola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0" y="4206240"/>
            <a:ext cx="2103120" cy="0"/>
          </a:xfrm>
          <a:prstGeom prst="line">
            <a:avLst/>
          </a:prstGeom>
          <a:ln w="952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14400" y="4572000"/>
            <a:ext cx="10332720" cy="54864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ctr">
              <a:lnSpc>
                <a:spcPts val="3200"/>
              </a:lnSpc>
              <a:defRPr sz="2000" b="0" i="0">
                <a:solidFill>
                  <a:srgbClr val="5C5C5C"/>
                </a:solidFill>
                <a:latin typeface="Baskerville"/>
              </a:defRPr>
            </a:pPr>
            <a:r>
              <a:t>An Africa–Europe Cultural Co-Production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669280"/>
            <a:ext cx="10332720" cy="36576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ctr">
              <a:lnSpc>
                <a:spcPts val="1700"/>
              </a:lnSpc>
              <a:defRPr sz="1100" b="0" i="0">
                <a:solidFill>
                  <a:srgbClr val="5C5C5C"/>
                </a:solidFill>
                <a:latin typeface="Fraunces"/>
              </a:defRPr>
            </a:pPr>
            <a:r>
              <a:t>12 Selected Stories  ·  For the Goethe-Institut Africa–Europe Partnerships for Culture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3657600" cy="36576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  <a:defRPr sz="1100" b="0" i="0">
                <a:solidFill>
                  <a:srgbClr val="5C5C5C"/>
                </a:solidFill>
                <a:latin typeface="Fraunces"/>
              </a:defRPr>
            </a:pPr>
            <a:r>
              <a:t>CONTENTS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315200" cy="9144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6400"/>
              </a:lnSpc>
              <a:defRPr sz="4000" b="0" i="0">
                <a:solidFill>
                  <a:srgbClr val="000000"/>
                </a:solidFill>
                <a:latin typeface="Baskerville"/>
              </a:defRPr>
            </a:pPr>
            <a:r>
              <a:t>Overview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31520" y="2286000"/>
            <a:ext cx="10515600" cy="0"/>
          </a:xfrm>
          <a:prstGeom prst="line">
            <a:avLst/>
          </a:prstGeom>
          <a:ln w="952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31520" y="2606040"/>
            <a:ext cx="914400" cy="4572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2400" b="0" i="0">
                <a:solidFill>
                  <a:srgbClr val="400505"/>
                </a:solidFill>
                <a:latin typeface="Baskerville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633472"/>
            <a:ext cx="7315200" cy="4572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3200"/>
              </a:lnSpc>
              <a:defRPr sz="2000" b="0" i="0">
                <a:solidFill>
                  <a:srgbClr val="000000"/>
                </a:solidFill>
                <a:latin typeface="Baskerville"/>
              </a:defRPr>
            </a:pPr>
            <a:r>
              <a:t>About INLAND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31520" y="3081528"/>
            <a:ext cx="10515600" cy="0"/>
          </a:xfrm>
          <a:prstGeom prst="line">
            <a:avLst/>
          </a:prstGeom>
          <a:ln w="9525">
            <a:solidFill>
              <a:srgbClr val="D8D2C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31520" y="3172968"/>
            <a:ext cx="914400" cy="4572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2400" b="0" i="0">
                <a:solidFill>
                  <a:srgbClr val="400505"/>
                </a:solidFill>
                <a:latin typeface="Baskerville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3200400"/>
            <a:ext cx="7315200" cy="4572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3200"/>
              </a:lnSpc>
              <a:defRPr sz="2000" b="0" i="0">
                <a:solidFill>
                  <a:srgbClr val="000000"/>
                </a:solidFill>
                <a:latin typeface="Baskerville"/>
              </a:defRPr>
            </a:pPr>
            <a:r>
              <a:t>Angola — What Survived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31520" y="3648456"/>
            <a:ext cx="10515600" cy="0"/>
          </a:xfrm>
          <a:prstGeom prst="line">
            <a:avLst/>
          </a:prstGeom>
          <a:ln w="9525">
            <a:solidFill>
              <a:srgbClr val="D8D2C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31520" y="3739896"/>
            <a:ext cx="914400" cy="4572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2400" b="0" i="0">
                <a:solidFill>
                  <a:srgbClr val="400505"/>
                </a:solidFill>
                <a:latin typeface="Baskerville"/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767328"/>
            <a:ext cx="7315200" cy="4572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3200"/>
              </a:lnSpc>
              <a:defRPr sz="2000" b="0" i="0">
                <a:solidFill>
                  <a:srgbClr val="000000"/>
                </a:solidFill>
                <a:latin typeface="Baskerville"/>
              </a:defRPr>
            </a:pPr>
            <a:r>
              <a:t>Our Angle &amp; Categories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31520" y="4215383"/>
            <a:ext cx="10515600" cy="0"/>
          </a:xfrm>
          <a:prstGeom prst="line">
            <a:avLst/>
          </a:prstGeom>
          <a:ln w="9525">
            <a:solidFill>
              <a:srgbClr val="D8D2C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31520" y="4306824"/>
            <a:ext cx="914400" cy="4572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2400" b="0" i="0">
                <a:solidFill>
                  <a:srgbClr val="400505"/>
                </a:solidFill>
                <a:latin typeface="Baskerville"/>
              </a:defRPr>
            </a:pPr>
            <a: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4334256"/>
            <a:ext cx="7315200" cy="4572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3200"/>
              </a:lnSpc>
              <a:defRPr sz="2000" b="0" i="0">
                <a:solidFill>
                  <a:srgbClr val="000000"/>
                </a:solidFill>
                <a:latin typeface="Baskerville"/>
              </a:defRPr>
            </a:pPr>
            <a:r>
              <a:t>The 12 Storylines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31520" y="4782312"/>
            <a:ext cx="10515600" cy="0"/>
          </a:xfrm>
          <a:prstGeom prst="line">
            <a:avLst/>
          </a:prstGeom>
          <a:ln w="9525">
            <a:solidFill>
              <a:srgbClr val="D8D2C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31520" y="4873752"/>
            <a:ext cx="914400" cy="4572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2400" b="0" i="0">
                <a:solidFill>
                  <a:srgbClr val="400505"/>
                </a:solidFill>
                <a:latin typeface="Baskerville"/>
              </a:defRPr>
            </a:pPr>
            <a: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4901184"/>
            <a:ext cx="7315200" cy="4572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3200"/>
              </a:lnSpc>
              <a:defRPr sz="2000" b="0" i="0">
                <a:solidFill>
                  <a:srgbClr val="000000"/>
                </a:solidFill>
                <a:latin typeface="Baskerville"/>
              </a:defRPr>
            </a:pPr>
            <a:r>
              <a:t>Production Tracks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31520" y="5349240"/>
            <a:ext cx="10515600" cy="0"/>
          </a:xfrm>
          <a:prstGeom prst="line">
            <a:avLst/>
          </a:prstGeom>
          <a:ln w="9525">
            <a:solidFill>
              <a:srgbClr val="D8D2C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31520" y="5440680"/>
            <a:ext cx="914400" cy="4572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2400" b="0" i="0">
                <a:solidFill>
                  <a:srgbClr val="400505"/>
                </a:solidFill>
                <a:latin typeface="Baskerville"/>
              </a:defRPr>
            </a:pPr>
            <a: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5468112"/>
            <a:ext cx="7315200" cy="4572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3200"/>
              </a:lnSpc>
              <a:defRPr sz="2000" b="0" i="0">
                <a:solidFill>
                  <a:srgbClr val="000000"/>
                </a:solidFill>
                <a:latin typeface="Baskerville"/>
              </a:defRPr>
            </a:pPr>
            <a:r>
              <a:t>The Partnership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3657600" cy="36576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  <a:defRPr sz="1100" b="0" i="0">
                <a:solidFill>
                  <a:srgbClr val="5C5C5C"/>
                </a:solidFill>
                <a:latin typeface="Fraunces"/>
              </a:defRPr>
            </a:pPr>
            <a:r>
              <a:t>ABOUT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315200" cy="9144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6400"/>
              </a:lnSpc>
              <a:defRPr sz="4000" b="0" i="0">
                <a:solidFill>
                  <a:srgbClr val="000000"/>
                </a:solidFill>
                <a:latin typeface="Baskerville"/>
              </a:defRPr>
            </a:pPr>
            <a:r>
              <a:t>About INLAND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31520" y="2286000"/>
            <a:ext cx="10515600" cy="0"/>
          </a:xfrm>
          <a:prstGeom prst="line">
            <a:avLst/>
          </a:prstGeom>
          <a:ln w="952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31520" y="2651760"/>
            <a:ext cx="6858000" cy="18288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2700"/>
              </a:lnSpc>
              <a:defRPr sz="1700" b="0" i="0">
                <a:solidFill>
                  <a:srgbClr val="000000"/>
                </a:solidFill>
                <a:latin typeface="Baskerville"/>
              </a:defRPr>
            </a:pPr>
            <a:r>
              <a:t>INLAND is a yearly publication documenting the soul of countries before they change. Each issue embeds with named, locatable custodians of living traditions — artisans, pastoralists, cooks, singers, border families — whose stories have not yet been narrated internationally. Previous issues have covered the Faroe Islands, Georgia and Italy’s minor islands.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846320"/>
            <a:ext cx="6858000" cy="13716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  <a:defRPr sz="1400" b="0" i="0">
                <a:solidFill>
                  <a:srgbClr val="5C5C5C"/>
                </a:solidFill>
                <a:latin typeface="Baskerville"/>
              </a:defRPr>
            </a:pPr>
            <a:r>
              <a:t>The editorial method is slow, place-based and built on trust. We spend months in pre-production research, identify specific custodians and communities, then commission photographers, writers and filmmakers to embed with them over extended field periods. The result is long-form visual storytelling grounded in named people and real places.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2651760"/>
            <a:ext cx="2926080" cy="13716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2400" b="0" i="1">
                <a:solidFill>
                  <a:srgbClr val="400505"/>
                </a:solidFill>
                <a:latin typeface="Baskerville"/>
              </a:defRPr>
            </a:pPr>
            <a:r>
              <a:t>Intimacy with</a:t>
            </a:r>
            <a:br/>
            <a:r>
              <a:t>custodians, not</a:t>
            </a:r>
            <a:br/>
            <a:r>
              <a:t>thematic surveys.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3657600" cy="36576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  <a:defRPr sz="1100" b="0" i="0">
                <a:solidFill>
                  <a:srgbClr val="5C5C5C"/>
                </a:solidFill>
                <a:latin typeface="Fraunces"/>
              </a:defRPr>
            </a:pPr>
            <a:r>
              <a:t>THE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315200" cy="9144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6400"/>
              </a:lnSpc>
              <a:defRPr sz="4000" b="0" i="0">
                <a:solidFill>
                  <a:srgbClr val="000000"/>
                </a:solidFill>
                <a:latin typeface="Baskerville"/>
              </a:defRPr>
            </a:pPr>
            <a:r>
              <a:t>Angola — What Survived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31520" y="2286000"/>
            <a:ext cx="10515600" cy="0"/>
          </a:xfrm>
          <a:prstGeom prst="line">
            <a:avLst/>
          </a:prstGeom>
          <a:ln w="952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31520" y="2651760"/>
            <a:ext cx="6858000" cy="18288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2500"/>
              </a:lnSpc>
              <a:defRPr sz="1600" b="0" i="0">
                <a:solidFill>
                  <a:srgbClr val="000000"/>
                </a:solidFill>
                <a:latin typeface="Baskerville"/>
              </a:defRPr>
            </a:pPr>
            <a:r>
              <a:t>Angola is internationally legible through two stories — the 1975–2002 civil war and the oil-and-diamond economy that made Luanda one of the world’s most expensive cities. Both are loud; both crowd out the quieter country. INLAND asks one question across every lead: what survived? What persists in specific families, villages and practices that has been absorbed by neither the colonial inheritance, the Catholic mission, the long war, nor the petro-modernisation of the coast — and can still be witnessed and photographed today.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212080"/>
            <a:ext cx="6858000" cy="13716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  <a:defRPr sz="1300" b="0" i="0">
                <a:solidFill>
                  <a:srgbClr val="5C5C5C"/>
                </a:solidFill>
                <a:latin typeface="Baskerville"/>
              </a:defRPr>
            </a:pPr>
            <a:r>
              <a:t>Our desk research identified 17 story leads spanning art, ritual, governance, food, pastoral life and memory. From these, twelve storylines have been selected for editorial development — each centred on a practice that can still be witnessed, a specific place, and a named custodian or custodian community.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0" y="2468880"/>
            <a:ext cx="2743200" cy="109728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12800"/>
              </a:lnSpc>
              <a:defRPr sz="8000" b="0" i="0">
                <a:solidFill>
                  <a:srgbClr val="400505"/>
                </a:solidFill>
                <a:latin typeface="Baskerville"/>
              </a:defRPr>
            </a:pPr>
            <a: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0" y="3474720"/>
            <a:ext cx="2743200" cy="36576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  <a:defRPr sz="1100" b="0" i="0">
                <a:solidFill>
                  <a:srgbClr val="5C5C5C"/>
                </a:solidFill>
                <a:latin typeface="Fraunces"/>
              </a:defRPr>
            </a:pPr>
            <a:r>
              <a:t>story leads researched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0" y="4114800"/>
            <a:ext cx="2743200" cy="109728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12800"/>
              </a:lnSpc>
              <a:defRPr sz="8000" b="0" i="0">
                <a:solidFill>
                  <a:srgbClr val="400505"/>
                </a:solidFill>
                <a:latin typeface="Baskerville"/>
              </a:defRPr>
            </a:pPr>
            <a:r>
              <a:t>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5120640"/>
            <a:ext cx="2743200" cy="36576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  <a:defRPr sz="1100" b="0" i="0">
                <a:solidFill>
                  <a:srgbClr val="5C5C5C"/>
                </a:solidFill>
                <a:latin typeface="Fraunces"/>
              </a:defRPr>
            </a:pPr>
            <a:r>
              <a:t>selected for this round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3657600" cy="36576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  <a:defRPr sz="1100" b="0" i="0">
                <a:solidFill>
                  <a:srgbClr val="5C5C5C"/>
                </a:solidFill>
                <a:latin typeface="Fraunces"/>
              </a:defRPr>
            </a:pPr>
            <a:r>
              <a:t>EDITORIAL ANGLE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315200" cy="9144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6400"/>
              </a:lnSpc>
              <a:defRPr sz="4000" b="0" i="0">
                <a:solidFill>
                  <a:srgbClr val="000000"/>
                </a:solidFill>
                <a:latin typeface="Baskerville"/>
              </a:defRPr>
            </a:pPr>
            <a:r>
              <a:t>Our Angle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31520" y="2286000"/>
            <a:ext cx="10515600" cy="0"/>
          </a:xfrm>
          <a:prstGeom prst="line">
            <a:avLst/>
          </a:prstGeom>
          <a:ln w="952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31520" y="2651760"/>
            <a:ext cx="6858000" cy="201168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2500"/>
              </a:lnSpc>
              <a:defRPr sz="1600" b="0" i="0">
                <a:solidFill>
                  <a:srgbClr val="000000"/>
                </a:solidFill>
                <a:latin typeface="Baskerville"/>
              </a:defRPr>
            </a:pPr>
            <a:r>
              <a:t>We focus on endangered knowledge systems and under-documented living practices surviving despite rupture, standardisation and generational drift — from the UNESCO-listed but fragile sona sand-writing of the Lunda-Chokwe to the Kianda sea-offerings of Luanda’s original fishing people. The civil war is context, never the lens; the state is never cast as villain. Every storyline centres a custodian, a place, and a practice that can still be witnessed.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120640"/>
            <a:ext cx="6858000" cy="13716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  <a:defRPr sz="1300" b="0" i="0">
                <a:solidFill>
                  <a:srgbClr val="5C5C5C"/>
                </a:solidFill>
                <a:latin typeface="Baskerville"/>
              </a:defRPr>
            </a:pPr>
            <a:r>
              <a:t>This is the equitable, co-created Africa–Europe cultural work the Goethe programme exists to fund: an Angolan cultural partner and a European publication building a long-form visual record of living Angolan traditions — made with custodians, not about them, and presented in both Angola and Europe.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0" y="2468880"/>
            <a:ext cx="3200400" cy="36576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  <a:defRPr sz="1100" b="0" i="0">
                <a:solidFill>
                  <a:srgbClr val="5C5C5C"/>
                </a:solidFill>
                <a:latin typeface="Fraunces"/>
              </a:defRPr>
            </a:pPr>
            <a:r>
              <a:t>CATEGORIES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869680" y="2880360"/>
            <a:ext cx="2651760" cy="0"/>
          </a:xfrm>
          <a:prstGeom prst="line">
            <a:avLst/>
          </a:prstGeom>
          <a:ln w="952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869680" y="3063240"/>
            <a:ext cx="2286000" cy="36576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defRPr sz="1500" b="0" i="0">
                <a:solidFill>
                  <a:srgbClr val="000000"/>
                </a:solidFill>
                <a:latin typeface="Baskerville"/>
              </a:defRPr>
            </a:pPr>
            <a:r>
              <a:t>Arts &amp; Culture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3063240"/>
            <a:ext cx="914400" cy="36576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r">
              <a:lnSpc>
                <a:spcPts val="2400"/>
              </a:lnSpc>
              <a:defRPr sz="1500" b="1" i="0">
                <a:solidFill>
                  <a:srgbClr val="400505"/>
                </a:solidFill>
                <a:latin typeface="Baskerville"/>
              </a:defRPr>
            </a:pPr>
            <a:r>
              <a:t>3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869680" y="3447288"/>
            <a:ext cx="2651760" cy="0"/>
          </a:xfrm>
          <a:prstGeom prst="line">
            <a:avLst/>
          </a:prstGeom>
          <a:ln w="9525">
            <a:solidFill>
              <a:srgbClr val="D8D2C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869680" y="3520440"/>
            <a:ext cx="2286000" cy="36576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defRPr sz="1500" b="0" i="0">
                <a:solidFill>
                  <a:srgbClr val="000000"/>
                </a:solidFill>
                <a:latin typeface="Baskerville"/>
              </a:defRPr>
            </a:pPr>
            <a:r>
              <a:t>History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3520440"/>
            <a:ext cx="914400" cy="36576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r">
              <a:lnSpc>
                <a:spcPts val="2400"/>
              </a:lnSpc>
              <a:defRPr sz="1500" b="1" i="0">
                <a:solidFill>
                  <a:srgbClr val="400505"/>
                </a:solidFill>
                <a:latin typeface="Baskerville"/>
              </a:defRPr>
            </a:pPr>
            <a:r>
              <a:t>3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869680" y="3904488"/>
            <a:ext cx="2651760" cy="0"/>
          </a:xfrm>
          <a:prstGeom prst="line">
            <a:avLst/>
          </a:prstGeom>
          <a:ln w="9525">
            <a:solidFill>
              <a:srgbClr val="D8D2C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869680" y="3977639"/>
            <a:ext cx="2286000" cy="36576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defRPr sz="1500" b="0" i="0">
                <a:solidFill>
                  <a:srgbClr val="000000"/>
                </a:solidFill>
                <a:latin typeface="Baskerville"/>
              </a:defRPr>
            </a:pPr>
            <a:r>
              <a:t>Food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3977639"/>
            <a:ext cx="914400" cy="36576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r">
              <a:lnSpc>
                <a:spcPts val="2400"/>
              </a:lnSpc>
              <a:defRPr sz="1500" b="1" i="0">
                <a:solidFill>
                  <a:srgbClr val="400505"/>
                </a:solidFill>
                <a:latin typeface="Baskerville"/>
              </a:defRPr>
            </a:pPr>
            <a:r>
              <a:t>2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869680" y="4361688"/>
            <a:ext cx="2651760" cy="0"/>
          </a:xfrm>
          <a:prstGeom prst="line">
            <a:avLst/>
          </a:prstGeom>
          <a:ln w="9525">
            <a:solidFill>
              <a:srgbClr val="D8D2C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869680" y="4434840"/>
            <a:ext cx="2286000" cy="36576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defRPr sz="1500" b="0" i="0">
                <a:solidFill>
                  <a:srgbClr val="000000"/>
                </a:solidFill>
                <a:latin typeface="Baskerville"/>
              </a:defRPr>
            </a:pPr>
            <a:r>
              <a:t>Myth &amp; Religion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4434840"/>
            <a:ext cx="914400" cy="36576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r">
              <a:lnSpc>
                <a:spcPts val="2400"/>
              </a:lnSpc>
              <a:defRPr sz="1500" b="1" i="0">
                <a:solidFill>
                  <a:srgbClr val="400505"/>
                </a:solidFill>
                <a:latin typeface="Baskerville"/>
              </a:defRPr>
            </a:pPr>
            <a:r>
              <a:t>2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869680" y="4818888"/>
            <a:ext cx="2651760" cy="0"/>
          </a:xfrm>
          <a:prstGeom prst="line">
            <a:avLst/>
          </a:prstGeom>
          <a:ln w="9525">
            <a:solidFill>
              <a:srgbClr val="D8D2C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869680" y="4892040"/>
            <a:ext cx="2286000" cy="36576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defRPr sz="1500" b="0" i="0">
                <a:solidFill>
                  <a:srgbClr val="000000"/>
                </a:solidFill>
                <a:latin typeface="Baskerville"/>
              </a:defRPr>
            </a:pPr>
            <a:r>
              <a:t>Nature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4892040"/>
            <a:ext cx="914400" cy="36576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r">
              <a:lnSpc>
                <a:spcPts val="2400"/>
              </a:lnSpc>
              <a:defRPr sz="1500" b="1" i="0">
                <a:solidFill>
                  <a:srgbClr val="400505"/>
                </a:solidFill>
                <a:latin typeface="Baskerville"/>
              </a:defRPr>
            </a:pPr>
            <a:r>
              <a:t>1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869680" y="5276088"/>
            <a:ext cx="2651760" cy="0"/>
          </a:xfrm>
          <a:prstGeom prst="line">
            <a:avLst/>
          </a:prstGeom>
          <a:ln w="9525">
            <a:solidFill>
              <a:srgbClr val="D8D2C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869680" y="5349240"/>
            <a:ext cx="2286000" cy="36576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defRPr sz="1500" b="0" i="0">
                <a:solidFill>
                  <a:srgbClr val="000000"/>
                </a:solidFill>
                <a:latin typeface="Baskerville"/>
              </a:defRPr>
            </a:pPr>
            <a:r>
              <a:t>Geopolitics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64240" y="5349240"/>
            <a:ext cx="914400" cy="36576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r">
              <a:lnSpc>
                <a:spcPts val="2400"/>
              </a:lnSpc>
              <a:defRPr sz="1500" b="1" i="0">
                <a:solidFill>
                  <a:srgbClr val="400505"/>
                </a:solidFill>
                <a:latin typeface="Baskerville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36576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ctr">
              <a:lnSpc>
                <a:spcPts val="1700"/>
              </a:lnSpc>
              <a:defRPr sz="1100" b="0" i="0">
                <a:solidFill>
                  <a:srgbClr val="999999"/>
                </a:solidFill>
                <a:latin typeface="Fraunces"/>
              </a:defRPr>
            </a:pPr>
            <a:r>
              <a:t>PART TWO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332720" cy="109728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ctr">
              <a:lnSpc>
                <a:spcPts val="8300"/>
              </a:lnSpc>
              <a:defRPr sz="5200" b="0" i="0">
                <a:solidFill>
                  <a:srgbClr val="FFFFFF"/>
                </a:solidFill>
                <a:latin typeface="Baskerville"/>
              </a:defRPr>
            </a:pPr>
            <a:r>
              <a:t>The Storylines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303520" y="3840480"/>
            <a:ext cx="1554480" cy="0"/>
          </a:xfrm>
          <a:prstGeom prst="line">
            <a:avLst/>
          </a:prstGeom>
          <a:ln w="952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286000" y="4206240"/>
            <a:ext cx="7589520" cy="109728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ctr">
              <a:lnSpc>
                <a:spcPts val="2800"/>
              </a:lnSpc>
              <a:defRPr sz="1800" b="0" i="0">
                <a:solidFill>
                  <a:srgbClr val="999999"/>
                </a:solidFill>
                <a:latin typeface="Baskerville"/>
              </a:defRPr>
            </a:pPr>
            <a:r>
              <a:t>Twelve selected stories across art, ritual, governance, food, pastoral life and memory. Each centres a custodian, a specific place, and a practice that can still be witnessed.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0" y="365760"/>
            <a:ext cx="1828800" cy="9144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r">
              <a:lnSpc>
                <a:spcPts val="10200"/>
              </a:lnSpc>
              <a:defRPr sz="6400" b="0" i="0">
                <a:solidFill>
                  <a:srgbClr val="400505"/>
                </a:solidFill>
                <a:latin typeface="Baskerville"/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4572000" cy="36576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  <a:defRPr sz="1100" b="0" i="0">
                <a:solidFill>
                  <a:srgbClr val="5C5C5C"/>
                </a:solidFill>
                <a:latin typeface="Fraunces"/>
              </a:defRPr>
            </a:pPr>
            <a:r>
              <a:t>ARTS &amp; CULTURE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9144000" cy="109728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6000"/>
              </a:lnSpc>
              <a:defRPr sz="3800" b="0" i="0">
                <a:solidFill>
                  <a:srgbClr val="000000"/>
                </a:solidFill>
                <a:latin typeface="Baskerville"/>
              </a:defRPr>
            </a:pPr>
            <a:r>
              <a:t>The Men Who Write in Sand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9144000" cy="73152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2400" b="0" i="1">
                <a:solidFill>
                  <a:srgbClr val="5C5C5C"/>
                </a:solidFill>
                <a:latin typeface="Baskerville"/>
              </a:defRPr>
            </a:pPr>
            <a:r>
              <a:t>Sona, the Lunda-Chokwe Script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3383280"/>
            <a:ext cx="10515600" cy="0"/>
          </a:xfrm>
          <a:prstGeom prst="line">
            <a:avLst/>
          </a:prstGeom>
          <a:ln w="952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3566160"/>
            <a:ext cx="1828800" cy="2286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800" b="0" i="0">
                <a:solidFill>
                  <a:srgbClr val="707070"/>
                </a:solidFill>
                <a:latin typeface="Fraunces"/>
              </a:defRPr>
            </a:pPr>
            <a:r>
              <a:t>THE STORY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794760"/>
            <a:ext cx="5303520" cy="164592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  <a:defRPr sz="1400" b="0" i="0">
                <a:solidFill>
                  <a:srgbClr val="000000"/>
                </a:solidFill>
                <a:latin typeface="Baskerville"/>
              </a:defRPr>
            </a:pPr>
            <a:r>
              <a:t>In the cleaned, dotted sand of the Lunda, elder masters called akwa kuta sona draw a single unbroken geometric line that holds a proverb or a cosmology — a tradition perhaps over two thousand years old. UNESCO inscribed it as Intangible Cultural Heritage in December 2023.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0" y="3566160"/>
            <a:ext cx="0" cy="2194560"/>
          </a:xfrm>
          <a:prstGeom prst="line">
            <a:avLst/>
          </a:prstGeom>
          <a:ln w="25400">
            <a:solidFill>
              <a:srgbClr val="D8D2C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766560" y="3566160"/>
            <a:ext cx="1828800" cy="2286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800" b="0" i="0">
                <a:solidFill>
                  <a:srgbClr val="707070"/>
                </a:solidFill>
                <a:latin typeface="Fraunces"/>
              </a:defRPr>
            </a:pPr>
            <a:r>
              <a:t>OUR PROPOSAL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3794760"/>
            <a:ext cx="4754880" cy="164592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  <a:defRPr sz="1400" b="0" i="0">
                <a:solidFill>
                  <a:srgbClr val="000000"/>
                </a:solidFill>
                <a:latin typeface="Baskerville"/>
              </a:defRPr>
            </a:pPr>
            <a:r>
              <a:t>INLAND follows one master through a night of storytelling around Saurimo and Dundo, with access via Lueji A’Nkonde University — documenting a writing-in-sand recognised at the very moment it is most fragile. The defining image of the edition.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989320"/>
            <a:ext cx="6583680" cy="32004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000" b="0" i="0">
                <a:solidFill>
                  <a:srgbClr val="5C5C5C"/>
                </a:solidFill>
                <a:latin typeface="Fraunces"/>
              </a:defRPr>
            </a:pPr>
            <a:r>
              <a:t>Places: Saurimo · Dundo · Lunda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327648"/>
            <a:ext cx="6583680" cy="27432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900" b="0" i="0">
                <a:solidFill>
                  <a:srgbClr val="857F76"/>
                </a:solidFill>
                <a:latin typeface="Fraunces"/>
              </a:defRPr>
            </a:pPr>
            <a:r>
              <a:t>Sources: UNESCO ICH 2023; Lusona (Wikipedia); FLM Journal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62488" y="6263640"/>
            <a:ext cx="667512" cy="274320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5C5C5C"/>
                </a:solidFill>
                <a:latin typeface="Fraunces"/>
              </a:defRPr>
            </a:pPr>
            <a:r>
              <a:t>UNESCO</a:t>
            </a:r>
          </a:p>
        </p:txBody>
        <a:spPr>
          <a:prstGeom prst="roundRect">
            <a:avLst/>
          </a:prstGeom>
          <a:ln w="6350">
            <a:solidFill>
              <a:srgbClr val="B0A89E"/>
            </a:solidFill>
            <a:prstDash val="solid"/>
          </a:ln>
        </a:spPr>
      </p:sp>
      <p:sp>
        <p:nvSpPr>
          <p:cNvPr id="15" name="TextBox 14"/>
          <p:cNvSpPr txBox="1"/>
          <p:nvPr/>
        </p:nvSpPr>
        <p:spPr>
          <a:xfrm>
            <a:off x="8997696" y="6263640"/>
            <a:ext cx="1627632" cy="274320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5C5C5C"/>
                </a:solidFill>
                <a:latin typeface="Fraunces"/>
              </a:defRPr>
            </a:pPr>
            <a:r>
              <a:t>ENDANGERED KNOWLEDGE</a:t>
            </a:r>
          </a:p>
        </p:txBody>
        <a:spPr>
          <a:prstGeom prst="roundRect">
            <a:avLst/>
          </a:prstGeom>
          <a:ln w="6350">
            <a:solidFill>
              <a:srgbClr val="B0A89E"/>
            </a:solidFill>
            <a:prstDash val="solid"/>
          </a:ln>
        </a:spPr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0" y="365760"/>
            <a:ext cx="1828800" cy="9144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r">
              <a:lnSpc>
                <a:spcPts val="10200"/>
              </a:lnSpc>
              <a:defRPr sz="6400" b="0" i="0">
                <a:solidFill>
                  <a:srgbClr val="400505"/>
                </a:solidFill>
                <a:latin typeface="Baskerville"/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4572000" cy="36576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  <a:defRPr sz="1100" b="0" i="0">
                <a:solidFill>
                  <a:srgbClr val="5C5C5C"/>
                </a:solidFill>
                <a:latin typeface="Fraunces"/>
              </a:defRPr>
            </a:pPr>
            <a:r>
              <a:t>HISTORY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9144000" cy="109728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6000"/>
              </a:lnSpc>
              <a:defRPr sz="3800" b="0" i="0">
                <a:solidFill>
                  <a:srgbClr val="000000"/>
                </a:solidFill>
                <a:latin typeface="Baskerville"/>
              </a:defRPr>
            </a:pPr>
            <a:r>
              <a:t>The Fire That Stays Lit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9144000" cy="73152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2400" b="0" i="1">
                <a:solidFill>
                  <a:srgbClr val="5C5C5C"/>
                </a:solidFill>
                <a:latin typeface="Baskerville"/>
              </a:defRPr>
            </a:pPr>
            <a:r>
              <a:t>The Ovimbundu Ondjango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3383280"/>
            <a:ext cx="10515600" cy="0"/>
          </a:xfrm>
          <a:prstGeom prst="line">
            <a:avLst/>
          </a:prstGeom>
          <a:ln w="952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3566160"/>
            <a:ext cx="1828800" cy="2286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800" b="0" i="0">
                <a:solidFill>
                  <a:srgbClr val="707070"/>
                </a:solidFill>
                <a:latin typeface="Fraunces"/>
              </a:defRPr>
            </a:pPr>
            <a:r>
              <a:t>THE STORY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794760"/>
            <a:ext cx="5303520" cy="164592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  <a:defRPr sz="1400" b="0" i="0">
                <a:solidFill>
                  <a:srgbClr val="000000"/>
                </a:solidFill>
                <a:latin typeface="Baskerville"/>
              </a:defRPr>
            </a:pPr>
            <a:r>
              <a:t>The ondjango council house is built around a fire kept permanently alight — a sign of the soba’s lineage and continuity. Bailundo (Huambo) is the centre of Angola’s largest people; King Ekuikui VI, enthroned by the ombala elders in 2021, is a living authority.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0" y="3566160"/>
            <a:ext cx="0" cy="2194560"/>
          </a:xfrm>
          <a:prstGeom prst="line">
            <a:avLst/>
          </a:prstGeom>
          <a:ln w="25400">
            <a:solidFill>
              <a:srgbClr val="D8D2C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766560" y="3566160"/>
            <a:ext cx="1828800" cy="2286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800" b="0" i="0">
                <a:solidFill>
                  <a:srgbClr val="707070"/>
                </a:solidFill>
                <a:latin typeface="Fraunces"/>
              </a:defRPr>
            </a:pPr>
            <a:r>
              <a:t>OUR PROPOSAL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3794760"/>
            <a:ext cx="4754880" cy="164592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  <a:defRPr sz="1400" b="0" i="0">
                <a:solidFill>
                  <a:srgbClr val="000000"/>
                </a:solidFill>
                <a:latin typeface="Baskerville"/>
              </a:defRPr>
            </a:pPr>
            <a:r>
              <a:t>INLAND sits in on a council night and traces the wood the young bring to feed the fire — a living institution of speech and consensus, not a museum piece. The hearth is the edition’s emblem.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989320"/>
            <a:ext cx="6583680" cy="32004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000" b="0" i="0">
                <a:solidFill>
                  <a:srgbClr val="5C5C5C"/>
                </a:solidFill>
                <a:latin typeface="Fraunces"/>
              </a:defRPr>
            </a:pPr>
            <a:r>
              <a:t>Places: Bailundo · Huambo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327648"/>
            <a:ext cx="6583680" cy="27432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900" b="0" i="0">
                <a:solidFill>
                  <a:srgbClr val="857F76"/>
                </a:solidFill>
                <a:latin typeface="Fraunces"/>
              </a:defRPr>
            </a:pPr>
            <a:r>
              <a:t>Sources: Bailundo (Wikipedia); UNILAB; Africanews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88168" y="6263640"/>
            <a:ext cx="941832" cy="274320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5C5C5C"/>
                </a:solidFill>
                <a:latin typeface="Fraunces"/>
              </a:defRPr>
            </a:pPr>
            <a:r>
              <a:t>CONTINUITY</a:t>
            </a:r>
          </a:p>
        </p:txBody>
        <a:spPr>
          <a:prstGeom prst="roundRect">
            <a:avLst/>
          </a:prstGeom>
          <a:ln w="6350">
            <a:solidFill>
              <a:srgbClr val="B0A89E"/>
            </a:solidFill>
            <a:prstDash val="solid"/>
          </a:ln>
        </a:spPr>
      </p:sp>
      <p:sp>
        <p:nvSpPr>
          <p:cNvPr id="15" name="TextBox 14"/>
          <p:cNvSpPr txBox="1"/>
          <p:nvPr/>
        </p:nvSpPr>
        <p:spPr>
          <a:xfrm>
            <a:off x="9409176" y="6263640"/>
            <a:ext cx="941832" cy="274320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5C5C5C"/>
                </a:solidFill>
                <a:latin typeface="Fraunces"/>
              </a:defRPr>
            </a:pPr>
            <a:r>
              <a:t>GOVERNANCE</a:t>
            </a:r>
          </a:p>
        </p:txBody>
        <a:spPr>
          <a:prstGeom prst="roundRect">
            <a:avLst/>
          </a:prstGeom>
          <a:ln w="6350">
            <a:solidFill>
              <a:srgbClr val="B0A89E"/>
            </a:solidFill>
            <a:prstDash val="solid"/>
          </a:ln>
        </a:spPr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0" y="365760"/>
            <a:ext cx="1828800" cy="9144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r">
              <a:lnSpc>
                <a:spcPts val="10200"/>
              </a:lnSpc>
              <a:defRPr sz="6400" b="0" i="0">
                <a:solidFill>
                  <a:srgbClr val="400505"/>
                </a:solidFill>
                <a:latin typeface="Baskerville"/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4572000" cy="36576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  <a:defRPr sz="1100" b="0" i="0">
                <a:solidFill>
                  <a:srgbClr val="5C5C5C"/>
                </a:solidFill>
                <a:latin typeface="Fraunces"/>
              </a:defRPr>
            </a:pPr>
            <a:r>
              <a:t>NATURE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9144000" cy="109728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6000"/>
              </a:lnSpc>
              <a:defRPr sz="3800" b="0" i="0">
                <a:solidFill>
                  <a:srgbClr val="000000"/>
                </a:solidFill>
                <a:latin typeface="Baskerville"/>
              </a:defRPr>
            </a:pPr>
            <a:r>
              <a:t>Hair, Herd and Drought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9144000" cy="73152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2400" b="0" i="1">
                <a:solidFill>
                  <a:srgbClr val="5C5C5C"/>
                </a:solidFill>
                <a:latin typeface="Baskerville"/>
              </a:defRPr>
            </a:pPr>
            <a:r>
              <a:t>The Mwila and the Mucubal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3383280"/>
            <a:ext cx="10515600" cy="0"/>
          </a:xfrm>
          <a:prstGeom prst="line">
            <a:avLst/>
          </a:prstGeom>
          <a:ln w="952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3566160"/>
            <a:ext cx="1828800" cy="2286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800" b="0" i="0">
                <a:solidFill>
                  <a:srgbClr val="707070"/>
                </a:solidFill>
                <a:latin typeface="Fraunces"/>
              </a:defRPr>
            </a:pPr>
            <a:r>
              <a:t>THE STORY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794760"/>
            <a:ext cx="5303520" cy="164592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  <a:defRPr sz="1400" b="0" i="0">
                <a:solidFill>
                  <a:srgbClr val="000000"/>
                </a:solidFill>
                <a:latin typeface="Baskerville"/>
              </a:defRPr>
            </a:pPr>
            <a:r>
              <a:t>On the Huíla plateau and in Namibe, the Mwila wear ochre nontombi plaits and the Mucubal the ompota headdress — hairstyles that read as a language of life-stage and mourning. The cattle economy is the base of identity, and its herd-healing knowledge is endangered.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0" y="3566160"/>
            <a:ext cx="0" cy="2194560"/>
          </a:xfrm>
          <a:prstGeom prst="line">
            <a:avLst/>
          </a:prstGeom>
          <a:ln w="25400">
            <a:solidFill>
              <a:srgbClr val="D8D2C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766560" y="3566160"/>
            <a:ext cx="1828800" cy="2286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800" b="0" i="0">
                <a:solidFill>
                  <a:srgbClr val="707070"/>
                </a:solidFill>
                <a:latin typeface="Fraunces"/>
              </a:defRPr>
            </a:pPr>
            <a:r>
              <a:t>OUR PROPOSAL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3794760"/>
            <a:ext cx="4754880" cy="164592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  <a:defRPr sz="1400" b="0" i="0">
                <a:solidFill>
                  <a:srgbClr val="000000"/>
                </a:solidFill>
                <a:latin typeface="Baskerville"/>
              </a:defRPr>
            </a:pPr>
            <a:r>
              <a:t>INLAND walks a leg of the dry-season transhumance and documents a hairstyle being made and read — a culture worn on the body and carried in the herd, under climate pressure. Custodian-led, never the tourist ‘tribal portrait’.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989320"/>
            <a:ext cx="6583680" cy="32004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000" b="0" i="0">
                <a:solidFill>
                  <a:srgbClr val="5C5C5C"/>
                </a:solidFill>
                <a:latin typeface="Fraunces"/>
              </a:defRPr>
            </a:pPr>
            <a:r>
              <a:t>Places: Huíla plateau · Namibe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327648"/>
            <a:ext cx="6583680" cy="27432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900" b="0" i="0">
                <a:solidFill>
                  <a:srgbClr val="857F76"/>
                </a:solidFill>
                <a:latin typeface="Fraunces"/>
              </a:defRPr>
            </a:pPr>
            <a:r>
              <a:t>Sources: Minority Rights Group; PMC ethnoveterinary study 2024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3908" y="6263640"/>
            <a:ext cx="736092" cy="274320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5C5C5C"/>
                </a:solidFill>
                <a:latin typeface="Fraunces"/>
              </a:defRPr>
            </a:pPr>
            <a:r>
              <a:t>CLIMATE</a:t>
            </a:r>
          </a:p>
        </p:txBody>
        <a:spPr>
          <a:prstGeom prst="roundRect">
            <a:avLst/>
          </a:prstGeom>
          <a:ln w="6350">
            <a:solidFill>
              <a:srgbClr val="B0A89E"/>
            </a:solidFill>
            <a:prstDash val="solid"/>
          </a:ln>
        </a:spPr>
      </p:sp>
      <p:sp>
        <p:nvSpPr>
          <p:cNvPr id="15" name="TextBox 14"/>
          <p:cNvSpPr txBox="1"/>
          <p:nvPr/>
        </p:nvSpPr>
        <p:spPr>
          <a:xfrm>
            <a:off x="9546336" y="6263640"/>
            <a:ext cx="1010412" cy="274320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5C5C5C"/>
                </a:solidFill>
                <a:latin typeface="Fraunces"/>
              </a:defRPr>
            </a:pPr>
            <a:r>
              <a:t>PASTORALISM</a:t>
            </a:r>
          </a:p>
        </p:txBody>
        <a:spPr>
          <a:prstGeom prst="roundRect">
            <a:avLst/>
          </a:prstGeom>
          <a:ln w="6350">
            <a:solidFill>
              <a:srgbClr val="B0A89E"/>
            </a:solidFill>
            <a:prstDash val="solid"/>
          </a:ln>
        </a:spPr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0" y="365760"/>
            <a:ext cx="1828800" cy="9144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r">
              <a:lnSpc>
                <a:spcPts val="10200"/>
              </a:lnSpc>
              <a:defRPr sz="6400" b="0" i="0">
                <a:solidFill>
                  <a:srgbClr val="400505"/>
                </a:solidFill>
                <a:latin typeface="Baskerville"/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4572000" cy="36576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  <a:defRPr sz="1100" b="0" i="0">
                <a:solidFill>
                  <a:srgbClr val="5C5C5C"/>
                </a:solidFill>
                <a:latin typeface="Fraunces"/>
              </a:defRPr>
            </a:pPr>
            <a:r>
              <a:t>MYTH &amp; RELIGION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9144000" cy="109728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6000"/>
              </a:lnSpc>
              <a:defRPr sz="3800" b="0" i="0">
                <a:solidFill>
                  <a:srgbClr val="000000"/>
                </a:solidFill>
                <a:latin typeface="Baskerville"/>
              </a:defRPr>
            </a:pPr>
            <a:r>
              <a:t>Offerings to Kianda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9144000" cy="73152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2400" b="0" i="1">
                <a:solidFill>
                  <a:srgbClr val="5C5C5C"/>
                </a:solidFill>
                <a:latin typeface="Baskerville"/>
              </a:defRPr>
            </a:pPr>
            <a:r>
              <a:t>The Festa da Ilha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3383280"/>
            <a:ext cx="10515600" cy="0"/>
          </a:xfrm>
          <a:prstGeom prst="line">
            <a:avLst/>
          </a:prstGeom>
          <a:ln w="952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3566160"/>
            <a:ext cx="1828800" cy="2286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800" b="0" i="0">
                <a:solidFill>
                  <a:srgbClr val="707070"/>
                </a:solidFill>
                <a:latin typeface="Fraunces"/>
              </a:defRPr>
            </a:pPr>
            <a:r>
              <a:t>THE STORY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794760"/>
            <a:ext cx="5303520" cy="164592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  <a:defRPr sz="1400" b="0" i="0">
                <a:solidFill>
                  <a:srgbClr val="000000"/>
                </a:solidFill>
                <a:latin typeface="Baskerville"/>
              </a:defRPr>
            </a:pPr>
            <a:r>
              <a:t>Every second Friday of November the Axiluanda — Luanda’s original fishing people, whose name is the city’s own — cast offerings into the sea to Kianda, the water spirit who protects fishermen, as a luxury waterfront pushes them off their own sandbar.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0" y="3566160"/>
            <a:ext cx="0" cy="2194560"/>
          </a:xfrm>
          <a:prstGeom prst="line">
            <a:avLst/>
          </a:prstGeom>
          <a:ln w="25400">
            <a:solidFill>
              <a:srgbClr val="D8D2C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766560" y="3566160"/>
            <a:ext cx="1828800" cy="2286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800" b="0" i="0">
                <a:solidFill>
                  <a:srgbClr val="707070"/>
                </a:solidFill>
                <a:latin typeface="Fraunces"/>
              </a:defRPr>
            </a:pPr>
            <a:r>
              <a:t>OUR PROPOSAL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3794760"/>
            <a:ext cx="4754880" cy="164592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  <a:defRPr sz="1400" b="0" i="0">
                <a:solidFill>
                  <a:srgbClr val="000000"/>
                </a:solidFill>
                <a:latin typeface="Baskerville"/>
              </a:defRPr>
            </a:pPr>
            <a:r>
              <a:t>INLAND shoots the full midnight feast and portraits the fishers, pairing the rite with the redevelopment squeezing it out — two relationships to the same sea. The project’s signature recurring scene.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989320"/>
            <a:ext cx="6583680" cy="32004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000" b="0" i="0">
                <a:solidFill>
                  <a:srgbClr val="5C5C5C"/>
                </a:solidFill>
                <a:latin typeface="Fraunces"/>
              </a:defRPr>
            </a:pPr>
            <a:r>
              <a:t>Places: Ilha de Luanda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327648"/>
            <a:ext cx="6583680" cy="27432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900" b="0" i="0">
                <a:solidFill>
                  <a:srgbClr val="857F76"/>
                </a:solidFill>
                <a:latin typeface="Fraunces"/>
              </a:defRPr>
            </a:pPr>
            <a:r>
              <a:t>Sources: Kianda (Wikipedia); Ilha de Luanda (Wikipedia)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31068" y="6263640"/>
            <a:ext cx="598932" cy="274320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5C5C5C"/>
                </a:solidFill>
                <a:latin typeface="Fraunces"/>
              </a:defRPr>
            </a:pPr>
            <a:r>
              <a:t>COAST</a:t>
            </a:r>
          </a:p>
        </p:txBody>
        <a:spPr>
          <a:prstGeom prst="roundRect">
            <a:avLst/>
          </a:prstGeom>
          <a:ln w="6350">
            <a:solidFill>
              <a:srgbClr val="B0A89E"/>
            </a:solidFill>
            <a:prstDash val="solid"/>
          </a:ln>
        </a:spPr>
      </p:sp>
      <p:sp>
        <p:nvSpPr>
          <p:cNvPr id="15" name="TextBox 14"/>
          <p:cNvSpPr txBox="1"/>
          <p:nvPr/>
        </p:nvSpPr>
        <p:spPr>
          <a:xfrm>
            <a:off x="10026396" y="6263640"/>
            <a:ext cx="667512" cy="274320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5C5C5C"/>
                </a:solidFill>
                <a:latin typeface="Fraunces"/>
              </a:defRPr>
            </a:pPr>
            <a:r>
              <a:t>RITUAL</a:t>
            </a:r>
          </a:p>
        </p:txBody>
        <a:spPr>
          <a:prstGeom prst="roundRect">
            <a:avLst/>
          </a:prstGeom>
          <a:ln w="6350">
            <a:solidFill>
              <a:srgbClr val="B0A89E"/>
            </a:solidFill>
            <a:prstDash val="solid"/>
          </a:ln>
        </a:spPr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0" y="365760"/>
            <a:ext cx="1828800" cy="9144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r">
              <a:lnSpc>
                <a:spcPts val="10200"/>
              </a:lnSpc>
              <a:defRPr sz="6400" b="0" i="0">
                <a:solidFill>
                  <a:srgbClr val="400505"/>
                </a:solidFill>
                <a:latin typeface="Baskerville"/>
              </a:defRPr>
            </a:pPr>
            <a: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4572000" cy="36576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  <a:defRPr sz="1100" b="0" i="0">
                <a:solidFill>
                  <a:srgbClr val="5C5C5C"/>
                </a:solidFill>
                <a:latin typeface="Fraunces"/>
              </a:defRPr>
            </a:pPr>
            <a:r>
              <a:t>ARTS &amp; CULTURE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9144000" cy="109728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6000"/>
              </a:lnSpc>
              <a:defRPr sz="3800" b="0" i="0">
                <a:solidFill>
                  <a:srgbClr val="000000"/>
                </a:solidFill>
                <a:latin typeface="Baskerville"/>
              </a:defRPr>
            </a:pPr>
            <a:r>
              <a:t>The Mask That Dances a Woman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9144000" cy="73152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2400" b="0" i="1">
                <a:solidFill>
                  <a:srgbClr val="5C5C5C"/>
                </a:solidFill>
                <a:latin typeface="Baskerville"/>
              </a:defRPr>
            </a:pPr>
            <a:r>
              <a:t>Mukanda and Mwana Pwo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3383280"/>
            <a:ext cx="10515600" cy="0"/>
          </a:xfrm>
          <a:prstGeom prst="line">
            <a:avLst/>
          </a:prstGeom>
          <a:ln w="952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3566160"/>
            <a:ext cx="1828800" cy="2286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800" b="0" i="0">
                <a:solidFill>
                  <a:srgbClr val="707070"/>
                </a:solidFill>
                <a:latin typeface="Fraunces"/>
              </a:defRPr>
            </a:pPr>
            <a:r>
              <a:t>THE STORY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794760"/>
            <a:ext cx="5303520" cy="164592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  <a:defRPr sz="1400" b="0" i="0">
                <a:solidFill>
                  <a:srgbClr val="000000"/>
                </a:solidFill>
                <a:latin typeface="Baskerville"/>
              </a:defRPr>
            </a:pPr>
            <a:r>
              <a:t>The world’s museums are full of Chokwe masks; the rite that animates them is barely filmed. During mukanda, the months-long boys’ initiation camp, a male dancer becomes mwana pwo — an idealised female ancestor — for the mothers separated from their sons.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0" y="3566160"/>
            <a:ext cx="0" cy="2194560"/>
          </a:xfrm>
          <a:prstGeom prst="line">
            <a:avLst/>
          </a:prstGeom>
          <a:ln w="25400">
            <a:solidFill>
              <a:srgbClr val="D8D2C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766560" y="3566160"/>
            <a:ext cx="1828800" cy="2286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800" b="0" i="0">
                <a:solidFill>
                  <a:srgbClr val="707070"/>
                </a:solidFill>
                <a:latin typeface="Fraunces"/>
              </a:defRPr>
            </a:pPr>
            <a:r>
              <a:t>OUR PROPOSAL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3794760"/>
            <a:ext cx="4754880" cy="164592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  <a:defRPr sz="1400" b="0" i="0">
                <a:solidFill>
                  <a:srgbClr val="000000"/>
                </a:solidFill>
                <a:latin typeface="Baskerville"/>
              </a:defRPr>
            </a:pPr>
            <a:r>
              <a:t>INLAND documents a mwana pwo performance and a carver, building a diptych of the museum vitrine against the dust of the camp. Discretion and consent around the seclusion itself.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989320"/>
            <a:ext cx="6583680" cy="32004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000" b="0" i="0">
                <a:solidFill>
                  <a:srgbClr val="5C5C5C"/>
                </a:solidFill>
                <a:latin typeface="Fraunces"/>
              </a:defRPr>
            </a:pPr>
            <a:r>
              <a:t>Places: Lunda · Moxico · Dundo Museum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327648"/>
            <a:ext cx="6583680" cy="27432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900" b="0" i="0">
                <a:solidFill>
                  <a:srgbClr val="857F76"/>
                </a:solidFill>
                <a:latin typeface="Fraunces"/>
              </a:defRPr>
            </a:pPr>
            <a:r>
              <a:t>Sources: Chokwe people (Wikipedia); High Museum / DIA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31068" y="6263640"/>
            <a:ext cx="598932" cy="274320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5C5C5C"/>
                </a:solidFill>
                <a:latin typeface="Fraunces"/>
              </a:defRPr>
            </a:pPr>
            <a:r>
              <a:t>MASKS</a:t>
            </a:r>
          </a:p>
        </p:txBody>
        <a:spPr>
          <a:prstGeom prst="roundRect">
            <a:avLst/>
          </a:prstGeom>
          <a:ln w="6350">
            <a:solidFill>
              <a:srgbClr val="B0A89E"/>
            </a:solidFill>
            <a:prstDash val="solid"/>
          </a:ln>
        </a:spPr>
      </p:sp>
      <p:sp>
        <p:nvSpPr>
          <p:cNvPr id="15" name="TextBox 14"/>
          <p:cNvSpPr txBox="1"/>
          <p:nvPr/>
        </p:nvSpPr>
        <p:spPr>
          <a:xfrm>
            <a:off x="9752076" y="6263640"/>
            <a:ext cx="941832" cy="274320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5C5C5C"/>
                </a:solidFill>
                <a:latin typeface="Fraunces"/>
              </a:defRPr>
            </a:pPr>
            <a:r>
              <a:t>INITIATION</a:t>
            </a:r>
          </a:p>
        </p:txBody>
        <a:spPr>
          <a:prstGeom prst="roundRect">
            <a:avLst/>
          </a:prstGeom>
          <a:ln w="6350">
            <a:solidFill>
              <a:srgbClr val="B0A89E"/>
            </a:solidFill>
            <a:prstDash val="solid"/>
          </a:ln>
        </a:spPr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0" y="365760"/>
            <a:ext cx="1828800" cy="9144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r">
              <a:lnSpc>
                <a:spcPts val="10200"/>
              </a:lnSpc>
              <a:defRPr sz="6400" b="0" i="0">
                <a:solidFill>
                  <a:srgbClr val="400505"/>
                </a:solidFill>
                <a:latin typeface="Baskerville"/>
              </a:defRPr>
            </a:pPr>
            <a: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4572000" cy="36576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  <a:defRPr sz="1100" b="0" i="0">
                <a:solidFill>
                  <a:srgbClr val="5C5C5C"/>
                </a:solidFill>
                <a:latin typeface="Fraunces"/>
              </a:defRPr>
            </a:pPr>
            <a:r>
              <a:t>FOOD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9144000" cy="109728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6000"/>
              </a:lnSpc>
              <a:defRPr sz="3800" b="0" i="0">
                <a:solidFill>
                  <a:srgbClr val="000000"/>
                </a:solidFill>
                <a:latin typeface="Baskerville"/>
              </a:defRPr>
            </a:pPr>
            <a:r>
              <a:t>The Coffee That Went Wild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9144000" cy="73152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2400" b="0" i="1">
                <a:solidFill>
                  <a:srgbClr val="5C5C5C"/>
                </a:solidFill>
                <a:latin typeface="Baskerville"/>
              </a:defRPr>
            </a:pPr>
            <a:r>
              <a:t>Amboim Robusta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3383280"/>
            <a:ext cx="10515600" cy="0"/>
          </a:xfrm>
          <a:prstGeom prst="line">
            <a:avLst/>
          </a:prstGeom>
          <a:ln w="952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3566160"/>
            <a:ext cx="1828800" cy="2286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800" b="0" i="0">
                <a:solidFill>
                  <a:srgbClr val="707070"/>
                </a:solidFill>
                <a:latin typeface="Fraunces"/>
              </a:defRPr>
            </a:pPr>
            <a:r>
              <a:t>THE STORY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794760"/>
            <a:ext cx="5303520" cy="164592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  <a:defRPr sz="1400" b="0" i="0">
                <a:solidFill>
                  <a:srgbClr val="000000"/>
                </a:solidFill>
                <a:latin typeface="Baskerville"/>
              </a:defRPr>
            </a:pPr>
            <a:r>
              <a:t>Angola was the world’s third-largest coffee producer until the war turned plantations into wild bush. Now families harvest from trees their grandparents planted, and the EU/AFD-financed Mukafe scheme is replanting Amboim’s prized robusta in Kwanza Sul.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0" y="3566160"/>
            <a:ext cx="0" cy="2194560"/>
          </a:xfrm>
          <a:prstGeom prst="line">
            <a:avLst/>
          </a:prstGeom>
          <a:ln w="25400">
            <a:solidFill>
              <a:srgbClr val="D8D2C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766560" y="3566160"/>
            <a:ext cx="1828800" cy="2286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800" b="0" i="0">
                <a:solidFill>
                  <a:srgbClr val="707070"/>
                </a:solidFill>
                <a:latin typeface="Fraunces"/>
              </a:defRPr>
            </a:pPr>
            <a:r>
              <a:t>OUR PROPOSAL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3794760"/>
            <a:ext cx="4754880" cy="164592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  <a:defRPr sz="1400" b="0" i="0">
                <a:solidFill>
                  <a:srgbClr val="000000"/>
                </a:solidFill>
                <a:latin typeface="Baskerville"/>
              </a:defRPr>
            </a:pPr>
            <a:r>
              <a:t>INLAND follows one family through a harvest — the abandoned colonial roça now forest, the replant beside it — a story of return on land the war made wild. The family is named in the field.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989320"/>
            <a:ext cx="6583680" cy="32004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000" b="0" i="0">
                <a:solidFill>
                  <a:srgbClr val="5C5C5C"/>
                </a:solidFill>
                <a:latin typeface="Fraunces"/>
              </a:defRPr>
            </a:pPr>
            <a:r>
              <a:t>Places: Amboim · Gabela · Kwanza Sul · Uíge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327648"/>
            <a:ext cx="6583680" cy="27432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900" b="0" i="0">
                <a:solidFill>
                  <a:srgbClr val="857F76"/>
                </a:solidFill>
                <a:latin typeface="Fraunces"/>
              </a:defRPr>
            </a:pPr>
            <a:r>
              <a:t>Sources: Perfect Daily Grind; STiR; Coffee in Angola (Wikipedia)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99648" y="6263640"/>
            <a:ext cx="530352" cy="274320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5C5C5C"/>
                </a:solidFill>
                <a:latin typeface="Fraunces"/>
              </a:defRPr>
            </a:pPr>
            <a:r>
              <a:t>LAND</a:t>
            </a:r>
          </a:p>
        </p:txBody>
        <a:spPr>
          <a:prstGeom prst="roundRect">
            <a:avLst/>
          </a:prstGeom>
          <a:ln w="6350">
            <a:solidFill>
              <a:srgbClr val="B0A89E"/>
            </a:solidFill>
            <a:prstDash val="solid"/>
          </a:ln>
        </a:spPr>
      </p:sp>
      <p:sp>
        <p:nvSpPr>
          <p:cNvPr id="15" name="TextBox 14"/>
          <p:cNvSpPr txBox="1"/>
          <p:nvPr/>
        </p:nvSpPr>
        <p:spPr>
          <a:xfrm>
            <a:off x="10094976" y="6263640"/>
            <a:ext cx="667512" cy="274320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5C5C5C"/>
                </a:solidFill>
                <a:latin typeface="Fraunces"/>
              </a:defRPr>
            </a:pPr>
            <a:r>
              <a:t>RETURN</a:t>
            </a:r>
          </a:p>
        </p:txBody>
        <a:spPr>
          <a:prstGeom prst="roundRect">
            <a:avLst/>
          </a:prstGeom>
          <a:ln w="6350">
            <a:solidFill>
              <a:srgbClr val="B0A89E"/>
            </a:solidFill>
            <a:prstDash val="solid"/>
          </a:ln>
        </a:spPr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0" y="365760"/>
            <a:ext cx="1828800" cy="9144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r">
              <a:lnSpc>
                <a:spcPts val="10200"/>
              </a:lnSpc>
              <a:defRPr sz="6400" b="0" i="0">
                <a:solidFill>
                  <a:srgbClr val="400505"/>
                </a:solidFill>
                <a:latin typeface="Baskerville"/>
              </a:defRPr>
            </a:pPr>
            <a: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4572000" cy="36576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  <a:defRPr sz="1100" b="0" i="0">
                <a:solidFill>
                  <a:srgbClr val="5C5C5C"/>
                </a:solidFill>
                <a:latin typeface="Fraunces"/>
              </a:defRPr>
            </a:pPr>
            <a:r>
              <a:t>HISTORY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9144000" cy="109728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6000"/>
              </a:lnSpc>
              <a:defRPr sz="3800" b="0" i="0">
                <a:solidFill>
                  <a:srgbClr val="000000"/>
                </a:solidFill>
                <a:latin typeface="Baskerville"/>
              </a:defRPr>
            </a:pPr>
            <a:r>
              <a:t>The Council That Outlived the 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9144000" cy="73152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2400" b="0" i="1">
                <a:solidFill>
                  <a:srgbClr val="5C5C5C"/>
                </a:solidFill>
                <a:latin typeface="Baskerville"/>
              </a:defRPr>
            </a:pPr>
            <a:r>
              <a:t>The Lumbu of Mbanza Kongo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3383280"/>
            <a:ext cx="10515600" cy="0"/>
          </a:xfrm>
          <a:prstGeom prst="line">
            <a:avLst/>
          </a:prstGeom>
          <a:ln w="952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3566160"/>
            <a:ext cx="1828800" cy="2286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800" b="0" i="0">
                <a:solidFill>
                  <a:srgbClr val="707070"/>
                </a:solidFill>
                <a:latin typeface="Fraunces"/>
              </a:defRPr>
            </a:pPr>
            <a:r>
              <a:t>THE STORY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794760"/>
            <a:ext cx="5303520" cy="164592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  <a:defRPr sz="1400" b="0" i="0">
                <a:solidFill>
                  <a:srgbClr val="000000"/>
                </a:solidFill>
                <a:latin typeface="Baskerville"/>
              </a:defRPr>
            </a:pPr>
            <a:r>
              <a:t>At Mbanza Kongo, UNESCO-listed capital of the old Kongo kingdom, there has been no king for decades — yet the lumbu, a tribunal of twenty-one elders that advised the throne for over five hundred years, still meets.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0" y="3566160"/>
            <a:ext cx="0" cy="2194560"/>
          </a:xfrm>
          <a:prstGeom prst="line">
            <a:avLst/>
          </a:prstGeom>
          <a:ln w="25400">
            <a:solidFill>
              <a:srgbClr val="D8D2C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766560" y="3566160"/>
            <a:ext cx="1828800" cy="2286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800" b="0" i="0">
                <a:solidFill>
                  <a:srgbClr val="707070"/>
                </a:solidFill>
                <a:latin typeface="Fraunces"/>
              </a:defRPr>
            </a:pPr>
            <a:r>
              <a:t>OUR PROPOSAL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3794760"/>
            <a:ext cx="4754880" cy="164592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  <a:defRPr sz="1400" b="0" i="0">
                <a:solidFill>
                  <a:srgbClr val="000000"/>
                </a:solidFill>
                <a:latin typeface="Baskerville"/>
              </a:defRPr>
            </a:pPr>
            <a:r>
              <a:t>INLAND attends a council sitting and maps the sacred topography of a city where the royal past lies underfoot — an institution that outlived the institution it served.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989320"/>
            <a:ext cx="6583680" cy="32004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000" b="0" i="0">
                <a:solidFill>
                  <a:srgbClr val="5C5C5C"/>
                </a:solidFill>
                <a:latin typeface="Fraunces"/>
              </a:defRPr>
            </a:pPr>
            <a:r>
              <a:t>Places: Mbanza Kongo · Zaire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327648"/>
            <a:ext cx="6583680" cy="27432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900" b="0" i="0">
                <a:solidFill>
                  <a:srgbClr val="857F76"/>
                </a:solidFill>
                <a:latin typeface="Fraunces"/>
              </a:defRPr>
            </a:pPr>
            <a:r>
              <a:t>Sources: UNESCO WHC 2017; Met Museum (Kongo)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25328" y="6263640"/>
            <a:ext cx="804672" cy="274320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5C5C5C"/>
                </a:solidFill>
                <a:latin typeface="Fraunces"/>
              </a:defRPr>
            </a:pPr>
            <a:r>
              <a:t>KINGDOMS</a:t>
            </a:r>
          </a:p>
        </p:txBody>
        <a:spPr>
          <a:prstGeom prst="roundRect">
            <a:avLst/>
          </a:prstGeom>
          <a:ln w="6350">
            <a:solidFill>
              <a:srgbClr val="B0A89E"/>
            </a:solidFill>
            <a:prstDash val="solid"/>
          </a:ln>
        </a:spPr>
      </p:sp>
      <p:sp>
        <p:nvSpPr>
          <p:cNvPr id="15" name="TextBox 14"/>
          <p:cNvSpPr txBox="1"/>
          <p:nvPr/>
        </p:nvSpPr>
        <p:spPr>
          <a:xfrm>
            <a:off x="9820656" y="6263640"/>
            <a:ext cx="667512" cy="274320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5C5C5C"/>
                </a:solidFill>
                <a:latin typeface="Fraunces"/>
              </a:defRPr>
            </a:pPr>
            <a:r>
              <a:t>MEMORY</a:t>
            </a:r>
          </a:p>
        </p:txBody>
        <a:spPr>
          <a:prstGeom prst="roundRect">
            <a:avLst/>
          </a:prstGeom>
          <a:ln w="6350">
            <a:solidFill>
              <a:srgbClr val="B0A89E"/>
            </a:solidFill>
            <a:prstDash val="solid"/>
          </a:ln>
        </a:spPr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0" y="365760"/>
            <a:ext cx="1828800" cy="9144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r">
              <a:lnSpc>
                <a:spcPts val="10200"/>
              </a:lnSpc>
              <a:defRPr sz="6400" b="0" i="0">
                <a:solidFill>
                  <a:srgbClr val="400505"/>
                </a:solidFill>
                <a:latin typeface="Baskerville"/>
              </a:defRPr>
            </a:pPr>
            <a: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4572000" cy="36576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  <a:defRPr sz="1100" b="0" i="0">
                <a:solidFill>
                  <a:srgbClr val="5C5C5C"/>
                </a:solidFill>
                <a:latin typeface="Fraunces"/>
              </a:defRPr>
            </a:pPr>
            <a:r>
              <a:t>HISTORY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9144000" cy="109728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6000"/>
              </a:lnSpc>
              <a:defRPr sz="3800" b="0" i="0">
                <a:solidFill>
                  <a:srgbClr val="000000"/>
                </a:solidFill>
                <a:latin typeface="Baskerville"/>
              </a:defRPr>
            </a:pPr>
            <a:r>
              <a:t>Njinga’s Footprints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9144000" cy="73152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2400" b="0" i="1">
                <a:solidFill>
                  <a:srgbClr val="5C5C5C"/>
                </a:solidFill>
                <a:latin typeface="Baskerville"/>
              </a:defRPr>
            </a:pPr>
            <a:r>
              <a:t>The Black Rocks of Pungo Andongo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3383280"/>
            <a:ext cx="10515600" cy="0"/>
          </a:xfrm>
          <a:prstGeom prst="line">
            <a:avLst/>
          </a:prstGeom>
          <a:ln w="952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3566160"/>
            <a:ext cx="1828800" cy="2286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800" b="0" i="0">
                <a:solidFill>
                  <a:srgbClr val="707070"/>
                </a:solidFill>
                <a:latin typeface="Fraunces"/>
              </a:defRPr>
            </a:pPr>
            <a:r>
              <a:t>THE STORY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794760"/>
            <a:ext cx="5303520" cy="164592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  <a:defRPr sz="1400" b="0" i="0">
                <a:solidFill>
                  <a:srgbClr val="000000"/>
                </a:solidFill>
                <a:latin typeface="Baskerville"/>
              </a:defRPr>
            </a:pPr>
            <a:r>
              <a:t>At the black monoliths of Pungo Andongo — the Ndongo capital and Queen Njinga’s 17th-century stronghold against the Portuguese — footprints worn into the rock are venerated locally as the queen’s own.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0" y="3566160"/>
            <a:ext cx="0" cy="2194560"/>
          </a:xfrm>
          <a:prstGeom prst="line">
            <a:avLst/>
          </a:prstGeom>
          <a:ln w="25400">
            <a:solidFill>
              <a:srgbClr val="D8D2C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766560" y="3566160"/>
            <a:ext cx="1828800" cy="2286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800" b="0" i="0">
                <a:solidFill>
                  <a:srgbClr val="707070"/>
                </a:solidFill>
                <a:latin typeface="Fraunces"/>
              </a:defRPr>
            </a:pPr>
            <a:r>
              <a:t>OUR PROPOSAL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3794760"/>
            <a:ext cx="4754880" cy="164592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  <a:defRPr sz="1400" b="0" i="0">
                <a:solidFill>
                  <a:srgbClr val="000000"/>
                </a:solidFill>
                <a:latin typeface="Baskerville"/>
              </a:defRPr>
            </a:pPr>
            <a:r>
              <a:t>INLAND shoots the footprints as a living place of veneration and the rocks as refuge — national memory made physical, a 400-year-old resistance still touched by hand.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989320"/>
            <a:ext cx="6583680" cy="32004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000" b="0" i="0">
                <a:solidFill>
                  <a:srgbClr val="5C5C5C"/>
                </a:solidFill>
                <a:latin typeface="Fraunces"/>
              </a:defRPr>
            </a:pPr>
            <a:r>
              <a:t>Places: Pungo Andongo · Malanje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327648"/>
            <a:ext cx="6583680" cy="27432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900" b="0" i="0">
                <a:solidFill>
                  <a:srgbClr val="857F76"/>
                </a:solidFill>
                <a:latin typeface="Fraunces"/>
              </a:defRPr>
            </a:pPr>
            <a:r>
              <a:t>Sources: Black Rocks at Pungo Andongo (Wikipedia); Atlas Obscura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88168" y="6263640"/>
            <a:ext cx="941832" cy="274320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5C5C5C"/>
                </a:solidFill>
                <a:latin typeface="Fraunces"/>
              </a:defRPr>
            </a:pPr>
            <a:r>
              <a:t>RESISTANCE</a:t>
            </a:r>
          </a:p>
        </p:txBody>
        <a:spPr>
          <a:prstGeom prst="roundRect">
            <a:avLst/>
          </a:prstGeom>
          <a:ln w="6350">
            <a:solidFill>
              <a:srgbClr val="B0A89E"/>
            </a:solidFill>
            <a:prstDash val="solid"/>
          </a:ln>
        </a:spPr>
      </p:sp>
      <p:sp>
        <p:nvSpPr>
          <p:cNvPr id="15" name="TextBox 14"/>
          <p:cNvSpPr txBox="1"/>
          <p:nvPr/>
        </p:nvSpPr>
        <p:spPr>
          <a:xfrm>
            <a:off x="9683496" y="6263640"/>
            <a:ext cx="667512" cy="274320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5C5C5C"/>
                </a:solidFill>
                <a:latin typeface="Fraunces"/>
              </a:defRPr>
            </a:pPr>
            <a:r>
              <a:t>MEMORY</a:t>
            </a:r>
          </a:p>
        </p:txBody>
        <a:spPr>
          <a:prstGeom prst="roundRect">
            <a:avLst/>
          </a:prstGeom>
          <a:ln w="6350">
            <a:solidFill>
              <a:srgbClr val="B0A89E"/>
            </a:solidFill>
            <a:prstDash val="solid"/>
          </a:ln>
        </a:spPr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0" y="365760"/>
            <a:ext cx="1828800" cy="9144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r">
              <a:lnSpc>
                <a:spcPts val="10200"/>
              </a:lnSpc>
              <a:defRPr sz="6400" b="0" i="0">
                <a:solidFill>
                  <a:srgbClr val="400505"/>
                </a:solidFill>
                <a:latin typeface="Baskerville"/>
              </a:defRPr>
            </a:pPr>
            <a: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4572000" cy="36576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  <a:defRPr sz="1100" b="0" i="0">
                <a:solidFill>
                  <a:srgbClr val="5C5C5C"/>
                </a:solidFill>
                <a:latin typeface="Fraunces"/>
              </a:defRPr>
            </a:pPr>
            <a:r>
              <a:t>MYTH &amp; RELIGION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9144000" cy="109728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6000"/>
              </a:lnSpc>
              <a:defRPr sz="3800" b="0" i="0">
                <a:solidFill>
                  <a:srgbClr val="000000"/>
                </a:solidFill>
                <a:latin typeface="Baskerville"/>
              </a:defRPr>
            </a:pPr>
            <a:r>
              <a:t>Those Who Ate the Ox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9144000" cy="73152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2400" b="0" i="1">
                <a:solidFill>
                  <a:srgbClr val="5C5C5C"/>
                </a:solidFill>
                <a:latin typeface="Baskerville"/>
              </a:defRPr>
            </a:pPr>
            <a:r>
              <a:t>Efundula in Cunene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3383280"/>
            <a:ext cx="10515600" cy="0"/>
          </a:xfrm>
          <a:prstGeom prst="line">
            <a:avLst/>
          </a:prstGeom>
          <a:ln w="952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3566160"/>
            <a:ext cx="1828800" cy="2286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800" b="0" i="0">
                <a:solidFill>
                  <a:srgbClr val="707070"/>
                </a:solidFill>
                <a:latin typeface="Fraunces"/>
              </a:defRPr>
            </a:pPr>
            <a:r>
              <a:t>THE STORY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794760"/>
            <a:ext cx="5303520" cy="164592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  <a:defRPr sz="1400" b="0" i="0">
                <a:solidFill>
                  <a:srgbClr val="000000"/>
                </a:solidFill>
                <a:latin typeface="Baskerville"/>
              </a:defRPr>
            </a:pPr>
            <a:r>
              <a:t>The efundula female initiation marks a girl’s passage to womanhood among the Kwanyama and Handa of Cunene — historically the symbolic ‘eating of the ox’ — surviving in tension with the school and the state.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0" y="3566160"/>
            <a:ext cx="0" cy="2194560"/>
          </a:xfrm>
          <a:prstGeom prst="line">
            <a:avLst/>
          </a:prstGeom>
          <a:ln w="25400">
            <a:solidFill>
              <a:srgbClr val="D8D2C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766560" y="3566160"/>
            <a:ext cx="1828800" cy="2286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800" b="0" i="0">
                <a:solidFill>
                  <a:srgbClr val="707070"/>
                </a:solidFill>
                <a:latin typeface="Fraunces"/>
              </a:defRPr>
            </a:pPr>
            <a:r>
              <a:t>OUR PROPOSAL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3794760"/>
            <a:ext cx="4754880" cy="164592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  <a:defRPr sz="1400" b="0" i="0">
                <a:solidFill>
                  <a:srgbClr val="000000"/>
                </a:solidFill>
                <a:latin typeface="Baskerville"/>
              </a:defRPr>
            </a:pPr>
            <a:r>
              <a:t>INLAND follows the cycle with the community’s lead and the voices of young mothers caught between the rite and schooling — continuity and its costs, consent-led, never staged.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989320"/>
            <a:ext cx="6583680" cy="32004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000" b="0" i="0">
                <a:solidFill>
                  <a:srgbClr val="5C5C5C"/>
                </a:solidFill>
                <a:latin typeface="Fraunces"/>
              </a:defRPr>
            </a:pPr>
            <a:r>
              <a:t>Places: Cunene · southern Huíla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327648"/>
            <a:ext cx="6583680" cy="27432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900" b="0" i="0">
                <a:solidFill>
                  <a:srgbClr val="857F76"/>
                </a:solidFill>
                <a:latin typeface="Fraunces"/>
              </a:defRPr>
            </a:pPr>
            <a:r>
              <a:t>Sources: Academia.edu; UCP study (Cunene)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31068" y="6263640"/>
            <a:ext cx="598932" cy="274320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5C5C5C"/>
                </a:solidFill>
                <a:latin typeface="Fraunces"/>
              </a:defRPr>
            </a:pPr>
            <a:r>
              <a:t>WOMEN</a:t>
            </a:r>
          </a:p>
        </p:txBody>
        <a:spPr>
          <a:prstGeom prst="roundRect">
            <a:avLst/>
          </a:prstGeom>
          <a:ln w="6350">
            <a:solidFill>
              <a:srgbClr val="B0A89E"/>
            </a:solidFill>
            <a:prstDash val="solid"/>
          </a:ln>
        </a:spPr>
      </p:sp>
      <p:sp>
        <p:nvSpPr>
          <p:cNvPr id="15" name="TextBox 14"/>
          <p:cNvSpPr txBox="1"/>
          <p:nvPr/>
        </p:nvSpPr>
        <p:spPr>
          <a:xfrm>
            <a:off x="9752076" y="6263640"/>
            <a:ext cx="941832" cy="274320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5C5C5C"/>
                </a:solidFill>
                <a:latin typeface="Fraunces"/>
              </a:defRPr>
            </a:pPr>
            <a:r>
              <a:t>INITIATION</a:t>
            </a:r>
          </a:p>
        </p:txBody>
        <a:spPr>
          <a:prstGeom prst="roundRect">
            <a:avLst/>
          </a:prstGeom>
          <a:ln w="6350">
            <a:solidFill>
              <a:srgbClr val="B0A89E"/>
            </a:solidFill>
            <a:prstDash val="solid"/>
          </a:ln>
        </a:spPr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0" y="365760"/>
            <a:ext cx="1828800" cy="9144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r">
              <a:lnSpc>
                <a:spcPts val="10200"/>
              </a:lnSpc>
              <a:defRPr sz="6400" b="0" i="0">
                <a:solidFill>
                  <a:srgbClr val="400505"/>
                </a:solidFill>
                <a:latin typeface="Baskerville"/>
              </a:defRPr>
            </a:pPr>
            <a: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4572000" cy="36576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  <a:defRPr sz="1100" b="0" i="0">
                <a:solidFill>
                  <a:srgbClr val="5C5C5C"/>
                </a:solidFill>
                <a:latin typeface="Fraunces"/>
              </a:defRPr>
            </a:pPr>
            <a:r>
              <a:t>FOOD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9144000" cy="109728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6000"/>
              </a:lnSpc>
              <a:defRPr sz="3800" b="0" i="0">
                <a:solidFill>
                  <a:srgbClr val="000000"/>
                </a:solidFill>
                <a:latin typeface="Baskerville"/>
              </a:defRPr>
            </a:pPr>
            <a:r>
              <a:t>Salt and the Long Boats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9144000" cy="73152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2400" b="0" i="1">
                <a:solidFill>
                  <a:srgbClr val="5C5C5C"/>
                </a:solidFill>
                <a:latin typeface="Baskerville"/>
              </a:defRPr>
            </a:pPr>
            <a:r>
              <a:t>Baía Farta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3383280"/>
            <a:ext cx="10515600" cy="0"/>
          </a:xfrm>
          <a:prstGeom prst="line">
            <a:avLst/>
          </a:prstGeom>
          <a:ln w="952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3566160"/>
            <a:ext cx="1828800" cy="2286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800" b="0" i="0">
                <a:solidFill>
                  <a:srgbClr val="707070"/>
                </a:solidFill>
                <a:latin typeface="Fraunces"/>
              </a:defRPr>
            </a:pPr>
            <a:r>
              <a:t>THE STORY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794760"/>
            <a:ext cx="5303520" cy="164592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  <a:defRPr sz="1400" b="0" i="0">
                <a:solidFill>
                  <a:srgbClr val="000000"/>
                </a:solidFill>
                <a:latin typeface="Baskerville"/>
              </a:defRPr>
            </a:pPr>
            <a:r>
              <a:t>In one Benguela bay, two squeezed coastal trades: solar salt evaporated in the pans that named the beach, and an artisanal fishing economy of tens of thousands — both pressed by industrial trawling and packaged substitutes.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0" y="3566160"/>
            <a:ext cx="0" cy="2194560"/>
          </a:xfrm>
          <a:prstGeom prst="line">
            <a:avLst/>
          </a:prstGeom>
          <a:ln w="25400">
            <a:solidFill>
              <a:srgbClr val="D8D2C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766560" y="3566160"/>
            <a:ext cx="1828800" cy="2286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800" b="0" i="0">
                <a:solidFill>
                  <a:srgbClr val="707070"/>
                </a:solidFill>
                <a:latin typeface="Fraunces"/>
              </a:defRPr>
            </a:pPr>
            <a:r>
              <a:t>OUR PROPOSAL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3794760"/>
            <a:ext cx="4754880" cy="164592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  <a:defRPr sz="1400" b="0" i="0">
                <a:solidFill>
                  <a:srgbClr val="000000"/>
                </a:solidFill>
                <a:latin typeface="Baskerville"/>
              </a:defRPr>
            </a:pPr>
            <a:r>
              <a:t>INLAND shoots a salt-raking day and a fishing dawn at the Casa dos Pescadores Artesanais — the food infrastructure of the coast, still made by hand.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989320"/>
            <a:ext cx="6583680" cy="32004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000" b="0" i="0">
                <a:solidFill>
                  <a:srgbClr val="5C5C5C"/>
                </a:solidFill>
                <a:latin typeface="Fraunces"/>
              </a:defRPr>
            </a:pPr>
            <a:r>
              <a:t>Places: Baía Farta · Benguela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327648"/>
            <a:ext cx="6583680" cy="27432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900" b="0" i="0">
                <a:solidFill>
                  <a:srgbClr val="857F76"/>
                </a:solidFill>
                <a:latin typeface="Fraunces"/>
              </a:defRPr>
            </a:pPr>
            <a:r>
              <a:t>Sources: Journey Gourmet; trackstick; DLIST Benguela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31068" y="6263640"/>
            <a:ext cx="598932" cy="274320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5C5C5C"/>
                </a:solidFill>
                <a:latin typeface="Fraunces"/>
              </a:defRPr>
            </a:pPr>
            <a:r>
              <a:t>CRAFT</a:t>
            </a:r>
          </a:p>
        </p:txBody>
        <a:spPr>
          <a:prstGeom prst="roundRect">
            <a:avLst/>
          </a:prstGeom>
          <a:ln w="6350">
            <a:solidFill>
              <a:srgbClr val="B0A89E"/>
            </a:solidFill>
            <a:prstDash val="solid"/>
          </a:ln>
        </a:spPr>
      </p:sp>
      <p:sp>
        <p:nvSpPr>
          <p:cNvPr id="15" name="TextBox 14"/>
          <p:cNvSpPr txBox="1"/>
          <p:nvPr/>
        </p:nvSpPr>
        <p:spPr>
          <a:xfrm>
            <a:off x="10094976" y="6263640"/>
            <a:ext cx="598932" cy="274320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5C5C5C"/>
                </a:solidFill>
                <a:latin typeface="Fraunces"/>
              </a:defRPr>
            </a:pPr>
            <a:r>
              <a:t>COAST</a:t>
            </a:r>
          </a:p>
        </p:txBody>
        <a:spPr>
          <a:prstGeom prst="roundRect">
            <a:avLst/>
          </a:prstGeom>
          <a:ln w="6350">
            <a:solidFill>
              <a:srgbClr val="B0A89E"/>
            </a:solidFill>
            <a:prstDash val="solid"/>
          </a:ln>
        </a:spPr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0" y="365760"/>
            <a:ext cx="1828800" cy="9144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r">
              <a:lnSpc>
                <a:spcPts val="10200"/>
              </a:lnSpc>
              <a:defRPr sz="6400" b="0" i="0">
                <a:solidFill>
                  <a:srgbClr val="400505"/>
                </a:solidFill>
                <a:latin typeface="Baskerville"/>
              </a:defRPr>
            </a:pPr>
            <a: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4572000" cy="36576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  <a:defRPr sz="1100" b="0" i="0">
                <a:solidFill>
                  <a:srgbClr val="5C5C5C"/>
                </a:solidFill>
                <a:latin typeface="Fraunces"/>
              </a:defRPr>
            </a:pPr>
            <a:r>
              <a:t>ARTS &amp; CULTURE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9144000" cy="109728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6000"/>
              </a:lnSpc>
              <a:defRPr sz="3800" b="0" i="0">
                <a:solidFill>
                  <a:srgbClr val="000000"/>
                </a:solidFill>
                <a:latin typeface="Baskerville"/>
              </a:defRPr>
            </a:pPr>
            <a:r>
              <a:t>Clay and Fibre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9144000" cy="73152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2400" b="0" i="1">
                <a:solidFill>
                  <a:srgbClr val="5C5C5C"/>
                </a:solidFill>
                <a:latin typeface="Baskerville"/>
              </a:defRPr>
            </a:pPr>
            <a:r>
              <a:t>Women Potters and Weavers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3383280"/>
            <a:ext cx="10515600" cy="0"/>
          </a:xfrm>
          <a:prstGeom prst="line">
            <a:avLst/>
          </a:prstGeom>
          <a:ln w="952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3566160"/>
            <a:ext cx="1828800" cy="2286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800" b="0" i="0">
                <a:solidFill>
                  <a:srgbClr val="707070"/>
                </a:solidFill>
                <a:latin typeface="Fraunces"/>
              </a:defRPr>
            </a:pPr>
            <a:r>
              <a:t>THE STORY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794760"/>
            <a:ext cx="5303520" cy="164592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  <a:defRPr sz="1400" b="0" i="0">
                <a:solidFill>
                  <a:srgbClr val="000000"/>
                </a:solidFill>
                <a:latin typeface="Baskerville"/>
              </a:defRPr>
            </a:pPr>
            <a:r>
              <a:t>Coil pottery and sisal and palm basketry, made by methods passed down generations across the highlands and east, now half-commercialised for an urban market — the domestic vessels of Angolan household life, and the women who still make them.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0" y="3566160"/>
            <a:ext cx="0" cy="2194560"/>
          </a:xfrm>
          <a:prstGeom prst="line">
            <a:avLst/>
          </a:prstGeom>
          <a:ln w="25400">
            <a:solidFill>
              <a:srgbClr val="D8D2C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766560" y="3566160"/>
            <a:ext cx="1828800" cy="2286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800" b="0" i="0">
                <a:solidFill>
                  <a:srgbClr val="707070"/>
                </a:solidFill>
                <a:latin typeface="Fraunces"/>
              </a:defRPr>
            </a:pPr>
            <a:r>
              <a:t>OUR PROPOSAL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3794760"/>
            <a:ext cx="4754880" cy="164592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  <a:defRPr sz="1400" b="0" i="0">
                <a:solidFill>
                  <a:srgbClr val="000000"/>
                </a:solidFill>
                <a:latin typeface="Baskerville"/>
              </a:defRPr>
            </a:pPr>
            <a:r>
              <a:t>INLAND portraits one named maker through a full firing or weaving and the market stall beyond — women’s craft as both heritage and household economy.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989320"/>
            <a:ext cx="6583680" cy="32004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000" b="0" i="0">
                <a:solidFill>
                  <a:srgbClr val="5C5C5C"/>
                </a:solidFill>
                <a:latin typeface="Fraunces"/>
              </a:defRPr>
            </a:pPr>
            <a:r>
              <a:t>Places: Huambo · Bié · Moxico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327648"/>
            <a:ext cx="6583680" cy="27432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900" b="0" i="0">
                <a:solidFill>
                  <a:srgbClr val="857F76"/>
                </a:solidFill>
                <a:latin typeface="Fraunces"/>
              </a:defRPr>
            </a:pPr>
            <a:r>
              <a:t>Sources: African Sahara; Design Milk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31068" y="6263640"/>
            <a:ext cx="598932" cy="274320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5C5C5C"/>
                </a:solidFill>
                <a:latin typeface="Fraunces"/>
              </a:defRPr>
            </a:pPr>
            <a:r>
              <a:t>WOMEN</a:t>
            </a:r>
          </a:p>
        </p:txBody>
        <a:spPr>
          <a:prstGeom prst="roundRect">
            <a:avLst/>
          </a:prstGeom>
          <a:ln w="6350">
            <a:solidFill>
              <a:srgbClr val="B0A89E"/>
            </a:solidFill>
            <a:prstDash val="solid"/>
          </a:ln>
        </a:spPr>
      </p:sp>
      <p:sp>
        <p:nvSpPr>
          <p:cNvPr id="15" name="TextBox 14"/>
          <p:cNvSpPr txBox="1"/>
          <p:nvPr/>
        </p:nvSpPr>
        <p:spPr>
          <a:xfrm>
            <a:off x="10094976" y="6263640"/>
            <a:ext cx="598932" cy="274320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5C5C5C"/>
                </a:solidFill>
                <a:latin typeface="Fraunces"/>
              </a:defRPr>
            </a:pPr>
            <a:r>
              <a:t>CRAFT</a:t>
            </a:r>
          </a:p>
        </p:txBody>
        <a:spPr>
          <a:prstGeom prst="roundRect">
            <a:avLst/>
          </a:prstGeom>
          <a:ln w="6350">
            <a:solidFill>
              <a:srgbClr val="B0A89E"/>
            </a:solidFill>
            <a:prstDash val="solid"/>
          </a:ln>
        </a:spPr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0" y="365760"/>
            <a:ext cx="1828800" cy="9144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r">
              <a:lnSpc>
                <a:spcPts val="10200"/>
              </a:lnSpc>
              <a:defRPr sz="6400" b="0" i="0">
                <a:solidFill>
                  <a:srgbClr val="400505"/>
                </a:solidFill>
                <a:latin typeface="Baskerville"/>
              </a:defRPr>
            </a:pPr>
            <a: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4572000" cy="36576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  <a:defRPr sz="1100" b="0" i="0">
                <a:solidFill>
                  <a:srgbClr val="5C5C5C"/>
                </a:solidFill>
                <a:latin typeface="Fraunces"/>
              </a:defRPr>
            </a:pPr>
            <a:r>
              <a:t>GEOPOLITICS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9144000" cy="109728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6000"/>
              </a:lnSpc>
              <a:defRPr sz="3800" b="0" i="0">
                <a:solidFill>
                  <a:srgbClr val="000000"/>
                </a:solidFill>
                <a:latin typeface="Baskerville"/>
              </a:defRPr>
            </a:pPr>
            <a:r>
              <a:t>The Most Expensive City and the Musseque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9144000" cy="73152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2400" b="0" i="1">
                <a:solidFill>
                  <a:srgbClr val="5C5C5C"/>
                </a:solidFill>
                <a:latin typeface="Baskerville"/>
              </a:defRPr>
            </a:pPr>
            <a:r>
              <a:t>Two Relationships to One Shore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3383280"/>
            <a:ext cx="10515600" cy="0"/>
          </a:xfrm>
          <a:prstGeom prst="line">
            <a:avLst/>
          </a:prstGeom>
          <a:ln w="952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3566160"/>
            <a:ext cx="1828800" cy="2286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800" b="0" i="0">
                <a:solidFill>
                  <a:srgbClr val="707070"/>
                </a:solidFill>
                <a:latin typeface="Fraunces"/>
              </a:defRPr>
            </a:pPr>
            <a:r>
              <a:t>THE STORY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794760"/>
            <a:ext cx="5303520" cy="164592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  <a:defRPr sz="1400" b="0" i="0">
                <a:solidFill>
                  <a:srgbClr val="000000"/>
                </a:solidFill>
                <a:latin typeface="Baskerville"/>
              </a:defRPr>
            </a:pPr>
            <a:r>
              <a:t>Luanda’s oil-built towers stand a few hundred metres from self-built musseques and the kitanda markets that feed the city — and from the sandbar where families still fish and pray to Kianda.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0" y="3566160"/>
            <a:ext cx="0" cy="2194560"/>
          </a:xfrm>
          <a:prstGeom prst="line">
            <a:avLst/>
          </a:prstGeom>
          <a:ln w="25400">
            <a:solidFill>
              <a:srgbClr val="D8D2C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766560" y="3566160"/>
            <a:ext cx="1828800" cy="2286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800" b="0" i="0">
                <a:solidFill>
                  <a:srgbClr val="707070"/>
                </a:solidFill>
                <a:latin typeface="Fraunces"/>
              </a:defRPr>
            </a:pPr>
            <a:r>
              <a:t>OUR PROPOSAL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3794760"/>
            <a:ext cx="4754880" cy="164592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  <a:defRPr sz="1400" b="0" i="0">
                <a:solidFill>
                  <a:srgbClr val="000000"/>
                </a:solidFill>
                <a:latin typeface="Baskerville"/>
              </a:defRPr>
            </a:pPr>
            <a:r>
              <a:t>INLAND anchors the petro-city in one human — an Ilha fisher, a market woman — so the contradiction is portrait, not abstraction: two economies sharing one shore.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989320"/>
            <a:ext cx="6583680" cy="32004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000" b="0" i="0">
                <a:solidFill>
                  <a:srgbClr val="5C5C5C"/>
                </a:solidFill>
                <a:latin typeface="Fraunces"/>
              </a:defRPr>
            </a:pPr>
            <a:r>
              <a:t>Places: Luanda · Ilha de Luanda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327648"/>
            <a:ext cx="6583680" cy="27432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900" b="0" i="0">
                <a:solidFill>
                  <a:srgbClr val="857F76"/>
                </a:solidFill>
                <a:latin typeface="Fraunces"/>
              </a:defRPr>
            </a:pPr>
            <a:r>
              <a:t>Sources: Ilha de Luanda (Wikipedia); INLAND field framing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88168" y="6263640"/>
            <a:ext cx="941832" cy="274320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5C5C5C"/>
                </a:solidFill>
                <a:latin typeface="Fraunces"/>
              </a:defRPr>
            </a:pPr>
            <a:r>
              <a:t>INEQUALITY</a:t>
            </a:r>
          </a:p>
        </p:txBody>
        <a:spPr>
          <a:prstGeom prst="roundRect">
            <a:avLst/>
          </a:prstGeom>
          <a:ln w="6350">
            <a:solidFill>
              <a:srgbClr val="B0A89E"/>
            </a:solidFill>
            <a:prstDash val="solid"/>
          </a:ln>
        </a:spPr>
      </p:sp>
      <p:sp>
        <p:nvSpPr>
          <p:cNvPr id="15" name="TextBox 14"/>
          <p:cNvSpPr txBox="1"/>
          <p:nvPr/>
        </p:nvSpPr>
        <p:spPr>
          <a:xfrm>
            <a:off x="9203436" y="6263640"/>
            <a:ext cx="1147572" cy="274320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5C5C5C"/>
                </a:solidFill>
                <a:latin typeface="Fraunces"/>
              </a:defRPr>
            </a:pPr>
            <a:r>
              <a:t>MODERNISATION</a:t>
            </a:r>
          </a:p>
        </p:txBody>
        <a:spPr>
          <a:prstGeom prst="roundRect">
            <a:avLst/>
          </a:prstGeom>
          <a:ln w="6350">
            <a:solidFill>
              <a:srgbClr val="B0A89E"/>
            </a:solidFill>
            <a:prstDash val="solid"/>
          </a:ln>
        </a:spPr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36576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ctr">
              <a:lnSpc>
                <a:spcPts val="1700"/>
              </a:lnSpc>
              <a:defRPr sz="1100" b="0" i="0">
                <a:solidFill>
                  <a:srgbClr val="999999"/>
                </a:solidFill>
                <a:latin typeface="Fraunces"/>
              </a:defRPr>
            </a:pPr>
            <a:r>
              <a:t>OUR SUGGESTION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332720" cy="109728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ctr">
              <a:lnSpc>
                <a:spcPts val="8300"/>
              </a:lnSpc>
              <a:defRPr sz="5200" b="0" i="0">
                <a:solidFill>
                  <a:srgbClr val="FFFFFF"/>
                </a:solidFill>
                <a:latin typeface="Baskerville"/>
              </a:defRPr>
            </a:pPr>
            <a:r>
              <a:t>Production Tracks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303520" y="3840480"/>
            <a:ext cx="1554480" cy="0"/>
          </a:xfrm>
          <a:prstGeom prst="line">
            <a:avLst/>
          </a:prstGeom>
          <a:ln w="952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286000" y="4206240"/>
            <a:ext cx="7589520" cy="109728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ctr">
              <a:lnSpc>
                <a:spcPts val="2800"/>
              </a:lnSpc>
              <a:defRPr sz="1800" b="0" i="0">
                <a:solidFill>
                  <a:srgbClr val="999999"/>
                </a:solidFill>
                <a:latin typeface="Baskerville"/>
              </a:defRPr>
            </a:pPr>
            <a:r>
              <a:t>From the twelve storylines we propose three production tracks for a pilot — each grouping stories that share geography and field timing into one deployable trip with the Angolan partner.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3657600" cy="36576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  <a:defRPr sz="1100" b="0" i="0">
                <a:solidFill>
                  <a:srgbClr val="5C5C5C"/>
                </a:solidFill>
                <a:latin typeface="Fraunces"/>
              </a:defRPr>
            </a:pPr>
            <a:r>
              <a:t>THREE TRACKS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315200" cy="9144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6400"/>
              </a:lnSpc>
              <a:defRPr sz="4000" b="0" i="0">
                <a:solidFill>
                  <a:srgbClr val="000000"/>
                </a:solidFill>
                <a:latin typeface="Baskerville"/>
              </a:defRPr>
            </a:pPr>
            <a:r>
              <a:t>Production Tracks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31520" y="2286000"/>
            <a:ext cx="10515600" cy="0"/>
          </a:xfrm>
          <a:prstGeom prst="line">
            <a:avLst/>
          </a:prstGeom>
          <a:ln w="952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31520" y="2651760"/>
            <a:ext cx="3383280" cy="0"/>
          </a:xfrm>
          <a:prstGeom prst="line">
            <a:avLst/>
          </a:prstGeom>
          <a:ln w="38100">
            <a:solidFill>
              <a:srgbClr val="2C5F2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31520" y="2788920"/>
            <a:ext cx="3383280" cy="4572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defRPr sz="2300" b="0" i="0">
                <a:solidFill>
                  <a:srgbClr val="2C5F2D"/>
                </a:solidFill>
                <a:latin typeface="Baskerville"/>
              </a:defRPr>
            </a:pPr>
            <a:r>
              <a:t>The Lunda Cluster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18688"/>
            <a:ext cx="3383280" cy="27432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900" b="0" i="0">
                <a:solidFill>
                  <a:srgbClr val="5C5C5C"/>
                </a:solidFill>
                <a:latin typeface="Fraunces"/>
              </a:defRPr>
            </a:pPr>
            <a:r>
              <a:t>Stories 01 + 05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520439"/>
            <a:ext cx="3383280" cy="155448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300" b="0" i="0">
                <a:solidFill>
                  <a:srgbClr val="000000"/>
                </a:solidFill>
                <a:latin typeface="Baskerville"/>
              </a:defRPr>
            </a:pPr>
            <a:r>
              <a:t>The eastern art heartland: the sona sand-writing masters around Saurimo and Dundo, and the mukanda / mwana pwo mask rite. One deployment, access via Lueji A’Nkonde University and the Dundo Museum.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303520"/>
            <a:ext cx="3383280" cy="9144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800" b="0" i="0">
                <a:solidFill>
                  <a:srgbClr val="857F76"/>
                </a:solidFill>
                <a:latin typeface="Fraunces"/>
              </a:defRPr>
            </a:pPr>
            <a:r>
              <a:t>Geography: Saurimo → Dundo (Lunda) → Moxico</a:t>
            </a:r>
            <a:br/>
            <a:r>
              <a:t>Season: Dry-season camps (≈May–Sep)</a:t>
            </a:r>
            <a:br/>
            <a:r>
              <a:t>2 stories, 1 field base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434840" y="2651760"/>
            <a:ext cx="3383280" cy="0"/>
          </a:xfrm>
          <a:prstGeom prst="line">
            <a:avLst/>
          </a:prstGeom>
          <a:ln w="38100">
            <a:solidFill>
              <a:srgbClr val="B8504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434840" y="2788920"/>
            <a:ext cx="3383280" cy="4572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defRPr sz="2300" b="0" i="0">
                <a:solidFill>
                  <a:srgbClr val="B85042"/>
                </a:solidFill>
                <a:latin typeface="Baskerville"/>
              </a:defRPr>
            </a:pPr>
            <a:r>
              <a:t>The Planalto Cluster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3218688"/>
            <a:ext cx="3383280" cy="27432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900" b="0" i="0">
                <a:solidFill>
                  <a:srgbClr val="5C5C5C"/>
                </a:solidFill>
                <a:latin typeface="Fraunces"/>
              </a:defRPr>
            </a:pPr>
            <a:r>
              <a:t>Stories 02 + 06 + 11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3520439"/>
            <a:ext cx="3383280" cy="155448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300" b="0" i="0">
                <a:solidFill>
                  <a:srgbClr val="000000"/>
                </a:solidFill>
                <a:latin typeface="Baskerville"/>
              </a:defRPr>
            </a:pPr>
            <a:r>
              <a:t>The central highlands: the ondjango council fire at Bailundo (King Ekuikui VI’s court), the Amboim robusta revival in Kwanza Sul, and highland potters and weavers. Governance, return and craft.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5303520"/>
            <a:ext cx="3383280" cy="9144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800" b="0" i="0">
                <a:solidFill>
                  <a:srgbClr val="857F76"/>
                </a:solidFill>
                <a:latin typeface="Fraunces"/>
              </a:defRPr>
            </a:pPr>
            <a:r>
              <a:t>Geography: Bailundo (Huambo) → Amboim (Kwanza Sul)</a:t>
            </a:r>
            <a:br/>
            <a:r>
              <a:t>Season: Coffee harvest (≈May–Aug)</a:t>
            </a:r>
            <a:br/>
            <a:r>
              <a:t>3 stories, 1 deployment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138160" y="2651760"/>
            <a:ext cx="3383280" cy="0"/>
          </a:xfrm>
          <a:prstGeom prst="line">
            <a:avLst/>
          </a:prstGeom>
          <a:ln w="38100">
            <a:solidFill>
              <a:srgbClr val="5B2C6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138160" y="2788920"/>
            <a:ext cx="3383280" cy="4572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defRPr sz="2300" b="0" i="0">
                <a:solidFill>
                  <a:srgbClr val="5B2C6F"/>
                </a:solidFill>
                <a:latin typeface="Baskerville"/>
              </a:defRPr>
            </a:pPr>
            <a:r>
              <a:t>South &amp; Coast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3218688"/>
            <a:ext cx="3383280" cy="27432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900" b="0" i="0">
                <a:solidFill>
                  <a:srgbClr val="5C5C5C"/>
                </a:solidFill>
                <a:latin typeface="Fraunces"/>
              </a:defRPr>
            </a:pPr>
            <a:r>
              <a:t>Stories 03 + 09 + 10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3520439"/>
            <a:ext cx="3383280" cy="155448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300" b="0" i="0">
                <a:solidFill>
                  <a:srgbClr val="000000"/>
                </a:solidFill>
                <a:latin typeface="Baskerville"/>
              </a:defRPr>
            </a:pPr>
            <a:r>
              <a:t>Mwila and Mucubal pastoral knowledge on the Huíla plateau and Namibe, the efundula female initiation in Cunene (consent-led), and salt and artisanal fishing at Baía Farta. Body, herd and sea.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5303520"/>
            <a:ext cx="3383280" cy="9144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800" b="0" i="0">
                <a:solidFill>
                  <a:srgbClr val="857F76"/>
                </a:solidFill>
                <a:latin typeface="Fraunces"/>
              </a:defRPr>
            </a:pPr>
            <a:r>
              <a:t>Geography: Lubango → Cunene → Benguela coast</a:t>
            </a:r>
            <a:br/>
            <a:r>
              <a:t>Season: Dry-season transhumance</a:t>
            </a:r>
            <a:br/>
            <a:r>
              <a:t>3 stories, seasonal windows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126480"/>
            <a:ext cx="10698480" cy="54864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900" b="0" i="0">
                <a:solidFill>
                  <a:srgbClr val="857F76"/>
                </a:solidFill>
                <a:latin typeface="Fraunces"/>
              </a:defRPr>
            </a:pPr>
            <a:r>
              <a:t>Signature: Offerings to Kianda (Festa da Ilha, Nov) runs across the project; the Mbanza Kongo lumbu and Njinga’s footprints form a Kingdoms-and-Memory strand.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3657600" cy="36576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  <a:defRPr sz="1100" b="0" i="0">
                <a:solidFill>
                  <a:srgbClr val="5C5C5C"/>
                </a:solidFill>
                <a:latin typeface="Fraunces"/>
              </a:defRPr>
            </a:pPr>
            <a:r>
              <a:t>THE PARTNERSHIP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058400" cy="9144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6400"/>
              </a:lnSpc>
              <a:defRPr sz="4000" b="0" i="0">
                <a:solidFill>
                  <a:srgbClr val="000000"/>
                </a:solidFill>
                <a:latin typeface="Baskerville"/>
              </a:defRPr>
            </a:pPr>
            <a:r>
              <a:t>An Equitable Co-Production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31520" y="2286000"/>
            <a:ext cx="10515600" cy="0"/>
          </a:xfrm>
          <a:prstGeom prst="line">
            <a:avLst/>
          </a:prstGeom>
          <a:ln w="952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31520" y="2651760"/>
            <a:ext cx="2743200" cy="36576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defRPr sz="1200" b="1" i="0">
                <a:solidFill>
                  <a:srgbClr val="400505"/>
                </a:solidFill>
                <a:latin typeface="Fraunces"/>
              </a:defRPr>
            </a:pPr>
            <a:r>
              <a:t>European partner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2633472"/>
            <a:ext cx="7863840" cy="9144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defRPr sz="1400" b="0" i="0">
                <a:solidFill>
                  <a:srgbClr val="000000"/>
                </a:solidFill>
                <a:latin typeface="Baskerville"/>
              </a:defRPr>
            </a:pPr>
            <a:r>
              <a:t>INLAND — yearly publication (Italy / EU). Editorial, photography and publishing; presentation of the work in Europe.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11880"/>
            <a:ext cx="2743200" cy="36576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defRPr sz="1200" b="1" i="0">
                <a:solidFill>
                  <a:srgbClr val="400505"/>
                </a:solidFill>
                <a:latin typeface="Fraunces"/>
              </a:defRPr>
            </a:pPr>
            <a:r>
              <a:t>African partner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3593592"/>
            <a:ext cx="7863840" cy="9144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defRPr sz="1400" b="0" i="0">
                <a:solidFill>
                  <a:srgbClr val="000000"/>
                </a:solidFill>
                <a:latin typeface="Baskerville"/>
              </a:defRPr>
            </a:pPr>
            <a:r>
              <a:t>An Angolan cultural organisation (lead candidate: Lueji A’Nkonde University, Lunda Norte — which coordinated the sona UNESCO nomination) — co-creation, community access, custodian liaison, presentation in Angola.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572000"/>
            <a:ext cx="2743200" cy="36576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defRPr sz="1200" b="1" i="0">
                <a:solidFill>
                  <a:srgbClr val="400505"/>
                </a:solidFill>
                <a:latin typeface="Fraunces"/>
              </a:defRPr>
            </a:pPr>
            <a:r>
              <a:t>Funding path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4553712"/>
            <a:ext cx="7863840" cy="9144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defRPr sz="1400" b="0" i="0">
                <a:solidFill>
                  <a:srgbClr val="000000"/>
                </a:solidFill>
                <a:latin typeface="Baskerville"/>
              </a:defRPr>
            </a:pPr>
            <a:r>
              <a:t>Mobility grant (≤€4,000) funds the scouting trip; the Visual Arts grant funds collaborative production and a public presentation in Angola and Europe.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532120"/>
            <a:ext cx="2743200" cy="36576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defRPr sz="1200" b="1" i="0">
                <a:solidFill>
                  <a:srgbClr val="400505"/>
                </a:solidFill>
                <a:latin typeface="Fraunces"/>
              </a:defRPr>
            </a:pPr>
            <a:r>
              <a:t>The principle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5513832"/>
            <a:ext cx="7863840" cy="9144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defRPr sz="1400" b="0" i="0">
                <a:solidFill>
                  <a:srgbClr val="000000"/>
                </a:solidFill>
                <a:latin typeface="Baskerville"/>
              </a:defRPr>
            </a:pPr>
            <a:r>
              <a:t>Made with custodians, not about them — equitable Africa–Europe co-creation, exactly the dialogue the Goethe programme exists to fund.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13716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ctr">
              <a:lnSpc>
                <a:spcPts val="8300"/>
              </a:lnSpc>
              <a:defRPr sz="5200" b="0" i="0">
                <a:solidFill>
                  <a:srgbClr val="FFFFFF"/>
                </a:solidFill>
                <a:latin typeface="Baskerville"/>
              </a:defRPr>
            </a:pPr>
            <a:r>
              <a:t>12 Storylines.</a:t>
            </a:r>
            <a:br/>
            <a:r>
              <a:t>One Angola.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303520" y="3840480"/>
            <a:ext cx="1554480" cy="0"/>
          </a:xfrm>
          <a:prstGeom prst="line">
            <a:avLst/>
          </a:prstGeom>
          <a:ln w="952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inland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1447" y="4572000"/>
            <a:ext cx="1828800" cy="384048"/>
          </a:xfrm>
          <a:prstGeom prst="rect">
            <a:avLst/>
          </a:prstGeom>
          <a:effectLst/>
        </p:spPr>
      </p:pic>
      <p:sp>
        <p:nvSpPr>
          <p:cNvPr id="5" name="TextBox 4"/>
          <p:cNvSpPr txBox="1"/>
          <p:nvPr/>
        </p:nvSpPr>
        <p:spPr>
          <a:xfrm>
            <a:off x="914400" y="5120640"/>
            <a:ext cx="10332720" cy="36576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ctr">
              <a:lnSpc>
                <a:spcPts val="2200"/>
              </a:lnSpc>
              <a:defRPr sz="1400" b="0" i="0">
                <a:solidFill>
                  <a:srgbClr val="999999"/>
                </a:solidFill>
                <a:latin typeface="Fraunces"/>
              </a:defRPr>
            </a:pPr>
            <a:r>
              <a:t>An Africa–Europe co-production proposal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