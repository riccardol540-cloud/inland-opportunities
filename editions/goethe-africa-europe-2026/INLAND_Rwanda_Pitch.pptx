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land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7" y="1645920"/>
            <a:ext cx="3200400" cy="672084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11500"/>
              </a:lnSpc>
              <a:defRPr sz="7200" b="0" i="0">
                <a:solidFill>
                  <a:srgbClr val="000000"/>
                </a:solidFill>
                <a:latin typeface="Baskerville"/>
              </a:defRPr>
            </a:pPr>
            <a:r>
              <a:t>Rwanda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4206240"/>
            <a:ext cx="210312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3200"/>
              </a:lnSpc>
              <a:defRPr sz="2000" b="0" i="0">
                <a:solidFill>
                  <a:srgbClr val="5C5C5C"/>
                </a:solidFill>
                <a:latin typeface="Baskerville"/>
              </a:defRPr>
            </a:pPr>
            <a:r>
              <a:t>An Africa–Europe Cultural Co-Production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12 Selected Stories  ·  For the Goethe-Institut Africa–Europe Partnerships for Culture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06040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33472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About INLAND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081528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172968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00400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Rwanda — What Survived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648456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739896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67328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Our Angle &amp; Categories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215383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306824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34256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The 12 Storylines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782312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873752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01184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Production Tracks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349240"/>
            <a:ext cx="1051560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440680"/>
            <a:ext cx="9144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0">
                <a:solidFill>
                  <a:srgbClr val="400505"/>
                </a:solidFill>
                <a:latin typeface="Baskerville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68112"/>
            <a:ext cx="73152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2000" b="0" i="0">
                <a:solidFill>
                  <a:srgbClr val="000000"/>
                </a:solidFill>
                <a:latin typeface="Baskerville"/>
              </a:defRPr>
            </a:pPr>
            <a:r>
              <a:t>The Partnership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About INLAND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51760"/>
            <a:ext cx="6858000" cy="18288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700" b="0" i="0">
                <a:solidFill>
                  <a:srgbClr val="000000"/>
                </a:solidFill>
                <a:latin typeface="Baskerville"/>
              </a:defRPr>
            </a:pPr>
            <a:r>
              <a:t>INLAND is a yearly publication documenting the soul of countries before they change. Each issue embeds with named, locatable custodians of living traditions — artisans, pastoralists, cooks, singers, border families — whose stories have not yet been narrated internationally. Previous issues have covered the Faroe Islands, Georgia and Italy’s minor islands.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685800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5C5C5C"/>
                </a:solidFill>
                <a:latin typeface="Baskerville"/>
              </a:defRPr>
            </a:pPr>
            <a:r>
              <a:t>The editorial method is slow, place-based and built on trust. We spend months in pre-production research, identify specific custodians and communities, then commission photographers, writers and filmmakers to embed with them over extended field periods. The result is long-form visual storytelling grounded in named people and real places.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651760"/>
            <a:ext cx="292608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400" b="0" i="1">
                <a:solidFill>
                  <a:srgbClr val="400505"/>
                </a:solidFill>
                <a:latin typeface="Baskerville"/>
              </a:defRPr>
            </a:pPr>
            <a:r>
              <a:t>Intimacy with</a:t>
            </a:r>
            <a:br/>
            <a:r>
              <a:t>custodians, not</a:t>
            </a:r>
            <a:br/>
            <a:r>
              <a:t>thematic surveys.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THE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Rwanda — What Survived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51760"/>
            <a:ext cx="6858000" cy="18288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700" b="0" i="0">
                <a:solidFill>
                  <a:srgbClr val="000000"/>
                </a:solidFill>
                <a:latin typeface="Baskerville"/>
              </a:defRPr>
            </a:pPr>
            <a:r>
              <a:t>Rwanda is internationally legible through two stories — the 1994 genocide and the development ‘miracle’. Both are loud; both crowd out the quieter country. INLAND asks one question across every lead: what survived? What persists in specific families, villages and practices that has been absorbed by neither the colonial inheritance, the Christian mission, nor the modernisation project — and can still be witnessed and photographed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685800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5C5C5C"/>
                </a:solidFill>
                <a:latin typeface="Baskerville"/>
              </a:defRPr>
            </a:pPr>
            <a:r>
              <a:t>Our first round of research identified 20 story leads spanning communities, ritual, food, ecology, craft and music. From these, twelve storylines have been selected for editorial development — each centred on a named custodian, a specific place, and a practice that can still be witnessed.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27432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800"/>
              </a:lnSpc>
              <a:defRPr sz="8000" b="0" i="0">
                <a:solidFill>
                  <a:srgbClr val="400505"/>
                </a:solidFill>
                <a:latin typeface="Baskerville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347472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story leads researched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114800"/>
            <a:ext cx="27432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800"/>
              </a:lnSpc>
              <a:defRPr sz="8000" b="0" i="0">
                <a:solidFill>
                  <a:srgbClr val="400505"/>
                </a:solidFill>
                <a:latin typeface="Baskerville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12064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selected for this 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EDITORIAL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Our Angle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51760"/>
            <a:ext cx="685800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700" b="0" i="0">
                <a:solidFill>
                  <a:srgbClr val="000000"/>
                </a:solidFill>
                <a:latin typeface="Baskerville"/>
              </a:defRPr>
            </a:pPr>
            <a:r>
              <a:t>We focus on endangered knowledge systems and under-documented living practices surviving despite standardisation, policy change and generational drift. The genocide is context, never the lens; the state is never cast as villain. Every storyline centres a named custodian, a specific place, and a practice that can still be witnessed.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685800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5C5C5C"/>
                </a:solidFill>
                <a:latin typeface="Baskerville"/>
              </a:defRPr>
            </a:pPr>
            <a:r>
              <a:t>This is the equitable, co-created Africa–Europe cultural work the Goethe programme exists to fund: a Rwandan cultural partner and a European publication building a long-form visual record of living Rwandan traditions — made with custodians, not about them, and presented in both Rwanda and Europe.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468880"/>
            <a:ext cx="3200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CATEGORIES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0" y="2880360"/>
            <a:ext cx="265176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869680" y="306324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000000"/>
                </a:solidFill>
                <a:latin typeface="Baskerville"/>
              </a:defRPr>
            </a:pPr>
            <a:r>
              <a:t>Food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306324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500"/>
              </a:lnSpc>
              <a:defRPr sz="1600" b="1" i="0">
                <a:solidFill>
                  <a:srgbClr val="400505"/>
                </a:solidFill>
                <a:latin typeface="Baskerville"/>
              </a:defRPr>
            </a:pPr>
            <a: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69680" y="3474720"/>
            <a:ext cx="265176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69680" y="356616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000000"/>
                </a:solidFill>
                <a:latin typeface="Baskerville"/>
              </a:defRPr>
            </a:pPr>
            <a:r>
              <a:t>Myth &amp; Religion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356616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500"/>
              </a:lnSpc>
              <a:defRPr sz="1600" b="1" i="0">
                <a:solidFill>
                  <a:srgbClr val="400505"/>
                </a:solidFill>
                <a:latin typeface="Baskerville"/>
              </a:defRPr>
            </a:pPr>
            <a: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69680" y="3977640"/>
            <a:ext cx="265176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69680" y="406908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000000"/>
                </a:solidFill>
                <a:latin typeface="Baskerville"/>
              </a:defRPr>
            </a:pPr>
            <a:r>
              <a:t>Local communities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406908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500"/>
              </a:lnSpc>
              <a:defRPr sz="1600" b="1" i="0">
                <a:solidFill>
                  <a:srgbClr val="400505"/>
                </a:solidFill>
                <a:latin typeface="Baskerville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4480560"/>
            <a:ext cx="265176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69680" y="457200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000000"/>
                </a:solidFill>
                <a:latin typeface="Baskerville"/>
              </a:defRPr>
            </a:pPr>
            <a:r>
              <a:t>Arts &amp;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457200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500"/>
              </a:lnSpc>
              <a:defRPr sz="1600" b="1" i="0">
                <a:solidFill>
                  <a:srgbClr val="400505"/>
                </a:solidFill>
                <a:latin typeface="Baskerville"/>
              </a:defRPr>
            </a:pPr>
            <a: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4983480"/>
            <a:ext cx="2651760" cy="0"/>
          </a:xfrm>
          <a:prstGeom prst="line">
            <a:avLst/>
          </a:prstGeom>
          <a:ln w="9525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69680" y="507492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000000"/>
                </a:solidFill>
                <a:latin typeface="Baskerville"/>
              </a:defRPr>
            </a:pPr>
            <a:r>
              <a:t>Geopolitics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5074920"/>
            <a:ext cx="9144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2500"/>
              </a:lnSpc>
              <a:defRPr sz="1600" b="1" i="0">
                <a:solidFill>
                  <a:srgbClr val="400505"/>
                </a:solidFill>
                <a:latin typeface="Baskerville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100" b="0" i="0">
                <a:solidFill>
                  <a:srgbClr val="999999"/>
                </a:solidFill>
                <a:latin typeface="Fraunces"/>
              </a:defRPr>
            </a:pPr>
            <a: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8300"/>
              </a:lnSpc>
              <a:defRPr sz="5200" b="0" i="0">
                <a:solidFill>
                  <a:srgbClr val="FFFFFF"/>
                </a:solidFill>
                <a:latin typeface="Baskerville"/>
              </a:defRPr>
            </a:pPr>
            <a:r>
              <a:t>The Storylines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0" y="3840480"/>
            <a:ext cx="1554480" cy="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4206240"/>
            <a:ext cx="758952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1800" b="0" i="0">
                <a:solidFill>
                  <a:srgbClr val="999999"/>
                </a:solidFill>
                <a:latin typeface="Baskerville"/>
              </a:defRPr>
            </a:pPr>
            <a:r>
              <a:t>Twelve selected stories across communities, ritual, food, ecology, craft and music. Each centres a named custodian, a specific place, and a practice that can still be witnessed.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LOCAL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What They Carry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Batwa Forest Knowledge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Batwa elders around Musanze hold centuries-deep ecological knowledge of the Nyungwe and Virunga forests — plant identification, animal behaviour, spatial memory — now sought by conservation biologists before it disappears. ~25,000–30,000 Batwa, officially ‘historically marginalised’.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embeds with elders on a plant walk and records the forest songs — documenting the knowledge itself rather than the (already filmed) displacement. The narrative asks what becomes of forest knowledge when there is no forest left to use it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Musanze · Kibingo · forest margins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AIMPO; INLAND Rwanda research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88168" y="6263640"/>
            <a:ext cx="9418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INDIGENOUS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8723376" y="6263640"/>
            <a:ext cx="16276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ENDANGERED KNOWLEDGE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MYTH &amp; RELIGION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The Rites That Won’t Die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Kubandwa / Ryangombe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A pre-colonial spirit-possession system centred on Ryangombe that missionaries tried to erase, surviving underground in a 92.8% Christian country. A 2021 academic recorded students attending rites ‘even in the centre of Kigali’.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follows the practice through discreet, consent-led fieldwork and academic introductions — documenting an adaptive ritual that crosses linguistic, political and temporal frontiers. If confirmed in the field, the edition’s signature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Kigali · discreet rural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Pennacini (Turin); Bizimana, RCSP Rwanda 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5268" y="6263640"/>
            <a:ext cx="12847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SACRED &amp; HIDDEN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8380476" y="6263640"/>
            <a:ext cx="16276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ENDANGERED KNOWLEDGE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MYTH &amp; RELIGION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The Hospital Sends You to a Healer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Uburozi and Traditional Medicine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 Kinigi, Musanze — ‘the core location for healers’ — hospitals refer patients to traditional healers for uburozi, a sorcery/poisoning illness conventional medicine doesn’t recognise. ~5,000 healers nationally; a 2022 Traditional Medicine policy exists.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shadows a referral from clinic to healer and back, with portraits of both — documenting a state-acknowledged parallel healthcare system operating in the open and almost entirely unreported internationally.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Kinigi · Burera · Bushozi · Musenyi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BMC Compl. Med. &amp; Therapies 2021; Rwanda FDA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6263640"/>
            <a:ext cx="16276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ENDANGERED KNOWLEDGE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8243316" y="6263640"/>
            <a:ext cx="142189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STATE &amp; TRADITION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Crushed by Foot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Urwagwa, the Banana Beer of Rites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Banana beer is ritual infrastructure — the medium of marriage negotiations, ancestral offerings and reconciliation. Named brewer Agatha Tuyisenge (Mushubati, Rutsiro), mother of five, built a livelihood from inherited brewing knowledge.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follows one full brewing cycle toward a wedding — variety selection, foot-crushing, sorghum fermentation — and the ceremonial economy around the beer. A named protagonist with a full story arc.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Mushubati · Rutsiro District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SENS Magazine (Tuyisenge profile)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2488" y="6263640"/>
            <a:ext cx="66751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RITUAL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8997696" y="6263640"/>
            <a:ext cx="16276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ENDANGERED KNOWLEDGE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The Last Sorghum Beer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Ikigage on the Volcano Slopes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A sorghum beer of feasts, dowries and harvests near Kinigi and Musanze, now on the Slow Food Ark of Taste — declining as sorghum is squeezed out by the Crop Intensification Programme.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documents a household that still grows sorghum and brews ikigage for weddings — a compressed portrait of what agricultural policy does to cultural memory.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Kinigi · Musanze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Slow Food Ark of Taste; Slow Food Rwanda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8108" y="6263640"/>
            <a:ext cx="142189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STATE &amp; TRADITION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8243316" y="6263640"/>
            <a:ext cx="16276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ENDANGERED KNOWLEDGE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MYTH &amp; RELIGION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A Harvest Without Its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Umuganura and the Abiru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Umuganura was a sacred rite of ubwiru guarded by the hereditary Abiru, needing sacred sorghum from Huro (Gakenke). Abolished by the Belgians in 1925; revived in 2011 as a secular holiday — without the Abiru, the plants, or the secret language.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shoots the intact-but-vacant ritual site at Huro against the August state festival — a ceremony hollowed of meaning and repurposed for nation-building. A story about what revival leaves 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Huro · Bumbogo · Gakenke District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ubwiru / Abiru historiography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5268" y="6263640"/>
            <a:ext cx="12847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SACRED &amp; HIDDEN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272016" y="6263640"/>
            <a:ext cx="73609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HISTORY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The Morality of Milk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Kivuguto and the Inkongoro Gourd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Fermented milk made in handmade inkongoro gourds carrying unique indigenous microbial cultures — the moral order encoded in how milk is stored, fermented and shared, now replaced by steel tanks and controlled starters.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builds a diptych: morning milking and gourd fermentation in a pastoral household, against a modern dairy plant making packaged ‘yogurt drinks’. Elders speak to the symbolism of the gourd.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Pastoral households · Musanze / Gishwati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INLAND Rwanda research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2488" y="6263640"/>
            <a:ext cx="66751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RITUAL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8997696" y="6263640"/>
            <a:ext cx="16276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ENDANGERED KNOWLEDGE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LOCAL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Life After the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The Gishwati Resettlement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Families moved off the Gishwati–Mukura forests now farm ~0.5 ha on steep, flood-prone slopes in Nyabihu, Rutsiro and Rubavu. Some, like Laurent Hategekimana, patrol as unpaid auxiliaries the forest margins their families were removed from.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walks the forest margin with a patroller and spends time in the resettlement villages — the long, quiet afterlife of displacement on a landscape remade by ranching, floods and restoration.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Nyabihu · Rutsiro · Rubavu · Bigogwe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Rainforest Journalism Fund; Pulitzer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2488" y="6263640"/>
            <a:ext cx="66751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NATURE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066276" y="6263640"/>
            <a:ext cx="155905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LAND &amp; DISPLACEMENT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Thirty Years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The Reconciliation Coffee Cooperatives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Cooperatives built post-1994 to put Hutu and Tutsi farmers in the same washing stations — Maraba (Huye) and Dukunde Kawa Musasa (Gakenke). The origin story is told; the present is unfilmed.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follows one or two families through a harvest — picking, sorting, washing — asking quietly what changed in a generation and what didn’t. The founders are middle-aged now; their children work side by 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Maraba (Huye) · Dukunde Kawa (Gakenke)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Alliance for Coffee Excellence; cooperative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13848" y="6263640"/>
            <a:ext cx="121615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RECONCILIATION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340596" y="6263640"/>
            <a:ext cx="73609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HISTORY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ARTS &amp;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The Last Maestro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Vianey Mushabizi and the Inanga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A single instrument and the man who may be the end of its line: Vianey Mushabizi (Gatagara), possibly the last living master of the inanga zither — the sound of a pre-radio Rwanda held in one pair of hands.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records his repertoire and tuning, and asks the question of transmission: is there an apprentice, or does the line end here? A portrait in sound and image.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Gatagara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INLAND Rwanda research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1068" y="6263640"/>
            <a:ext cx="5989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MUSIC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066276" y="6263640"/>
            <a:ext cx="16276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ENDANGERED KNOWLEDGE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ARTS &amp;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Geometry of the Widows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Imigongo and the Market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Geometric cow-dung relief paintings made by genocide widows in Kakira, Eastern Province — now commercialised. A tension between cultural preservation, livelihood and market co-option.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documents the making and the market in one place — who paints, who sells, who profits when a domestic craft scales into a souvenir.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Kakira · Eastern Province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INLAND Rwanda research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3908" y="6263640"/>
            <a:ext cx="73609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HISTORY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957816" y="6263640"/>
            <a:ext cx="59893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CRAFT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lnSpc>
                <a:spcPts val="10200"/>
              </a:lnSpc>
              <a:defRPr sz="6400" b="0" i="0">
                <a:solidFill>
                  <a:srgbClr val="400505"/>
                </a:solidFill>
                <a:latin typeface="Baskerville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GEOPOLITICS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700"/>
              </a:lnSpc>
              <a:defRPr sz="4200" b="0" i="0">
                <a:solidFill>
                  <a:srgbClr val="000000"/>
                </a:solidFill>
                <a:latin typeface="Baskerville"/>
              </a:defRPr>
            </a:pPr>
            <a:r>
              <a:t>The Data Centre and the Hill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4100"/>
              </a:lnSpc>
              <a:defRPr sz="2600" b="0" i="1">
                <a:solidFill>
                  <a:srgbClr val="5C5C5C"/>
                </a:solidFill>
                <a:latin typeface="Baskerville"/>
              </a:defRPr>
            </a:pPr>
            <a:r>
              <a:t>Two Relationships to Electricity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38328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THE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30352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A windowless server warehouse runs 24 hours at full load a few kilometres from villages where electricity arrived three years ago. The guard at the gate is from such a village.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566160"/>
            <a:ext cx="0" cy="2194560"/>
          </a:xfrm>
          <a:prstGeom prst="line">
            <a:avLst/>
          </a:prstGeom>
          <a:ln w="25400">
            <a:solidFill>
              <a:srgbClr val="D8D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66560" y="3566160"/>
            <a:ext cx="1828800" cy="228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707070"/>
                </a:solidFill>
                <a:latin typeface="Fraunces"/>
              </a:defRPr>
            </a:pPr>
            <a:r>
              <a:t>OUR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94760"/>
            <a:ext cx="4754880" cy="16459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anchors the development showcase in one human — the guard — to portray two relationships to electricity, land and the future coexisting within a few kilometres, without abstraction.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65836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000" b="0" i="0">
                <a:solidFill>
                  <a:srgbClr val="5C5C5C"/>
                </a:solidFill>
                <a:latin typeface="Fraunces"/>
              </a:defRPr>
            </a:pPr>
            <a:r>
              <a:t>Places: Eastern Province / peri-Kigali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27648"/>
            <a:ext cx="65836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857F76"/>
                </a:solidFill>
                <a:latin typeface="Fraunces"/>
              </a:defRPr>
            </a:pPr>
            <a:r>
              <a:t>Sources: INLAND Rwanda research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9648" y="6263640"/>
            <a:ext cx="53035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LAND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  <p:sp>
        <p:nvSpPr>
          <p:cNvPr id="15" name="TextBox 14"/>
          <p:cNvSpPr txBox="1"/>
          <p:nvPr/>
        </p:nvSpPr>
        <p:spPr>
          <a:xfrm>
            <a:off x="9614916" y="6263640"/>
            <a:ext cx="1147572" cy="2743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C5C5C"/>
                </a:solidFill>
                <a:latin typeface="Fraunces"/>
              </a:defRPr>
            </a:pPr>
            <a:r>
              <a:t>MODERNISATION</a:t>
            </a:r>
          </a:p>
        </p:txBody>
        <a:spPr>
          <a:prstGeom prst="roundRect">
            <a:avLst/>
          </a:prstGeom>
          <a:ln w="6350">
            <a:solidFill>
              <a:srgbClr val="B0A89E"/>
            </a:solidFill>
            <a:prstDash val="solid"/>
          </a:ln>
        </a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1700"/>
              </a:lnSpc>
              <a:defRPr sz="1100" b="0" i="0">
                <a:solidFill>
                  <a:srgbClr val="999999"/>
                </a:solidFill>
                <a:latin typeface="Fraunces"/>
              </a:defRPr>
            </a:pPr>
            <a:r>
              <a:t>OUR SUGGESTION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8300"/>
              </a:lnSpc>
              <a:defRPr sz="5200" b="0" i="0">
                <a:solidFill>
                  <a:srgbClr val="FFFFFF"/>
                </a:solidFill>
                <a:latin typeface="Baskerville"/>
              </a:defRPr>
            </a:pPr>
            <a:r>
              <a:t>Production Tracks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0" y="3840480"/>
            <a:ext cx="1554480" cy="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4206240"/>
            <a:ext cx="7589520" cy="10972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  <a:defRPr sz="1800" b="0" i="0">
                <a:solidFill>
                  <a:srgbClr val="999999"/>
                </a:solidFill>
                <a:latin typeface="Baskerville"/>
              </a:defRPr>
            </a:pPr>
            <a:r>
              <a:t>From the twelve storylines we propose three production tracks for a pilot — each grouping stories that share geography and field timing into one deployable trip with the Rwandan partner.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THREE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Production Tracks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2651760"/>
            <a:ext cx="3383280" cy="0"/>
          </a:xfrm>
          <a:prstGeom prst="line">
            <a:avLst/>
          </a:prstGeom>
          <a:ln w="381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788920"/>
            <a:ext cx="338328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300" b="0" i="0">
                <a:solidFill>
                  <a:srgbClr val="2C5F2D"/>
                </a:solidFill>
                <a:latin typeface="Baskerville"/>
              </a:defRPr>
            </a:pPr>
            <a:r>
              <a:t>The Musanze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18688"/>
            <a:ext cx="33832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5C5C5C"/>
                </a:solidFill>
                <a:latin typeface="Fraunces"/>
              </a:defRPr>
            </a:pPr>
            <a:r>
              <a:t>Stories 01 + 03 + 05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39"/>
            <a:ext cx="3383280" cy="1554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 i="0">
                <a:solidFill>
                  <a:srgbClr val="000000"/>
                </a:solidFill>
                <a:latin typeface="Baskerville"/>
              </a:defRPr>
            </a:pPr>
            <a:r>
              <a:t>A single northern base yields three nested stories: Batwa forest knowledge, the hospital-to-healer uburozi referral, and the last sorghum beer. One deployment, three custodian-led narratives around Musanze and Kinigi.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338328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857F76"/>
                </a:solidFill>
                <a:latin typeface="Fraunces"/>
              </a:defRPr>
            </a:pPr>
            <a:r>
              <a:t>Geography: Musanze → Kinigi → forest margins</a:t>
            </a:r>
            <a:br/>
            <a:r>
              <a:t>Season: Flexible (dry season for access)</a:t>
            </a:r>
            <a:br/>
            <a:r>
              <a:t>3 stories, 1 field 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2651760"/>
            <a:ext cx="3383280" cy="0"/>
          </a:xfrm>
          <a:prstGeom prst="line">
            <a:avLst/>
          </a:prstGeom>
          <a:ln w="38100">
            <a:solidFill>
              <a:srgbClr val="B850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34840" y="2788920"/>
            <a:ext cx="338328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300" b="0" i="0">
                <a:solidFill>
                  <a:srgbClr val="B85042"/>
                </a:solidFill>
                <a:latin typeface="Baskerville"/>
              </a:defRPr>
            </a:pPr>
            <a:r>
              <a:t>Brewing &amp; 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218688"/>
            <a:ext cx="33832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5C5C5C"/>
                </a:solidFill>
                <a:latin typeface="Fraunces"/>
              </a:defRPr>
            </a:pPr>
            <a:r>
              <a:t>Stories 04 + 08 (+ 07)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520439"/>
            <a:ext cx="3383280" cy="1554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 i="0">
                <a:solidFill>
                  <a:srgbClr val="000000"/>
                </a:solidFill>
                <a:latin typeface="Baskerville"/>
              </a:defRPr>
            </a:pPr>
            <a:r>
              <a:t>A western cluster binding the urwagwa brewing cycle in Rutsiro, the Gishwati resettlement in Nyabihu, and the kivuguto milk diptych. Ritual food and the afterlife of displacement on the same hillsides.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303520"/>
            <a:ext cx="338328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857F76"/>
                </a:solidFill>
                <a:latin typeface="Fraunces"/>
              </a:defRPr>
            </a:pPr>
            <a:r>
              <a:t>Geography: Rutsiro → Nyabihu → Rubavu</a:t>
            </a:r>
            <a:br/>
            <a:r>
              <a:t>Season: Toward a wedding / harvest</a:t>
            </a:r>
            <a:br/>
            <a:r>
              <a:t>2–3 stories, 1 deployment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38160" y="2651760"/>
            <a:ext cx="3383280" cy="0"/>
          </a:xfrm>
          <a:prstGeom prst="line">
            <a:avLst/>
          </a:prstGeom>
          <a:ln w="38100">
            <a:solidFill>
              <a:srgbClr val="5B2C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0" y="2788920"/>
            <a:ext cx="338328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300" b="0" i="0">
                <a:solidFill>
                  <a:srgbClr val="5B2C6F"/>
                </a:solidFill>
                <a:latin typeface="Baskerville"/>
              </a:defRPr>
            </a:pPr>
            <a:r>
              <a:t>Coffee &amp;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18688"/>
            <a:ext cx="33832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900" b="0" i="0">
                <a:solidFill>
                  <a:srgbClr val="5C5C5C"/>
                </a:solidFill>
                <a:latin typeface="Fraunces"/>
              </a:defRPr>
            </a:pPr>
            <a:r>
              <a:t>Stories 09 + 06 (+ 11)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20439"/>
            <a:ext cx="3383280" cy="1554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0" i="0">
                <a:solidFill>
                  <a:srgbClr val="000000"/>
                </a:solidFill>
                <a:latin typeface="Baskerville"/>
              </a:defRPr>
            </a:pPr>
            <a:r>
              <a:t>A southern/eastern cluster: the reconciliation coffee cooperatives thirty years on, the hollowed Umuganura harvest at Huro, and the imigongo widows. Memory, harvest and craft across Huye, Gakenke and the East.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303520"/>
            <a:ext cx="338328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 i="0">
                <a:solidFill>
                  <a:srgbClr val="857F76"/>
                </a:solidFill>
                <a:latin typeface="Fraunces"/>
              </a:defRPr>
            </a:pPr>
            <a:r>
              <a:t>Geography: Huye → Gakenke → Eastern Province</a:t>
            </a:r>
            <a:br/>
            <a:r>
              <a:t>Season: Coffee harvest; August (Umuganura)</a:t>
            </a:r>
            <a:br/>
            <a:r>
              <a:t>2–3 stories, seasonal windows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  <a:defRPr sz="1100" b="0" i="0">
                <a:solidFill>
                  <a:srgbClr val="5C5C5C"/>
                </a:solidFill>
                <a:latin typeface="Fraunces"/>
              </a:defRPr>
            </a:pPr>
            <a:r>
              <a:t>THE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6400"/>
              </a:lnSpc>
              <a:defRPr sz="4000" b="0" i="0">
                <a:solidFill>
                  <a:srgbClr val="000000"/>
                </a:solidFill>
                <a:latin typeface="Baskerville"/>
              </a:defRPr>
            </a:pPr>
            <a:r>
              <a:t>An Equitable Co-Production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286000"/>
            <a:ext cx="1051560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200" b="1" i="0">
                <a:solidFill>
                  <a:srgbClr val="400505"/>
                </a:solidFill>
                <a:latin typeface="Fraunces"/>
              </a:defRPr>
            </a:pPr>
            <a:r>
              <a:t>European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633472"/>
            <a:ext cx="786384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INLAND — yearly publication (Italy / EU). Editorial, photography and publishing; presentation of the work in Europe.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200" b="1" i="0">
                <a:solidFill>
                  <a:srgbClr val="400505"/>
                </a:solidFill>
                <a:latin typeface="Fraunces"/>
              </a:defRPr>
            </a:pPr>
            <a:r>
              <a:t>African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593592"/>
            <a:ext cx="786384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A Rwandan cultural organisation (lead candidate: Red Rocks Initiatives, Musanze) — co-creation, community access, custodian liaison, presentation in Rwanda.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200" b="1" i="0">
                <a:solidFill>
                  <a:srgbClr val="400505"/>
                </a:solidFill>
                <a:latin typeface="Fraunces"/>
              </a:defRPr>
            </a:pPr>
            <a:r>
              <a:t>Funding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553712"/>
            <a:ext cx="786384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Mobility grant (≤€4,000) funds the scouting trip; the Visual Arts grant funds collaborative production and a public presentation in Rwanda and Europe.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27432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200" b="1" i="0">
                <a:solidFill>
                  <a:srgbClr val="400505"/>
                </a:solidFill>
                <a:latin typeface="Fraunces"/>
              </a:defRPr>
            </a:pPr>
            <a:r>
              <a:t>The principle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513832"/>
            <a:ext cx="786384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400" b="0" i="0">
                <a:solidFill>
                  <a:srgbClr val="000000"/>
                </a:solidFill>
                <a:latin typeface="Baskerville"/>
              </a:defRPr>
            </a:pPr>
            <a:r>
              <a:t>Made with custodians, not about them — equitable Africa–Europe co-creation, exactly the dialogue the Goethe programme exists to fund.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8300"/>
              </a:lnSpc>
              <a:defRPr sz="5200" b="0" i="0">
                <a:solidFill>
                  <a:srgbClr val="FFFFFF"/>
                </a:solidFill>
                <a:latin typeface="Baskerville"/>
              </a:defRPr>
            </a:pPr>
            <a:r>
              <a:t>12 Storylines.</a:t>
            </a:r>
            <a:br/>
            <a:r>
              <a:t>One Rwanda.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03520" y="3840480"/>
            <a:ext cx="1554480" cy="0"/>
          </a:xfrm>
          <a:prstGeom prst="line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nland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4572000"/>
            <a:ext cx="1828800" cy="384048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defRPr sz="1400" b="0" i="0">
                <a:solidFill>
                  <a:srgbClr val="999999"/>
                </a:solidFill>
                <a:latin typeface="Fraunces"/>
              </a:defRPr>
            </a:pPr>
            <a:r>
              <a:t>An Africa–Europe co-production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